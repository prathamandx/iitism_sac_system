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handoutMasterIdLst>
    <p:handoutMasterId r:id="rId18"/>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6" d="100"/>
          <a:sy n="86" d="100"/>
        </p:scale>
        <p:origin x="543" y="30"/>
      </p:cViewPr>
      <p:guideLst/>
    </p:cSldViewPr>
  </p:slideViewPr>
  <p:notesTextViewPr>
    <p:cViewPr>
      <p:scale>
        <a:sx n="1" d="1"/>
        <a:sy n="1" d="1"/>
      </p:scale>
      <p:origin x="0" y="0"/>
    </p:cViewPr>
  </p:notesTextViewPr>
  <p:notesViewPr>
    <p:cSldViewPr snapToGrid="0" snapToObjects="1">
      <p:cViewPr varScale="1">
        <p:scale>
          <a:sx n="50" d="100"/>
          <a:sy n="50" d="100"/>
        </p:scale>
        <p:origin x="3189" y="3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839ABA8-01F9-E08A-6B3F-652854C2D3A5}"/>
              </a:ext>
            </a:extLst>
          </p:cNvPr>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619C13B0-EADC-66E4-CE43-9D783C700C51}"/>
              </a:ext>
            </a:extLst>
          </p:cNvPr>
          <p:cNvSpPr>
            <a:spLocks noGrp="1"/>
          </p:cNvSpPr>
          <p:nvPr>
            <p:ph type="dt" sz="quarter" idx="1"/>
          </p:nvPr>
        </p:nvSpPr>
        <p:spPr>
          <a:xfrm>
            <a:off x="3884613" y="0"/>
            <a:ext cx="2971800" cy="611188"/>
          </a:xfrm>
          <a:prstGeom prst="rect">
            <a:avLst/>
          </a:prstGeom>
        </p:spPr>
        <p:txBody>
          <a:bodyPr vert="horz" lIns="91440" tIns="45720" rIns="91440" bIns="45720" rtlCol="0"/>
          <a:lstStyle>
            <a:lvl1pPr algn="r">
              <a:defRPr sz="1200"/>
            </a:lvl1pPr>
          </a:lstStyle>
          <a:p>
            <a:fld id="{312C2071-0FFB-4BFC-BC5F-BA35B86DA106}" type="datetimeFigureOut">
              <a:rPr lang="en-IN" smtClean="0"/>
              <a:t>29-09-2026</a:t>
            </a:fld>
            <a:endParaRPr lang="en-IN"/>
          </a:p>
        </p:txBody>
      </p:sp>
      <p:sp>
        <p:nvSpPr>
          <p:cNvPr id="4" name="Footer Placeholder 3">
            <a:extLst>
              <a:ext uri="{FF2B5EF4-FFF2-40B4-BE49-F238E27FC236}">
                <a16:creationId xmlns:a16="http://schemas.microsoft.com/office/drawing/2014/main" id="{4E88B28B-F895-7CFE-8FCA-03983AB07E2F}"/>
              </a:ext>
            </a:extLst>
          </p:cNvPr>
          <p:cNvSpPr>
            <a:spLocks noGrp="1"/>
          </p:cNvSpPr>
          <p:nvPr>
            <p:ph type="ftr" sz="quarter" idx="2"/>
          </p:nvPr>
        </p:nvSpPr>
        <p:spPr>
          <a:xfrm>
            <a:off x="0" y="11580813"/>
            <a:ext cx="2971800" cy="6111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217351F6-0C11-53AC-C69D-F53A61D7EED2}"/>
              </a:ext>
            </a:extLst>
          </p:cNvPr>
          <p:cNvSpPr>
            <a:spLocks noGrp="1"/>
          </p:cNvSpPr>
          <p:nvPr>
            <p:ph type="sldNum" sz="quarter" idx="3"/>
          </p:nvPr>
        </p:nvSpPr>
        <p:spPr>
          <a:xfrm>
            <a:off x="3884613" y="11580813"/>
            <a:ext cx="2971800" cy="611187"/>
          </a:xfrm>
          <a:prstGeom prst="rect">
            <a:avLst/>
          </a:prstGeom>
        </p:spPr>
        <p:txBody>
          <a:bodyPr vert="horz" lIns="91440" tIns="45720" rIns="91440" bIns="45720" rtlCol="0" anchor="b"/>
          <a:lstStyle>
            <a:lvl1pPr algn="r">
              <a:defRPr sz="1200"/>
            </a:lvl1pPr>
          </a:lstStyle>
          <a:p>
            <a:fld id="{D2C543EC-A38A-4979-BE8C-FBC0824469FD}" type="slidenum">
              <a:rPr lang="en-IN" smtClean="0"/>
              <a:t>‹#›</a:t>
            </a:fld>
            <a:endParaRPr lang="en-IN"/>
          </a:p>
        </p:txBody>
      </p:sp>
    </p:spTree>
    <p:extLst>
      <p:ext uri="{BB962C8B-B14F-4D97-AF65-F5344CB8AC3E}">
        <p14:creationId xmlns:p14="http://schemas.microsoft.com/office/powerpoint/2010/main" val="10800602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75758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project. This is our SE lab project on Problem 16: we took the problem statement through requirements, UML design, implementation as a web app, and testing.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problem statement we were given. Summarise it in plain words: the SAC does all hostel book-keeping by hand. We need software for admission, billing, complaints, staff salary, grants and accounts, and it must be secure against fraud.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followed the classic waterfall phases, going back a step when testing found a gap. The right side is the tech stack: FastAPI for the backend, PostgreSQL for data, JWT for login, plain HTML/JS for the website, and pytest for testing.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actors first, then the use cases linked to each actor. Point out the dashed include arrows to User Authentication: that is why every page needs a login in our website.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relationships. Each class became a database table in our code. Complaint subtypes are stored in one table with a type column.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diagram top to bottom. The two diamonds are decisions: complaint raised, and student pays dues. The branches join again at the statement of accounts.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each state change is enforced by the server. For example, dues cannot go from pending to paid twice, and a complaint only becomes resolved when the warden posts an ATR.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sequence diagram shows the order of messages between the user, our software and the database. They directly shaped our API: for example, in the dues diagram the software calculates the total itself, so the payment API never accepts an amount from the user.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context-level DFD shows the whole system as one process and the data that each user sends in and gets back. It helped us decide what each role's API endpoints must accept and return.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code follows the design in layers: the website calls the API, the API checks the login and role, the services apply business rules, and SQLAlchemy stores data in PostgreSQL. The table shows which API each feature uses.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rules from the problem statement that our server enforces. The most important is that the server calculates every amount, so a user cannot pay less by changing the request. Security uses JWT tokens and role checks: a warden can only see their own hostel.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Screenshots of the running website with sample data. Top left: a student sees the dues breakdown. Top right: the warden sees complaints and can post an ATR. Bottom left: the annual statement of accounts. Bottom right: the salary list with leave deducted and a cheque number per employee. You can replace these with screenshots from your own run.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tested with pytest. Each test starts with a fresh sample database: two hostels, rooms, staff accounts and one student, so tests do not affect each other. These are the most important cases; each one checks a rule from the problem statement.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two real tests from our project. The first checks that the server ignores an amount sent by the client. The second checks the salary calculation when leave spans two months. At the bottom is the command to run them and our result.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four phases. If time allows, give a live demo: log in as a student, view dues, try paying twice, then log in as the warden and post an ATR.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Pr>
        <a:gradFill>
          <a:gsLst>
            <a:gs pos="0">
              <a:srgbClr val="002060"/>
            </a:gs>
            <a:gs pos="74000">
              <a:schemeClr val="accent1">
                <a:lumMod val="45000"/>
                <a:lumOff val="55000"/>
              </a:schemeClr>
            </a:gs>
            <a:gs pos="83000">
              <a:schemeClr val="accent1">
                <a:lumMod val="45000"/>
                <a:lumOff val="55000"/>
              </a:schemeClr>
            </a:gs>
            <a:gs pos="100000">
              <a:schemeClr val="accent1">
                <a:lumMod val="30000"/>
                <a:lumOff val="70000"/>
              </a:schemeClr>
            </a:gs>
          </a:gsLst>
          <a:lin ang="16200000" scaled="1"/>
        </a:gradFill>
        <a:effectLst/>
      </p:bgPr>
    </p:bg>
    <p:spTree>
      <p:nvGrpSpPr>
        <p:cNvPr id="1" name=""/>
        <p:cNvGrpSpPr/>
        <p:nvPr/>
      </p:nvGrpSpPr>
      <p:grpSpPr>
        <a:xfrm>
          <a:off x="0" y="0"/>
          <a:ext cx="0" cy="0"/>
          <a:chOff x="0" y="0"/>
          <a:chExt cx="0" cy="0"/>
        </a:xfrm>
      </p:grpSpPr>
    </p:spTree>
  </p:cSld>
  <p:clrMapOvr>
    <a:masterClrMapping/>
  </p:clrMapOvr>
  <p:transition spd="slow">
    <p:wipe/>
  </p:transition>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002060"/>
            </a:gs>
            <a:gs pos="74000">
              <a:schemeClr val="accent1">
                <a:lumMod val="45000"/>
                <a:lumOff val="55000"/>
              </a:schemeClr>
            </a:gs>
            <a:gs pos="83000">
              <a:schemeClr val="accent1">
                <a:lumMod val="45000"/>
                <a:lumOff val="55000"/>
              </a:schemeClr>
            </a:gs>
            <a:gs pos="100000">
              <a:schemeClr val="accent1">
                <a:lumMod val="30000"/>
                <a:lumOff val="70000"/>
              </a:schemeClr>
            </a:gs>
          </a:gsLst>
          <a:lin ang="16200000" scaled="1"/>
          <a:tileRect/>
        </a:gradFill>
        <a:effectLst/>
      </p:bgPr>
    </p:bg>
    <p:spTree>
      <p:nvGrpSpPr>
        <p:cNvPr id="1" name=""/>
        <p:cNvGrpSpPr/>
        <p:nvPr/>
      </p:nvGrpSpPr>
      <p:grpSpPr>
        <a:xfrm>
          <a:off x="0" y="0"/>
          <a:ext cx="0" cy="0"/>
          <a:chOff x="0" y="0"/>
          <a:chExt cx="0" cy="0"/>
        </a:xfrm>
      </p:grpSpPr>
    </p:spTree>
  </p:cSld>
  <p:clrMap bg1="dk1" tx1="lt1" bg2="dk2" tx2="lt2" accent1="accent1" accent2="accent2" accent3="accent3" accent4="accent4" accent5="accent5" accent6="accent6" hlink="hlink" folHlink="folHlink"/>
  <p:sldLayoutIdLst>
    <p:sldLayoutId id="2147483649" r:id="rId1"/>
  </p:sldLayoutIdLst>
  <p:transition spd="slow">
    <p:wipe/>
  </p:transition>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8412480" y="-1280160"/>
            <a:ext cx="5120640" cy="5120640"/>
          </a:xfrm>
          <a:prstGeom prst="ellipse">
            <a:avLst/>
          </a:prstGeom>
          <a:solidFill>
            <a:srgbClr val="2E4057"/>
          </a:solidFill>
          <a:ln w="12700">
            <a:solidFill>
              <a:srgbClr val="2E4057"/>
            </a:solidFill>
            <a:prstDash val="solid"/>
          </a:ln>
        </p:spPr>
      </p:sp>
      <p:sp>
        <p:nvSpPr>
          <p:cNvPr id="3" name="Shape 1"/>
          <p:cNvSpPr/>
          <p:nvPr/>
        </p:nvSpPr>
        <p:spPr>
          <a:xfrm>
            <a:off x="9692640" y="3566160"/>
            <a:ext cx="3291840" cy="3291840"/>
          </a:xfrm>
          <a:prstGeom prst="ellipse">
            <a:avLst/>
          </a:prstGeom>
          <a:solidFill>
            <a:srgbClr val="C8553D">
              <a:alpha val="80000"/>
            </a:srgbClr>
          </a:solidFill>
          <a:ln w="12700">
            <a:solidFill>
              <a:srgbClr val="C8553D">
                <a:alpha val="80000"/>
              </a:srgbClr>
            </a:solidFill>
            <a:prstDash val="solid"/>
          </a:ln>
        </p:spPr>
      </p:sp>
      <p:sp>
        <p:nvSpPr>
          <p:cNvPr id="4" name="Text 2"/>
          <p:cNvSpPr txBox="1"/>
          <p:nvPr/>
        </p:nvSpPr>
        <p:spPr>
          <a:xfrm>
            <a:off x="548640" y="1371600"/>
            <a:ext cx="8229600" cy="365760"/>
          </a:xfrm>
          <a:prstGeom prst="rect">
            <a:avLst/>
          </a:prstGeom>
          <a:noFill/>
          <a:ln/>
        </p:spPr>
        <p:txBody>
          <a:bodyPr wrap="square" lIns="0" tIns="0" rIns="0" bIns="0" rtlCol="0" anchor="t"/>
          <a:lstStyle/>
          <a:p>
            <a:pPr marL="0" indent="0">
              <a:buNone/>
            </a:pPr>
            <a:r>
              <a:rPr lang="en-US" sz="2400" b="1" kern="0" spc="300" dirty="0">
                <a:solidFill>
                  <a:srgbClr val="C00000"/>
                </a:solidFill>
                <a:latin typeface="Calibri" pitchFamily="34" charset="0"/>
                <a:ea typeface="Calibri" pitchFamily="34" charset="-122"/>
                <a:cs typeface="Calibri" pitchFamily="34" charset="-120"/>
              </a:rPr>
              <a:t>SOFTWARE ENGINEERING LAB · PROBLEM 16</a:t>
            </a:r>
            <a:endParaRPr lang="en-US" sz="2400" dirty="0">
              <a:solidFill>
                <a:srgbClr val="C00000"/>
              </a:solidFill>
            </a:endParaRPr>
          </a:p>
        </p:txBody>
      </p:sp>
      <p:sp>
        <p:nvSpPr>
          <p:cNvPr id="5" name="Text 3"/>
          <p:cNvSpPr txBox="1"/>
          <p:nvPr/>
        </p:nvSpPr>
        <p:spPr>
          <a:xfrm>
            <a:off x="548640" y="2625436"/>
            <a:ext cx="8686800" cy="2266604"/>
          </a:xfrm>
          <a:prstGeom prst="rect">
            <a:avLst/>
          </a:prstGeom>
          <a:noFill/>
          <a:ln/>
        </p:spPr>
        <p:txBody>
          <a:bodyPr wrap="square" lIns="0" tIns="0" rIns="0" bIns="0" rtlCol="0" anchor="t"/>
          <a:lstStyle/>
          <a:p>
            <a:pPr marL="0" indent="0">
              <a:buNone/>
            </a:pPr>
            <a:r>
              <a:rPr lang="en-US" sz="4600" b="1" dirty="0">
                <a:solidFill>
                  <a:srgbClr val="FFFFFF"/>
                </a:solidFill>
                <a:latin typeface="Cambria" pitchFamily="34" charset="0"/>
                <a:ea typeface="Cambria" pitchFamily="34" charset="-122"/>
                <a:cs typeface="Cambria" pitchFamily="34" charset="-120"/>
              </a:rPr>
              <a:t>SAC Hostel Management System</a:t>
            </a:r>
            <a:endParaRPr lang="en-US" sz="4600" dirty="0"/>
          </a:p>
        </p:txBody>
      </p:sp>
      <p:sp>
        <p:nvSpPr>
          <p:cNvPr id="7" name="Text 5"/>
          <p:cNvSpPr txBox="1"/>
          <p:nvPr/>
        </p:nvSpPr>
        <p:spPr>
          <a:xfrm>
            <a:off x="548640" y="4023360"/>
            <a:ext cx="7315200" cy="365760"/>
          </a:xfrm>
          <a:prstGeom prst="rect">
            <a:avLst/>
          </a:prstGeom>
          <a:noFill/>
          <a:ln/>
        </p:spPr>
        <p:txBody>
          <a:bodyPr wrap="square" lIns="0" tIns="0" rIns="0" bIns="0" rtlCol="0" anchor="t"/>
          <a:lstStyle/>
          <a:p>
            <a:pPr marL="0" indent="0">
              <a:buNone/>
            </a:pPr>
            <a:r>
              <a:rPr lang="en-US" sz="1800" b="1" dirty="0">
                <a:solidFill>
                  <a:schemeClr val="accent2"/>
                </a:solidFill>
                <a:latin typeface="Calibri" pitchFamily="34" charset="0"/>
                <a:ea typeface="Calibri" pitchFamily="34" charset="-122"/>
                <a:cs typeface="Calibri" pitchFamily="34" charset="-120"/>
              </a:rPr>
              <a:t>Group 16</a:t>
            </a:r>
          </a:p>
          <a:p>
            <a:pPr marL="0" indent="0">
              <a:buNone/>
            </a:pPr>
            <a:endParaRPr lang="en-US" b="1" dirty="0">
              <a:solidFill>
                <a:srgbClr val="FFFFFF"/>
              </a:solidFill>
              <a:latin typeface="Calibri" pitchFamily="34" charset="0"/>
              <a:ea typeface="Calibri" pitchFamily="34" charset="-122"/>
              <a:cs typeface="Calibri" pitchFamily="34" charset="-120"/>
            </a:endParaRPr>
          </a:p>
          <a:p>
            <a:pPr marL="0" indent="0">
              <a:buNone/>
            </a:pPr>
            <a:r>
              <a:rPr lang="en-US" sz="1800" b="1" dirty="0">
                <a:solidFill>
                  <a:schemeClr val="accent2"/>
                </a:solidFill>
                <a:latin typeface="Calibri" pitchFamily="34" charset="0"/>
                <a:ea typeface="Calibri" pitchFamily="34" charset="-122"/>
                <a:cs typeface="Calibri" pitchFamily="34" charset="-120"/>
              </a:rPr>
              <a:t>Het(24JE0670) | Sireesha(24JE0671) | Prabir(24JE0672)</a:t>
            </a:r>
          </a:p>
          <a:p>
            <a:pPr marL="0" indent="0">
              <a:buNone/>
            </a:pPr>
            <a:r>
              <a:rPr lang="en-US" sz="1800" b="1" dirty="0">
                <a:solidFill>
                  <a:schemeClr val="accent2"/>
                </a:solidFill>
                <a:latin typeface="Calibri" pitchFamily="34" charset="0"/>
                <a:ea typeface="Calibri" pitchFamily="34" charset="-122"/>
                <a:cs typeface="Calibri" pitchFamily="34" charset="-120"/>
              </a:rPr>
              <a:t>Pranjul(24JE0673) | Prathamesh(24JE0674)</a:t>
            </a:r>
            <a:endParaRPr lang="en-US" sz="1800" dirty="0">
              <a:solidFill>
                <a:schemeClr val="accent2"/>
              </a:solidFill>
            </a:endParaRPr>
          </a:p>
        </p:txBody>
      </p:sp>
      <p:sp>
        <p:nvSpPr>
          <p:cNvPr id="8" name="Text 6"/>
          <p:cNvSpPr txBox="1"/>
          <p:nvPr/>
        </p:nvSpPr>
        <p:spPr>
          <a:xfrm>
            <a:off x="548640" y="5349240"/>
            <a:ext cx="7315200" cy="365760"/>
          </a:xfrm>
          <a:prstGeom prst="rect">
            <a:avLst/>
          </a:prstGeom>
          <a:noFill/>
          <a:ln/>
        </p:spPr>
        <p:txBody>
          <a:bodyPr wrap="square" lIns="0" tIns="0" rIns="0" bIns="0" rtlCol="0" anchor="t"/>
          <a:lstStyle/>
          <a:p>
            <a:pPr marL="0" indent="0">
              <a:buNone/>
            </a:pPr>
            <a:endParaRPr lang="en-US" sz="1400" dirty="0"/>
          </a:p>
        </p:txBody>
      </p:sp>
      <p:sp>
        <p:nvSpPr>
          <p:cNvPr id="9" name="Text 7"/>
          <p:cNvSpPr txBox="1"/>
          <p:nvPr/>
        </p:nvSpPr>
        <p:spPr>
          <a:xfrm>
            <a:off x="548640" y="5715000"/>
            <a:ext cx="7315200" cy="365760"/>
          </a:xfrm>
          <a:prstGeom prst="rect">
            <a:avLst/>
          </a:prstGeom>
          <a:noFill/>
          <a:ln/>
        </p:spPr>
        <p:txBody>
          <a:bodyPr wrap="square" lIns="0" tIns="0" rIns="0" bIns="0" rtlCol="0" anchor="t"/>
          <a:lstStyle/>
          <a:p>
            <a:pPr marL="0" indent="0">
              <a:buNone/>
            </a:pPr>
            <a:endParaRPr lang="en-US" sz="1400" dirty="0"/>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300" dirty="0">
                <a:solidFill>
                  <a:srgbClr val="C8553D"/>
                </a:solidFill>
                <a:latin typeface="Calibri" pitchFamily="34" charset="0"/>
                <a:ea typeface="Calibri" pitchFamily="34" charset="-122"/>
                <a:cs typeface="Calibri" pitchFamily="34" charset="-120"/>
              </a:rPr>
              <a:t>REQUIREMENTS</a:t>
            </a:r>
            <a:endParaRPr lang="en-US" sz="1200" dirty="0"/>
          </a:p>
        </p:txBody>
      </p:sp>
      <p:sp>
        <p:nvSpPr>
          <p:cNvPr id="3" name="Text 1"/>
          <p:cNvSpPr txBox="1"/>
          <p:nvPr/>
        </p:nvSpPr>
        <p:spPr>
          <a:xfrm>
            <a:off x="548640" y="566928"/>
            <a:ext cx="11094415" cy="640080"/>
          </a:xfrm>
          <a:prstGeom prst="rect">
            <a:avLst/>
          </a:prstGeom>
          <a:noFill/>
          <a:ln/>
        </p:spPr>
        <p:txBody>
          <a:bodyPr wrap="square" lIns="0" tIns="0" rIns="0" bIns="0" rtlCol="0" anchor="ctr"/>
          <a:lstStyle/>
          <a:p>
            <a:pPr marL="0" indent="0">
              <a:buNone/>
            </a:pPr>
            <a:r>
              <a:rPr lang="en-US" sz="2800" b="1" dirty="0">
                <a:solidFill>
                  <a:srgbClr val="1B2A41"/>
                </a:solidFill>
                <a:latin typeface="Cambria" pitchFamily="34" charset="0"/>
                <a:ea typeface="Cambria" pitchFamily="34" charset="-122"/>
                <a:cs typeface="Cambria" pitchFamily="34" charset="-120"/>
              </a:rPr>
              <a:t>Problem statement: what the SAC asked for</a:t>
            </a:r>
            <a:endParaRPr lang="en-US" sz="2800" dirty="0"/>
          </a:p>
        </p:txBody>
      </p:sp>
      <p:sp>
        <p:nvSpPr>
          <p:cNvPr id="4" name="Text 2"/>
          <p:cNvSpPr txBox="1"/>
          <p:nvPr/>
        </p:nvSpPr>
        <p:spPr>
          <a:xfrm>
            <a:off x="11185855" y="6400800"/>
            <a:ext cx="457200" cy="274320"/>
          </a:xfrm>
          <a:prstGeom prst="rect">
            <a:avLst/>
          </a:prstGeom>
          <a:noFill/>
          <a:ln/>
        </p:spPr>
        <p:txBody>
          <a:bodyPr wrap="square" lIns="0" tIns="0" rIns="0" bIns="0" rtlCol="0" anchor="ctr"/>
          <a:lstStyle/>
          <a:p>
            <a:pPr marL="0" indent="0" algn="r">
              <a:buNone/>
            </a:pPr>
            <a:r>
              <a:rPr lang="en-US" sz="1000" dirty="0">
                <a:solidFill>
                  <a:srgbClr val="5B6B7B"/>
                </a:solidFill>
                <a:latin typeface="Calibri" pitchFamily="34" charset="0"/>
                <a:ea typeface="Calibri" pitchFamily="34" charset="-122"/>
                <a:cs typeface="Calibri" pitchFamily="34" charset="-120"/>
              </a:rPr>
              <a:t>2</a:t>
            </a:r>
            <a:endParaRPr lang="en-US" sz="1000" dirty="0"/>
          </a:p>
        </p:txBody>
      </p:sp>
      <p:sp>
        <p:nvSpPr>
          <p:cNvPr id="6" name="Shape 3"/>
          <p:cNvSpPr/>
          <p:nvPr/>
        </p:nvSpPr>
        <p:spPr>
          <a:xfrm>
            <a:off x="512064" y="1344393"/>
            <a:ext cx="5925312" cy="5037894"/>
          </a:xfrm>
          <a:prstGeom prst="rect">
            <a:avLst/>
          </a:prstGeom>
          <a:solidFill>
            <a:srgbClr val="FFFFFF"/>
          </a:solidFill>
          <a:ln w="9525">
            <a:solidFill>
              <a:srgbClr val="C9D3DD"/>
            </a:solidFill>
            <a:prstDash val="solid"/>
          </a:ln>
          <a:effectLst>
            <a:outerShdw blurRad="76200" dist="25400" dir="5400000" algn="bl" rotWithShape="0">
              <a:srgbClr val="000000">
                <a:alpha val="15000"/>
              </a:srgbClr>
            </a:outerShdw>
          </a:effectLst>
        </p:spPr>
      </p:sp>
      <p:pic>
        <p:nvPicPr>
          <p:cNvPr id="7" name="Image 0" descr="C:\Users\Rahul\AppData\Local\Temp\claude\C--Users-Rahul-AppData-Roaming-Claude-scratch-workspaces-cdf4d821-eeb4-4a9a-a534-95f3e8b5ef5e-df7fd750-804c-4772-884a-1f73fe42c84d-scratch-2026-09-29-45a3c3\34671f05-19cf-43b2-b04e-0db0df211d26\scratchpad\deck\problem.png"/>
          <p:cNvPicPr>
            <a:picLocks noChangeAspect="1"/>
          </p:cNvPicPr>
          <p:nvPr/>
        </p:nvPicPr>
        <p:blipFill>
          <a:blip r:embed="rId3"/>
          <a:stretch>
            <a:fillRect/>
          </a:stretch>
        </p:blipFill>
        <p:spPr>
          <a:xfrm>
            <a:off x="548640" y="1380969"/>
            <a:ext cx="5852160" cy="4964742"/>
          </a:xfrm>
          <a:prstGeom prst="rect">
            <a:avLst/>
          </a:prstGeom>
        </p:spPr>
      </p:pic>
      <p:sp>
        <p:nvSpPr>
          <p:cNvPr id="8" name="Text 4"/>
          <p:cNvSpPr txBox="1"/>
          <p:nvPr/>
        </p:nvSpPr>
        <p:spPr>
          <a:xfrm>
            <a:off x="6766560" y="1371600"/>
            <a:ext cx="4876495" cy="365760"/>
          </a:xfrm>
          <a:prstGeom prst="rect">
            <a:avLst/>
          </a:prstGeom>
          <a:noFill/>
          <a:ln/>
        </p:spPr>
        <p:txBody>
          <a:bodyPr wrap="square" lIns="0" tIns="0" rIns="0" bIns="0" rtlCol="0" anchor="t"/>
          <a:lstStyle/>
          <a:p>
            <a:pPr marL="0" indent="0">
              <a:buNone/>
            </a:pPr>
            <a:r>
              <a:rPr lang="en-US" sz="1700" b="1" dirty="0">
                <a:solidFill>
                  <a:srgbClr val="C8553D"/>
                </a:solidFill>
                <a:latin typeface="Cambria" pitchFamily="34" charset="0"/>
                <a:ea typeface="Cambria" pitchFamily="34" charset="-122"/>
                <a:cs typeface="Cambria" pitchFamily="34" charset="-120"/>
              </a:rPr>
              <a:t>In short, the software must handle</a:t>
            </a:r>
            <a:endParaRPr lang="en-US" sz="1700" dirty="0"/>
          </a:p>
        </p:txBody>
      </p:sp>
      <p:sp>
        <p:nvSpPr>
          <p:cNvPr id="9" name="Text 5"/>
          <p:cNvSpPr txBox="1"/>
          <p:nvPr/>
        </p:nvSpPr>
        <p:spPr>
          <a:xfrm>
            <a:off x="6766560" y="1828800"/>
            <a:ext cx="4876495" cy="3657600"/>
          </a:xfrm>
          <a:prstGeom prst="rect">
            <a:avLst/>
          </a:prstGeom>
          <a:noFill/>
          <a:ln/>
        </p:spPr>
        <p:txBody>
          <a:bodyPr wrap="square" lIns="0" tIns="0" rIns="0" bIns="0" rtlCol="0" anchor="t"/>
          <a:lstStyle/>
          <a:p>
            <a:pPr marL="342900" indent="-342900">
              <a:spcAft>
                <a:spcPts val="700"/>
              </a:spcAft>
              <a:buSzPct val="100000"/>
              <a:buChar char="•"/>
            </a:pPr>
            <a:r>
              <a:rPr lang="en-US" sz="1350" b="1" dirty="0">
                <a:solidFill>
                  <a:srgbClr val="1B2A41"/>
                </a:solidFill>
                <a:latin typeface="Calibri" pitchFamily="34" charset="0"/>
                <a:ea typeface="Calibri" pitchFamily="34" charset="-122"/>
                <a:cs typeface="Calibri" pitchFamily="34" charset="-120"/>
              </a:rPr>
              <a:t>Admission: </a:t>
            </a:r>
            <a:r>
              <a:rPr lang="en-US" sz="1350" dirty="0">
                <a:solidFill>
                  <a:srgbClr val="1F2933"/>
                </a:solidFill>
                <a:latin typeface="Calibri" pitchFamily="34" charset="0"/>
                <a:ea typeface="Calibri" pitchFamily="34" charset="-122"/>
                <a:cs typeface="Calibri" pitchFamily="34" charset="-120"/>
              </a:rPr>
              <a:t>register the student, allot hostel and room, issue a letter</a:t>
            </a:r>
            <a:endParaRPr lang="en-US" sz="1350" dirty="0"/>
          </a:p>
          <a:p>
            <a:pPr marL="342900" indent="-342900">
              <a:spcAft>
                <a:spcPts val="700"/>
              </a:spcAft>
              <a:buSzPct val="100000"/>
              <a:buChar char="•"/>
            </a:pPr>
            <a:r>
              <a:rPr lang="en-US" sz="1350" b="1" dirty="0">
                <a:solidFill>
                  <a:srgbClr val="1B2A41"/>
                </a:solidFill>
                <a:latin typeface="Calibri" pitchFamily="34" charset="0"/>
                <a:ea typeface="Calibri" pitchFamily="34" charset="-122"/>
                <a:cs typeface="Calibri" pitchFamily="34" charset="-120"/>
              </a:rPr>
              <a:t>Monthly billing: </a:t>
            </a:r>
            <a:r>
              <a:rPr lang="en-US" sz="1350" dirty="0">
                <a:solidFill>
                  <a:srgbClr val="1F2933"/>
                </a:solidFill>
                <a:latin typeface="Calibri" pitchFamily="34" charset="0"/>
                <a:ea typeface="Calibri" pitchFamily="34" charset="-122"/>
                <a:cs typeface="Calibri" pitchFamily="34" charset="-120"/>
              </a:rPr>
              <a:t>mess charge + room rent + amenity charge</a:t>
            </a:r>
            <a:endParaRPr lang="en-US" sz="1350" dirty="0"/>
          </a:p>
          <a:p>
            <a:pPr marL="342900" indent="-342900">
              <a:spcAft>
                <a:spcPts val="700"/>
              </a:spcAft>
              <a:buSzPct val="100000"/>
              <a:buChar char="•"/>
            </a:pPr>
            <a:r>
              <a:rPr lang="en-US" sz="1350" b="1" dirty="0">
                <a:solidFill>
                  <a:srgbClr val="1B2A41"/>
                </a:solidFill>
                <a:latin typeface="Calibri" pitchFamily="34" charset="0"/>
                <a:ea typeface="Calibri" pitchFamily="34" charset="-122"/>
                <a:cs typeface="Calibri" pitchFamily="34" charset="-120"/>
              </a:rPr>
              <a:t>Mess managers: </a:t>
            </a:r>
            <a:r>
              <a:rPr lang="en-US" sz="1350" dirty="0">
                <a:solidFill>
                  <a:srgbClr val="1F2933"/>
                </a:solidFill>
                <a:latin typeface="Calibri" pitchFamily="34" charset="0"/>
                <a:ea typeface="Calibri" pitchFamily="34" charset="-122"/>
                <a:cs typeface="Calibri" pitchFamily="34" charset="-120"/>
              </a:rPr>
              <a:t>print a sheet of amounts due and issue cheques</a:t>
            </a:r>
            <a:endParaRPr lang="en-US" sz="1350" dirty="0"/>
          </a:p>
          <a:p>
            <a:pPr marL="342900" indent="-342900">
              <a:spcAft>
                <a:spcPts val="700"/>
              </a:spcAft>
              <a:buSzPct val="100000"/>
              <a:buChar char="•"/>
            </a:pPr>
            <a:r>
              <a:rPr lang="en-US" sz="1350" b="1" dirty="0">
                <a:solidFill>
                  <a:srgbClr val="1B2A41"/>
                </a:solidFill>
                <a:latin typeface="Calibri" pitchFamily="34" charset="0"/>
                <a:ea typeface="Calibri" pitchFamily="34" charset="-122"/>
                <a:cs typeface="Calibri" pitchFamily="34" charset="-120"/>
              </a:rPr>
              <a:t>Complaints: </a:t>
            </a:r>
            <a:r>
              <a:rPr lang="en-US" sz="1350" dirty="0">
                <a:solidFill>
                  <a:srgbClr val="1F2933"/>
                </a:solidFill>
                <a:latin typeface="Calibri" pitchFamily="34" charset="0"/>
                <a:ea typeface="Calibri" pitchFamily="34" charset="-122"/>
                <a:cs typeface="Calibri" pitchFamily="34" charset="-120"/>
              </a:rPr>
              <a:t>students raise them online; the warden posts an Action Taken Report (ATR)</a:t>
            </a:r>
            <a:endParaRPr lang="en-US" sz="1350" dirty="0"/>
          </a:p>
          <a:p>
            <a:pPr marL="342900" indent="-342900">
              <a:spcAft>
                <a:spcPts val="700"/>
              </a:spcAft>
              <a:buSzPct val="100000"/>
              <a:buChar char="•"/>
            </a:pPr>
            <a:r>
              <a:rPr lang="en-US" sz="1350" b="1" dirty="0">
                <a:solidFill>
                  <a:srgbClr val="1B2A41"/>
                </a:solidFill>
                <a:latin typeface="Calibri" pitchFamily="34" charset="0"/>
                <a:ea typeface="Calibri" pitchFamily="34" charset="-122"/>
                <a:cs typeface="Calibri" pitchFamily="34" charset="-120"/>
              </a:rPr>
              <a:t>Staff: </a:t>
            </a:r>
            <a:r>
              <a:rPr lang="en-US" sz="1350" dirty="0">
                <a:solidFill>
                  <a:srgbClr val="1F2933"/>
                </a:solidFill>
                <a:latin typeface="Calibri" pitchFamily="34" charset="0"/>
                <a:ea typeface="Calibri" pitchFamily="34" charset="-122"/>
                <a:cs typeface="Calibri" pitchFamily="34" charset="-120"/>
              </a:rPr>
              <a:t>attendants and gardeners paid per day, minus leave</a:t>
            </a:r>
            <a:endParaRPr lang="en-US" sz="1350" dirty="0"/>
          </a:p>
          <a:p>
            <a:pPr marL="342900" indent="-342900">
              <a:spcAft>
                <a:spcPts val="700"/>
              </a:spcAft>
              <a:buSzPct val="100000"/>
              <a:buChar char="•"/>
            </a:pPr>
            <a:r>
              <a:rPr lang="en-US" sz="1350" b="1" dirty="0">
                <a:solidFill>
                  <a:srgbClr val="1B2A41"/>
                </a:solidFill>
                <a:latin typeface="Calibri" pitchFamily="34" charset="0"/>
                <a:ea typeface="Calibri" pitchFamily="34" charset="-122"/>
                <a:cs typeface="Calibri" pitchFamily="34" charset="-120"/>
              </a:rPr>
              <a:t>Grants: </a:t>
            </a:r>
            <a:r>
              <a:rPr lang="en-US" sz="1350" dirty="0">
                <a:solidFill>
                  <a:srgbClr val="1F2933"/>
                </a:solidFill>
                <a:latin typeface="Calibri" pitchFamily="34" charset="0"/>
                <a:ea typeface="Calibri" pitchFamily="34" charset="-122"/>
                <a:cs typeface="Calibri" pitchFamily="34" charset="-120"/>
              </a:rPr>
              <a:t>chairman splits the annual grant among halls</a:t>
            </a:r>
            <a:endParaRPr lang="en-US" sz="1350" dirty="0"/>
          </a:p>
          <a:p>
            <a:pPr marL="342900" indent="-342900">
              <a:spcAft>
                <a:spcPts val="700"/>
              </a:spcAft>
              <a:buSzPct val="100000"/>
              <a:buChar char="•"/>
            </a:pPr>
            <a:r>
              <a:rPr lang="en-US" sz="1350" b="1" dirty="0">
                <a:solidFill>
                  <a:srgbClr val="1B2A41"/>
                </a:solidFill>
                <a:latin typeface="Calibri" pitchFamily="34" charset="0"/>
                <a:ea typeface="Calibri" pitchFamily="34" charset="-122"/>
                <a:cs typeface="Calibri" pitchFamily="34" charset="-120"/>
              </a:rPr>
              <a:t>Accounts: </a:t>
            </a:r>
            <a:r>
              <a:rPr lang="en-US" sz="1350" dirty="0">
                <a:solidFill>
                  <a:srgbClr val="1F2933"/>
                </a:solidFill>
                <a:latin typeface="Calibri" pitchFamily="34" charset="0"/>
                <a:ea typeface="Calibri" pitchFamily="34" charset="-122"/>
                <a:cs typeface="Calibri" pitchFamily="34" charset="-120"/>
              </a:rPr>
              <a:t>petty expenses and the annual statement for audit</a:t>
            </a:r>
            <a:endParaRPr lang="en-US" sz="1350" dirty="0"/>
          </a:p>
        </p:txBody>
      </p:sp>
      <p:sp>
        <p:nvSpPr>
          <p:cNvPr id="10" name="Shape 6"/>
          <p:cNvSpPr/>
          <p:nvPr/>
        </p:nvSpPr>
        <p:spPr>
          <a:xfrm>
            <a:off x="6766560" y="5532120"/>
            <a:ext cx="4876495" cy="822960"/>
          </a:xfrm>
          <a:prstGeom prst="roundRect">
            <a:avLst>
              <a:gd name="adj" fmla="val 8889"/>
            </a:avLst>
          </a:prstGeom>
          <a:solidFill>
            <a:srgbClr val="F6E3DC"/>
          </a:solidFill>
          <a:ln w="12700">
            <a:solidFill>
              <a:srgbClr val="F6E3DC"/>
            </a:solidFill>
            <a:prstDash val="solid"/>
          </a:ln>
        </p:spPr>
      </p:sp>
      <p:sp>
        <p:nvSpPr>
          <p:cNvPr id="11" name="Text 7"/>
          <p:cNvSpPr txBox="1"/>
          <p:nvPr/>
        </p:nvSpPr>
        <p:spPr>
          <a:xfrm>
            <a:off x="6949440" y="5577840"/>
            <a:ext cx="4510735" cy="731520"/>
          </a:xfrm>
          <a:prstGeom prst="rect">
            <a:avLst/>
          </a:prstGeom>
          <a:noFill/>
          <a:ln/>
        </p:spPr>
        <p:txBody>
          <a:bodyPr wrap="square" lIns="0" tIns="0" rIns="0" bIns="0" rtlCol="0" anchor="ctr"/>
          <a:lstStyle/>
          <a:p>
            <a:pPr marL="0" indent="0">
              <a:buNone/>
            </a:pPr>
            <a:r>
              <a:rPr lang="en-US" sz="1300" i="1" dirty="0">
                <a:solidFill>
                  <a:srgbClr val="1B2A41"/>
                </a:solidFill>
                <a:latin typeface="Calibri" pitchFamily="34" charset="0"/>
                <a:ea typeface="Calibri" pitchFamily="34" charset="-122"/>
                <a:cs typeface="Calibri" pitchFamily="34" charset="-120"/>
              </a:rPr>
              <a:t>Key constraint: "very secure to prevent frauds and financial irregularities"</a:t>
            </a:r>
            <a:endParaRPr lang="en-US" sz="1300" dirty="0"/>
          </a:p>
        </p:txBody>
      </p:sp>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300" dirty="0">
                <a:solidFill>
                  <a:srgbClr val="C8553D"/>
                </a:solidFill>
                <a:latin typeface="Calibri" pitchFamily="34" charset="0"/>
                <a:ea typeface="Calibri" pitchFamily="34" charset="-122"/>
                <a:cs typeface="Calibri" pitchFamily="34" charset="-120"/>
              </a:rPr>
              <a:t>APPROACH</a:t>
            </a:r>
            <a:endParaRPr lang="en-US" sz="1200" dirty="0"/>
          </a:p>
        </p:txBody>
      </p:sp>
      <p:sp>
        <p:nvSpPr>
          <p:cNvPr id="3" name="Text 1"/>
          <p:cNvSpPr txBox="1"/>
          <p:nvPr/>
        </p:nvSpPr>
        <p:spPr>
          <a:xfrm>
            <a:off x="548640" y="566928"/>
            <a:ext cx="11094415" cy="640080"/>
          </a:xfrm>
          <a:prstGeom prst="rect">
            <a:avLst/>
          </a:prstGeom>
          <a:noFill/>
          <a:ln/>
        </p:spPr>
        <p:txBody>
          <a:bodyPr wrap="square" lIns="0" tIns="0" rIns="0" bIns="0" rtlCol="0" anchor="ctr"/>
          <a:lstStyle/>
          <a:p>
            <a:pPr marL="0" indent="0">
              <a:buNone/>
            </a:pPr>
            <a:r>
              <a:rPr lang="en-US" sz="2800" b="1" dirty="0">
                <a:solidFill>
                  <a:srgbClr val="1B2A41"/>
                </a:solidFill>
                <a:latin typeface="Cambria" pitchFamily="34" charset="0"/>
                <a:ea typeface="Cambria" pitchFamily="34" charset="-122"/>
                <a:cs typeface="Cambria" pitchFamily="34" charset="-120"/>
              </a:rPr>
              <a:t>How we built it: SDLC phases and tech stack</a:t>
            </a:r>
            <a:endParaRPr lang="en-US" sz="2800" dirty="0"/>
          </a:p>
        </p:txBody>
      </p:sp>
      <p:sp>
        <p:nvSpPr>
          <p:cNvPr id="4" name="Text 2"/>
          <p:cNvSpPr txBox="1"/>
          <p:nvPr/>
        </p:nvSpPr>
        <p:spPr>
          <a:xfrm>
            <a:off x="11185855" y="6400800"/>
            <a:ext cx="457200" cy="274320"/>
          </a:xfrm>
          <a:prstGeom prst="rect">
            <a:avLst/>
          </a:prstGeom>
          <a:noFill/>
          <a:ln/>
        </p:spPr>
        <p:txBody>
          <a:bodyPr wrap="square" lIns="0" tIns="0" rIns="0" bIns="0" rtlCol="0" anchor="ctr"/>
          <a:lstStyle/>
          <a:p>
            <a:pPr marL="0" indent="0" algn="r">
              <a:buNone/>
            </a:pPr>
            <a:r>
              <a:rPr lang="en-US" sz="1000" dirty="0">
                <a:solidFill>
                  <a:srgbClr val="5B6B7B"/>
                </a:solidFill>
                <a:latin typeface="Calibri" pitchFamily="34" charset="0"/>
                <a:ea typeface="Calibri" pitchFamily="34" charset="-122"/>
                <a:cs typeface="Calibri" pitchFamily="34" charset="-120"/>
              </a:rPr>
              <a:t>3</a:t>
            </a:r>
            <a:endParaRPr lang="en-US" sz="1000" dirty="0"/>
          </a:p>
        </p:txBody>
      </p:sp>
      <p:sp>
        <p:nvSpPr>
          <p:cNvPr id="6" name="Shape 3"/>
          <p:cNvSpPr/>
          <p:nvPr/>
        </p:nvSpPr>
        <p:spPr>
          <a:xfrm>
            <a:off x="548640" y="1417320"/>
            <a:ext cx="411480" cy="411480"/>
          </a:xfrm>
          <a:prstGeom prst="ellipse">
            <a:avLst/>
          </a:prstGeom>
          <a:solidFill>
            <a:srgbClr val="C8553D"/>
          </a:solidFill>
          <a:ln w="12700">
            <a:solidFill>
              <a:srgbClr val="C8553D"/>
            </a:solidFill>
            <a:prstDash val="solid"/>
          </a:ln>
        </p:spPr>
      </p:sp>
      <p:sp>
        <p:nvSpPr>
          <p:cNvPr id="7" name="Text 4"/>
          <p:cNvSpPr txBox="1"/>
          <p:nvPr/>
        </p:nvSpPr>
        <p:spPr>
          <a:xfrm>
            <a:off x="548640" y="1417320"/>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5"/>
          <p:cNvSpPr txBox="1"/>
          <p:nvPr/>
        </p:nvSpPr>
        <p:spPr>
          <a:xfrm>
            <a:off x="1143000" y="1371600"/>
            <a:ext cx="2011680" cy="320040"/>
          </a:xfrm>
          <a:prstGeom prst="rect">
            <a:avLst/>
          </a:prstGeom>
          <a:noFill/>
          <a:ln/>
        </p:spPr>
        <p:txBody>
          <a:bodyPr wrap="square" lIns="0" tIns="0" rIns="0" bIns="0" rtlCol="0" anchor="t"/>
          <a:lstStyle/>
          <a:p>
            <a:pPr marL="0" indent="0">
              <a:buNone/>
            </a:pPr>
            <a:r>
              <a:rPr lang="en-US" sz="1500" b="1" dirty="0">
                <a:solidFill>
                  <a:srgbClr val="1B2A41"/>
                </a:solidFill>
                <a:latin typeface="Calibri" pitchFamily="34" charset="0"/>
                <a:ea typeface="Calibri" pitchFamily="34" charset="-122"/>
                <a:cs typeface="Calibri" pitchFamily="34" charset="-120"/>
              </a:rPr>
              <a:t>Requirements</a:t>
            </a:r>
            <a:endParaRPr lang="en-US" sz="1500" dirty="0"/>
          </a:p>
        </p:txBody>
      </p:sp>
      <p:sp>
        <p:nvSpPr>
          <p:cNvPr id="9" name="Text 6"/>
          <p:cNvSpPr txBox="1"/>
          <p:nvPr/>
        </p:nvSpPr>
        <p:spPr>
          <a:xfrm>
            <a:off x="1143000" y="1700784"/>
            <a:ext cx="4754880" cy="365760"/>
          </a:xfrm>
          <a:prstGeom prst="rect">
            <a:avLst/>
          </a:prstGeom>
          <a:noFill/>
          <a:ln/>
        </p:spPr>
        <p:txBody>
          <a:bodyPr wrap="square" lIns="0" tIns="0" rIns="0" bIns="0" rtlCol="0" anchor="t"/>
          <a:lstStyle/>
          <a:p>
            <a:pPr marL="0" indent="0">
              <a:buNone/>
            </a:pPr>
            <a:r>
              <a:rPr lang="en-US" sz="1250" dirty="0">
                <a:solidFill>
                  <a:schemeClr val="bg1"/>
                </a:solidFill>
                <a:latin typeface="Calibri" pitchFamily="34" charset="0"/>
                <a:ea typeface="Calibri" pitchFamily="34" charset="-122"/>
                <a:cs typeface="Calibri" pitchFamily="34" charset="-120"/>
              </a:rPr>
              <a:t>Read the problem, list actors and features</a:t>
            </a:r>
            <a:endParaRPr lang="en-US" sz="1250" dirty="0">
              <a:solidFill>
                <a:schemeClr val="bg1"/>
              </a:solidFill>
            </a:endParaRPr>
          </a:p>
        </p:txBody>
      </p:sp>
      <p:sp>
        <p:nvSpPr>
          <p:cNvPr id="10" name="Shape 7"/>
          <p:cNvSpPr/>
          <p:nvPr/>
        </p:nvSpPr>
        <p:spPr>
          <a:xfrm>
            <a:off x="754380" y="1874520"/>
            <a:ext cx="0" cy="365760"/>
          </a:xfrm>
          <a:prstGeom prst="line">
            <a:avLst/>
          </a:prstGeom>
          <a:noFill/>
          <a:ln w="19050">
            <a:solidFill>
              <a:srgbClr val="C9D3DD"/>
            </a:solidFill>
            <a:prstDash val="solid"/>
          </a:ln>
        </p:spPr>
      </p:sp>
      <p:sp>
        <p:nvSpPr>
          <p:cNvPr id="11" name="Shape 8"/>
          <p:cNvSpPr/>
          <p:nvPr/>
        </p:nvSpPr>
        <p:spPr>
          <a:xfrm>
            <a:off x="548640" y="2240280"/>
            <a:ext cx="411480" cy="411480"/>
          </a:xfrm>
          <a:prstGeom prst="ellipse">
            <a:avLst/>
          </a:prstGeom>
          <a:solidFill>
            <a:srgbClr val="C8553D"/>
          </a:solidFill>
          <a:ln w="12700">
            <a:solidFill>
              <a:srgbClr val="C8553D"/>
            </a:solidFill>
            <a:prstDash val="solid"/>
          </a:ln>
        </p:spPr>
      </p:sp>
      <p:sp>
        <p:nvSpPr>
          <p:cNvPr id="12" name="Text 9"/>
          <p:cNvSpPr txBox="1"/>
          <p:nvPr/>
        </p:nvSpPr>
        <p:spPr>
          <a:xfrm>
            <a:off x="548640" y="2240280"/>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txBox="1"/>
          <p:nvPr/>
        </p:nvSpPr>
        <p:spPr>
          <a:xfrm>
            <a:off x="1143000" y="2194560"/>
            <a:ext cx="2011680" cy="320040"/>
          </a:xfrm>
          <a:prstGeom prst="rect">
            <a:avLst/>
          </a:prstGeom>
          <a:noFill/>
          <a:ln/>
        </p:spPr>
        <p:txBody>
          <a:bodyPr wrap="square" lIns="0" tIns="0" rIns="0" bIns="0" rtlCol="0" anchor="t"/>
          <a:lstStyle/>
          <a:p>
            <a:pPr marL="0" indent="0">
              <a:buNone/>
            </a:pPr>
            <a:r>
              <a:rPr lang="en-US" sz="1500" b="1" dirty="0">
                <a:solidFill>
                  <a:srgbClr val="1B2A41"/>
                </a:solidFill>
                <a:latin typeface="Calibri" pitchFamily="34" charset="0"/>
                <a:ea typeface="Calibri" pitchFamily="34" charset="-122"/>
                <a:cs typeface="Calibri" pitchFamily="34" charset="-120"/>
              </a:rPr>
              <a:t>Analysis</a:t>
            </a:r>
            <a:endParaRPr lang="en-US" sz="1500" dirty="0"/>
          </a:p>
        </p:txBody>
      </p:sp>
      <p:sp>
        <p:nvSpPr>
          <p:cNvPr id="14" name="Text 11"/>
          <p:cNvSpPr txBox="1"/>
          <p:nvPr/>
        </p:nvSpPr>
        <p:spPr>
          <a:xfrm>
            <a:off x="1143000" y="2523744"/>
            <a:ext cx="4754880" cy="365760"/>
          </a:xfrm>
          <a:prstGeom prst="rect">
            <a:avLst/>
          </a:prstGeom>
          <a:noFill/>
          <a:ln/>
        </p:spPr>
        <p:txBody>
          <a:bodyPr wrap="square" lIns="0" tIns="0" rIns="0" bIns="0" rtlCol="0" anchor="t"/>
          <a:lstStyle/>
          <a:p>
            <a:pPr marL="0" indent="0">
              <a:buNone/>
            </a:pPr>
            <a:r>
              <a:rPr lang="en-US" sz="1250" dirty="0">
                <a:solidFill>
                  <a:schemeClr val="bg1"/>
                </a:solidFill>
                <a:latin typeface="Calibri" pitchFamily="34" charset="0"/>
                <a:ea typeface="Calibri" pitchFamily="34" charset="-122"/>
                <a:cs typeface="Calibri" pitchFamily="34" charset="-120"/>
              </a:rPr>
              <a:t>Use case, activity diagram, DFD</a:t>
            </a:r>
            <a:endParaRPr lang="en-US" sz="1250" dirty="0">
              <a:solidFill>
                <a:schemeClr val="bg1"/>
              </a:solidFill>
            </a:endParaRPr>
          </a:p>
        </p:txBody>
      </p:sp>
      <p:sp>
        <p:nvSpPr>
          <p:cNvPr id="15" name="Shape 12"/>
          <p:cNvSpPr/>
          <p:nvPr/>
        </p:nvSpPr>
        <p:spPr>
          <a:xfrm>
            <a:off x="754380" y="2697480"/>
            <a:ext cx="0" cy="365760"/>
          </a:xfrm>
          <a:prstGeom prst="line">
            <a:avLst/>
          </a:prstGeom>
          <a:noFill/>
          <a:ln w="19050">
            <a:solidFill>
              <a:srgbClr val="C9D3DD"/>
            </a:solidFill>
            <a:prstDash val="solid"/>
          </a:ln>
        </p:spPr>
      </p:sp>
      <p:sp>
        <p:nvSpPr>
          <p:cNvPr id="16" name="Shape 13"/>
          <p:cNvSpPr/>
          <p:nvPr/>
        </p:nvSpPr>
        <p:spPr>
          <a:xfrm>
            <a:off x="548640" y="3063240"/>
            <a:ext cx="411480" cy="411480"/>
          </a:xfrm>
          <a:prstGeom prst="ellipse">
            <a:avLst/>
          </a:prstGeom>
          <a:solidFill>
            <a:srgbClr val="C8553D"/>
          </a:solidFill>
          <a:ln w="12700">
            <a:solidFill>
              <a:srgbClr val="C8553D"/>
            </a:solidFill>
            <a:prstDash val="solid"/>
          </a:ln>
        </p:spPr>
      </p:sp>
      <p:sp>
        <p:nvSpPr>
          <p:cNvPr id="17" name="Text 14"/>
          <p:cNvSpPr txBox="1"/>
          <p:nvPr/>
        </p:nvSpPr>
        <p:spPr>
          <a:xfrm>
            <a:off x="548640" y="3063240"/>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5"/>
          <p:cNvSpPr txBox="1"/>
          <p:nvPr/>
        </p:nvSpPr>
        <p:spPr>
          <a:xfrm>
            <a:off x="1143000" y="3017520"/>
            <a:ext cx="2011680" cy="320040"/>
          </a:xfrm>
          <a:prstGeom prst="rect">
            <a:avLst/>
          </a:prstGeom>
          <a:noFill/>
          <a:ln/>
        </p:spPr>
        <p:txBody>
          <a:bodyPr wrap="square" lIns="0" tIns="0" rIns="0" bIns="0" rtlCol="0" anchor="t"/>
          <a:lstStyle/>
          <a:p>
            <a:pPr marL="0" indent="0">
              <a:buNone/>
            </a:pPr>
            <a:r>
              <a:rPr lang="en-US" sz="1500" b="1" dirty="0">
                <a:solidFill>
                  <a:srgbClr val="1B2A41"/>
                </a:solidFill>
                <a:latin typeface="Calibri" pitchFamily="34" charset="0"/>
                <a:ea typeface="Calibri" pitchFamily="34" charset="-122"/>
                <a:cs typeface="Calibri" pitchFamily="34" charset="-120"/>
              </a:rPr>
              <a:t>Design</a:t>
            </a:r>
            <a:endParaRPr lang="en-US" sz="1500" dirty="0"/>
          </a:p>
        </p:txBody>
      </p:sp>
      <p:sp>
        <p:nvSpPr>
          <p:cNvPr id="19" name="Text 16"/>
          <p:cNvSpPr txBox="1"/>
          <p:nvPr/>
        </p:nvSpPr>
        <p:spPr>
          <a:xfrm>
            <a:off x="1143000" y="3346704"/>
            <a:ext cx="4754880" cy="365760"/>
          </a:xfrm>
          <a:prstGeom prst="rect">
            <a:avLst/>
          </a:prstGeom>
          <a:noFill/>
          <a:ln/>
        </p:spPr>
        <p:txBody>
          <a:bodyPr wrap="square" lIns="0" tIns="0" rIns="0" bIns="0" rtlCol="0" anchor="t"/>
          <a:lstStyle/>
          <a:p>
            <a:pPr marL="0" indent="0">
              <a:buNone/>
            </a:pPr>
            <a:r>
              <a:rPr lang="en-US" sz="1250" dirty="0">
                <a:solidFill>
                  <a:schemeClr val="bg1"/>
                </a:solidFill>
                <a:latin typeface="Calibri" pitchFamily="34" charset="0"/>
                <a:ea typeface="Calibri" pitchFamily="34" charset="-122"/>
                <a:cs typeface="Calibri" pitchFamily="34" charset="-120"/>
              </a:rPr>
              <a:t>Class, sequence, state diagrams; DB tables</a:t>
            </a:r>
            <a:endParaRPr lang="en-US" sz="1250" dirty="0">
              <a:solidFill>
                <a:schemeClr val="bg1"/>
              </a:solidFill>
            </a:endParaRPr>
          </a:p>
        </p:txBody>
      </p:sp>
      <p:sp>
        <p:nvSpPr>
          <p:cNvPr id="20" name="Shape 17"/>
          <p:cNvSpPr/>
          <p:nvPr/>
        </p:nvSpPr>
        <p:spPr>
          <a:xfrm>
            <a:off x="754380" y="3520440"/>
            <a:ext cx="0" cy="365760"/>
          </a:xfrm>
          <a:prstGeom prst="line">
            <a:avLst/>
          </a:prstGeom>
          <a:noFill/>
          <a:ln w="19050">
            <a:solidFill>
              <a:srgbClr val="C9D3DD"/>
            </a:solidFill>
            <a:prstDash val="solid"/>
          </a:ln>
        </p:spPr>
      </p:sp>
      <p:sp>
        <p:nvSpPr>
          <p:cNvPr id="21" name="Shape 18"/>
          <p:cNvSpPr/>
          <p:nvPr/>
        </p:nvSpPr>
        <p:spPr>
          <a:xfrm>
            <a:off x="548640" y="3886200"/>
            <a:ext cx="411480" cy="411480"/>
          </a:xfrm>
          <a:prstGeom prst="ellipse">
            <a:avLst/>
          </a:prstGeom>
          <a:solidFill>
            <a:srgbClr val="C8553D"/>
          </a:solidFill>
          <a:ln w="12700">
            <a:solidFill>
              <a:srgbClr val="C8553D"/>
            </a:solidFill>
            <a:prstDash val="solid"/>
          </a:ln>
        </p:spPr>
      </p:sp>
      <p:sp>
        <p:nvSpPr>
          <p:cNvPr id="22" name="Text 19"/>
          <p:cNvSpPr txBox="1"/>
          <p:nvPr/>
        </p:nvSpPr>
        <p:spPr>
          <a:xfrm>
            <a:off x="548640" y="3886200"/>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0"/>
          <p:cNvSpPr txBox="1"/>
          <p:nvPr/>
        </p:nvSpPr>
        <p:spPr>
          <a:xfrm>
            <a:off x="1143000" y="3840480"/>
            <a:ext cx="2011680" cy="320040"/>
          </a:xfrm>
          <a:prstGeom prst="rect">
            <a:avLst/>
          </a:prstGeom>
          <a:noFill/>
          <a:ln/>
        </p:spPr>
        <p:txBody>
          <a:bodyPr wrap="square" lIns="0" tIns="0" rIns="0" bIns="0" rtlCol="0" anchor="t"/>
          <a:lstStyle/>
          <a:p>
            <a:pPr marL="0" indent="0">
              <a:buNone/>
            </a:pPr>
            <a:r>
              <a:rPr lang="en-US" sz="1500" b="1" dirty="0">
                <a:solidFill>
                  <a:srgbClr val="1B2A41"/>
                </a:solidFill>
                <a:latin typeface="Calibri" pitchFamily="34" charset="0"/>
                <a:ea typeface="Calibri" pitchFamily="34" charset="-122"/>
                <a:cs typeface="Calibri" pitchFamily="34" charset="-120"/>
              </a:rPr>
              <a:t>Implementation</a:t>
            </a:r>
            <a:endParaRPr lang="en-US" sz="1500" dirty="0"/>
          </a:p>
        </p:txBody>
      </p:sp>
      <p:sp>
        <p:nvSpPr>
          <p:cNvPr id="24" name="Text 21"/>
          <p:cNvSpPr txBox="1"/>
          <p:nvPr/>
        </p:nvSpPr>
        <p:spPr>
          <a:xfrm>
            <a:off x="1143000" y="4169664"/>
            <a:ext cx="4754880" cy="365760"/>
          </a:xfrm>
          <a:prstGeom prst="rect">
            <a:avLst/>
          </a:prstGeom>
          <a:noFill/>
          <a:ln/>
        </p:spPr>
        <p:txBody>
          <a:bodyPr wrap="square" lIns="0" tIns="0" rIns="0" bIns="0" rtlCol="0" anchor="t"/>
          <a:lstStyle/>
          <a:p>
            <a:pPr marL="0" indent="0">
              <a:buNone/>
            </a:pPr>
            <a:r>
              <a:rPr lang="en-US" sz="1250" dirty="0">
                <a:solidFill>
                  <a:schemeClr val="bg1"/>
                </a:solidFill>
                <a:latin typeface="Calibri" pitchFamily="34" charset="0"/>
                <a:ea typeface="Calibri" pitchFamily="34" charset="-122"/>
                <a:cs typeface="Calibri" pitchFamily="34" charset="-120"/>
              </a:rPr>
              <a:t>Backend API + web pages</a:t>
            </a:r>
            <a:endParaRPr lang="en-US" sz="1250" dirty="0">
              <a:solidFill>
                <a:schemeClr val="bg1"/>
              </a:solidFill>
            </a:endParaRPr>
          </a:p>
        </p:txBody>
      </p:sp>
      <p:sp>
        <p:nvSpPr>
          <p:cNvPr id="25" name="Shape 22"/>
          <p:cNvSpPr/>
          <p:nvPr/>
        </p:nvSpPr>
        <p:spPr>
          <a:xfrm>
            <a:off x="754380" y="4343400"/>
            <a:ext cx="0" cy="365760"/>
          </a:xfrm>
          <a:prstGeom prst="line">
            <a:avLst/>
          </a:prstGeom>
          <a:noFill/>
          <a:ln w="19050">
            <a:solidFill>
              <a:srgbClr val="C9D3DD"/>
            </a:solidFill>
            <a:prstDash val="solid"/>
          </a:ln>
        </p:spPr>
      </p:sp>
      <p:sp>
        <p:nvSpPr>
          <p:cNvPr id="26" name="Shape 23"/>
          <p:cNvSpPr/>
          <p:nvPr/>
        </p:nvSpPr>
        <p:spPr>
          <a:xfrm>
            <a:off x="548640" y="4709160"/>
            <a:ext cx="411480" cy="411480"/>
          </a:xfrm>
          <a:prstGeom prst="ellipse">
            <a:avLst/>
          </a:prstGeom>
          <a:solidFill>
            <a:srgbClr val="2A7F80"/>
          </a:solidFill>
          <a:ln w="12700">
            <a:solidFill>
              <a:srgbClr val="2A7F80"/>
            </a:solidFill>
            <a:prstDash val="solid"/>
          </a:ln>
        </p:spPr>
      </p:sp>
      <p:sp>
        <p:nvSpPr>
          <p:cNvPr id="27" name="Text 24"/>
          <p:cNvSpPr txBox="1"/>
          <p:nvPr/>
        </p:nvSpPr>
        <p:spPr>
          <a:xfrm>
            <a:off x="548640" y="4709160"/>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8" name="Text 25"/>
          <p:cNvSpPr txBox="1"/>
          <p:nvPr/>
        </p:nvSpPr>
        <p:spPr>
          <a:xfrm>
            <a:off x="1143000" y="4663440"/>
            <a:ext cx="2011680" cy="320040"/>
          </a:xfrm>
          <a:prstGeom prst="rect">
            <a:avLst/>
          </a:prstGeom>
          <a:noFill/>
          <a:ln/>
        </p:spPr>
        <p:txBody>
          <a:bodyPr wrap="square" lIns="0" tIns="0" rIns="0" bIns="0" rtlCol="0" anchor="t"/>
          <a:lstStyle/>
          <a:p>
            <a:pPr marL="0" indent="0">
              <a:buNone/>
            </a:pPr>
            <a:r>
              <a:rPr lang="en-US" sz="1500" b="1" dirty="0">
                <a:solidFill>
                  <a:srgbClr val="1B2A41"/>
                </a:solidFill>
                <a:latin typeface="Calibri" pitchFamily="34" charset="0"/>
                <a:ea typeface="Calibri" pitchFamily="34" charset="-122"/>
                <a:cs typeface="Calibri" pitchFamily="34" charset="-120"/>
              </a:rPr>
              <a:t>Testing</a:t>
            </a:r>
            <a:endParaRPr lang="en-US" sz="1500" dirty="0"/>
          </a:p>
        </p:txBody>
      </p:sp>
      <p:sp>
        <p:nvSpPr>
          <p:cNvPr id="29" name="Text 26"/>
          <p:cNvSpPr txBox="1"/>
          <p:nvPr/>
        </p:nvSpPr>
        <p:spPr>
          <a:xfrm>
            <a:off x="1143000" y="4992624"/>
            <a:ext cx="4754880" cy="365760"/>
          </a:xfrm>
          <a:prstGeom prst="rect">
            <a:avLst/>
          </a:prstGeom>
          <a:noFill/>
          <a:ln/>
        </p:spPr>
        <p:txBody>
          <a:bodyPr wrap="square" lIns="0" tIns="0" rIns="0" bIns="0" rtlCol="0" anchor="t"/>
          <a:lstStyle/>
          <a:p>
            <a:pPr marL="0" indent="0">
              <a:buNone/>
            </a:pPr>
            <a:r>
              <a:rPr lang="en-US" sz="1250" dirty="0">
                <a:solidFill>
                  <a:schemeClr val="bg1"/>
                </a:solidFill>
                <a:latin typeface="Calibri" pitchFamily="34" charset="0"/>
                <a:ea typeface="Calibri" pitchFamily="34" charset="-122"/>
                <a:cs typeface="Calibri" pitchFamily="34" charset="-120"/>
              </a:rPr>
              <a:t>Automated pytest cases + manual checks</a:t>
            </a:r>
            <a:endParaRPr lang="en-US" sz="1250" dirty="0">
              <a:solidFill>
                <a:schemeClr val="bg1"/>
              </a:solidFill>
            </a:endParaRPr>
          </a:p>
        </p:txBody>
      </p:sp>
      <p:sp>
        <p:nvSpPr>
          <p:cNvPr id="30" name="Shape 27"/>
          <p:cNvSpPr/>
          <p:nvPr/>
        </p:nvSpPr>
        <p:spPr>
          <a:xfrm>
            <a:off x="754380" y="5166360"/>
            <a:ext cx="0" cy="365760"/>
          </a:xfrm>
          <a:prstGeom prst="line">
            <a:avLst/>
          </a:prstGeom>
          <a:noFill/>
          <a:ln w="19050">
            <a:solidFill>
              <a:srgbClr val="C9D3DD"/>
            </a:solidFill>
            <a:prstDash val="solid"/>
          </a:ln>
        </p:spPr>
      </p:sp>
      <p:sp>
        <p:nvSpPr>
          <p:cNvPr id="31" name="Shape 28"/>
          <p:cNvSpPr/>
          <p:nvPr/>
        </p:nvSpPr>
        <p:spPr>
          <a:xfrm>
            <a:off x="548640" y="5532120"/>
            <a:ext cx="411480" cy="411480"/>
          </a:xfrm>
          <a:prstGeom prst="ellipse">
            <a:avLst/>
          </a:prstGeom>
          <a:solidFill>
            <a:srgbClr val="C8553D"/>
          </a:solidFill>
          <a:ln w="12700">
            <a:solidFill>
              <a:srgbClr val="C8553D"/>
            </a:solidFill>
            <a:prstDash val="solid"/>
          </a:ln>
        </p:spPr>
      </p:sp>
      <p:sp>
        <p:nvSpPr>
          <p:cNvPr id="32" name="Text 29"/>
          <p:cNvSpPr txBox="1"/>
          <p:nvPr/>
        </p:nvSpPr>
        <p:spPr>
          <a:xfrm>
            <a:off x="548640" y="5532120"/>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3" name="Text 30"/>
          <p:cNvSpPr txBox="1"/>
          <p:nvPr/>
        </p:nvSpPr>
        <p:spPr>
          <a:xfrm>
            <a:off x="1143000" y="5486400"/>
            <a:ext cx="2011680" cy="320040"/>
          </a:xfrm>
          <a:prstGeom prst="rect">
            <a:avLst/>
          </a:prstGeom>
          <a:noFill/>
          <a:ln/>
        </p:spPr>
        <p:txBody>
          <a:bodyPr wrap="square" lIns="0" tIns="0" rIns="0" bIns="0" rtlCol="0" anchor="t"/>
          <a:lstStyle/>
          <a:p>
            <a:pPr marL="0" indent="0">
              <a:buNone/>
            </a:pPr>
            <a:r>
              <a:rPr lang="en-US" sz="1500" b="1" dirty="0">
                <a:solidFill>
                  <a:srgbClr val="1B2A41"/>
                </a:solidFill>
                <a:latin typeface="Calibri" pitchFamily="34" charset="0"/>
                <a:ea typeface="Calibri" pitchFamily="34" charset="-122"/>
                <a:cs typeface="Calibri" pitchFamily="34" charset="-120"/>
              </a:rPr>
              <a:t>Deployment</a:t>
            </a:r>
            <a:endParaRPr lang="en-US" sz="1500" dirty="0"/>
          </a:p>
        </p:txBody>
      </p:sp>
      <p:sp>
        <p:nvSpPr>
          <p:cNvPr id="34" name="Text 31"/>
          <p:cNvSpPr txBox="1"/>
          <p:nvPr/>
        </p:nvSpPr>
        <p:spPr>
          <a:xfrm>
            <a:off x="1143000" y="5815584"/>
            <a:ext cx="4754880" cy="365760"/>
          </a:xfrm>
          <a:prstGeom prst="rect">
            <a:avLst/>
          </a:prstGeom>
          <a:noFill/>
          <a:ln/>
        </p:spPr>
        <p:txBody>
          <a:bodyPr wrap="square" lIns="0" tIns="0" rIns="0" bIns="0" rtlCol="0" anchor="t"/>
          <a:lstStyle/>
          <a:p>
            <a:pPr marL="0" indent="0">
              <a:buNone/>
            </a:pPr>
            <a:r>
              <a:rPr lang="en-US" sz="1250" dirty="0">
                <a:solidFill>
                  <a:schemeClr val="bg1"/>
                </a:solidFill>
                <a:latin typeface="Calibri" pitchFamily="34" charset="0"/>
                <a:ea typeface="Calibri" pitchFamily="34" charset="-122"/>
                <a:cs typeface="Calibri" pitchFamily="34" charset="-120"/>
              </a:rPr>
              <a:t>Run locally with PostgreSQL</a:t>
            </a:r>
            <a:endParaRPr lang="en-US" sz="1250" dirty="0">
              <a:solidFill>
                <a:schemeClr val="bg1"/>
              </a:solidFill>
            </a:endParaRPr>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852160" y="1371600"/>
          <a:ext cx="5788152" cy="4389120"/>
        </p:xfrm>
        <a:graphic>
          <a:graphicData uri="http://schemas.openxmlformats.org/drawingml/2006/table">
            <a:tbl>
              <a:tblPr/>
              <a:tblGrid>
                <a:gridCol w="114300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2724912">
                  <a:extLst>
                    <a:ext uri="{9D8B030D-6E8A-4147-A177-3AD203B41FA5}">
                      <a16:colId xmlns:a16="http://schemas.microsoft.com/office/drawing/2014/main" val="20002"/>
                    </a:ext>
                  </a:extLst>
                </a:gridCol>
              </a:tblGrid>
              <a:tr h="54864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Part</a:t>
                      </a:r>
                      <a:endParaRPr lang="en-US" sz="120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1B2A41"/>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Technology</a:t>
                      </a:r>
                      <a:endParaRPr lang="en-US" sz="120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1B2A41"/>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Why we used it</a:t>
                      </a:r>
                      <a:endParaRPr lang="en-US" sz="120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1B2A41"/>
                    </a:solidFill>
                  </a:tcPr>
                </a:tc>
                <a:extLst>
                  <a:ext uri="{0D108BD9-81ED-4DB2-BD59-A6C34878D82A}">
                    <a16:rowId xmlns:a16="http://schemas.microsoft.com/office/drawing/2014/main" val="10000"/>
                  </a:ext>
                </a:extLst>
              </a:tr>
              <a:tr h="548640">
                <a:tc>
                  <a:txBody>
                    <a:bodyPr/>
                    <a:lstStyle/>
                    <a:p>
                      <a:pPr marL="0" indent="0">
                        <a:buNone/>
                      </a:pPr>
                      <a:r>
                        <a:rPr lang="en-US" sz="1200" dirty="0">
                          <a:solidFill>
                            <a:srgbClr val="1F2933"/>
                          </a:solidFill>
                          <a:latin typeface="Calibri" pitchFamily="34" charset="0"/>
                          <a:ea typeface="Calibri" pitchFamily="34" charset="-122"/>
                          <a:cs typeface="Calibri" pitchFamily="34" charset="-120"/>
                        </a:rPr>
                        <a:t>Backend</a:t>
                      </a:r>
                      <a:endParaRPr lang="en-US" sz="120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EF2F6"/>
                    </a:solidFill>
                  </a:tcPr>
                </a:tc>
                <a:tc>
                  <a:txBody>
                    <a:bodyPr/>
                    <a:lstStyle/>
                    <a:p>
                      <a:pPr marL="0" indent="0">
                        <a:buNone/>
                      </a:pPr>
                      <a:r>
                        <a:rPr lang="en-US" sz="1200" dirty="0">
                          <a:solidFill>
                            <a:srgbClr val="1F2933"/>
                          </a:solidFill>
                          <a:latin typeface="Calibri" pitchFamily="34" charset="0"/>
                          <a:ea typeface="Calibri" pitchFamily="34" charset="-122"/>
                          <a:cs typeface="Calibri" pitchFamily="34" charset="-120"/>
                        </a:rPr>
                        <a:t>Python + FastAPI</a:t>
                      </a:r>
                      <a:endParaRPr lang="en-US" sz="120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EF2F6"/>
                    </a:solidFill>
                  </a:tcPr>
                </a:tc>
                <a:tc>
                  <a:txBody>
                    <a:bodyPr/>
                    <a:lstStyle/>
                    <a:p>
                      <a:pPr marL="0" indent="0">
                        <a:buNone/>
                      </a:pPr>
                      <a:r>
                        <a:rPr lang="en-US" sz="1200" dirty="0">
                          <a:solidFill>
                            <a:srgbClr val="1F2933"/>
                          </a:solidFill>
                          <a:latin typeface="Calibri" pitchFamily="34" charset="0"/>
                          <a:ea typeface="Calibri" pitchFamily="34" charset="-122"/>
                          <a:cs typeface="Calibri" pitchFamily="34" charset="-120"/>
                        </a:rPr>
                        <a:t>Simple, fast; auto API docs at /docs</a:t>
                      </a:r>
                      <a:endParaRPr lang="en-US" sz="120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EF2F6"/>
                    </a:solidFill>
                  </a:tcPr>
                </a:tc>
                <a:extLst>
                  <a:ext uri="{0D108BD9-81ED-4DB2-BD59-A6C34878D82A}">
                    <a16:rowId xmlns:a16="http://schemas.microsoft.com/office/drawing/2014/main" val="10001"/>
                  </a:ext>
                </a:extLst>
              </a:tr>
              <a:tr h="548640">
                <a:tc>
                  <a:txBody>
                    <a:bodyPr/>
                    <a:lstStyle/>
                    <a:p>
                      <a:pPr marL="0" indent="0">
                        <a:buNone/>
                      </a:pPr>
                      <a:r>
                        <a:rPr lang="en-US" sz="1200" dirty="0">
                          <a:solidFill>
                            <a:srgbClr val="1F2933"/>
                          </a:solidFill>
                          <a:latin typeface="Calibri" pitchFamily="34" charset="0"/>
                          <a:ea typeface="Calibri" pitchFamily="34" charset="-122"/>
                          <a:cs typeface="Calibri" pitchFamily="34" charset="-120"/>
                        </a:rPr>
                        <a:t>Database</a:t>
                      </a:r>
                      <a:endParaRPr lang="en-US" sz="120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marL="0" indent="0">
                        <a:buNone/>
                      </a:pPr>
                      <a:r>
                        <a:rPr lang="en-US" sz="1200" dirty="0">
                          <a:solidFill>
                            <a:srgbClr val="1F2933"/>
                          </a:solidFill>
                          <a:latin typeface="Calibri" pitchFamily="34" charset="0"/>
                          <a:ea typeface="Calibri" pitchFamily="34" charset="-122"/>
                          <a:cs typeface="Calibri" pitchFamily="34" charset="-120"/>
                        </a:rPr>
                        <a:t>PostgreSQL + SQLAlchemy</a:t>
                      </a:r>
                      <a:endParaRPr lang="en-US" sz="120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marL="0" indent="0">
                        <a:buNone/>
                      </a:pPr>
                      <a:r>
                        <a:rPr lang="en-US" sz="1200" dirty="0">
                          <a:solidFill>
                            <a:srgbClr val="1F2933"/>
                          </a:solidFill>
                          <a:latin typeface="Calibri" pitchFamily="34" charset="0"/>
                          <a:ea typeface="Calibri" pitchFamily="34" charset="-122"/>
                          <a:cs typeface="Calibri" pitchFamily="34" charset="-120"/>
                        </a:rPr>
                        <a:t>Reliable storage for money records; tables from the class diagram</a:t>
                      </a:r>
                      <a:endParaRPr lang="en-US" sz="120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buNone/>
                      </a:pPr>
                      <a:r>
                        <a:rPr lang="en-US" sz="1200" dirty="0">
                          <a:solidFill>
                            <a:srgbClr val="1F2933"/>
                          </a:solidFill>
                          <a:latin typeface="Calibri" pitchFamily="34" charset="0"/>
                          <a:ea typeface="Calibri" pitchFamily="34" charset="-122"/>
                          <a:cs typeface="Calibri" pitchFamily="34" charset="-120"/>
                        </a:rPr>
                        <a:t>Validation</a:t>
                      </a:r>
                      <a:endParaRPr lang="en-US" sz="120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EF2F6"/>
                    </a:solidFill>
                  </a:tcPr>
                </a:tc>
                <a:tc>
                  <a:txBody>
                    <a:bodyPr/>
                    <a:lstStyle/>
                    <a:p>
                      <a:pPr marL="0" indent="0">
                        <a:buNone/>
                      </a:pPr>
                      <a:r>
                        <a:rPr lang="en-US" sz="1200" dirty="0">
                          <a:solidFill>
                            <a:srgbClr val="1F2933"/>
                          </a:solidFill>
                          <a:latin typeface="Calibri" pitchFamily="34" charset="0"/>
                          <a:ea typeface="Calibri" pitchFamily="34" charset="-122"/>
                          <a:cs typeface="Calibri" pitchFamily="34" charset="-120"/>
                        </a:rPr>
                        <a:t>Pydantic</a:t>
                      </a:r>
                      <a:endParaRPr lang="en-US" sz="120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EF2F6"/>
                    </a:solidFill>
                  </a:tcPr>
                </a:tc>
                <a:tc>
                  <a:txBody>
                    <a:bodyPr/>
                    <a:lstStyle/>
                    <a:p>
                      <a:pPr marL="0" indent="0">
                        <a:buNone/>
                      </a:pPr>
                      <a:r>
                        <a:rPr lang="en-US" sz="1200" dirty="0">
                          <a:solidFill>
                            <a:srgbClr val="1F2933"/>
                          </a:solidFill>
                          <a:latin typeface="Calibri" pitchFamily="34" charset="0"/>
                          <a:ea typeface="Calibri" pitchFamily="34" charset="-122"/>
                          <a:cs typeface="Calibri" pitchFamily="34" charset="-120"/>
                        </a:rPr>
                        <a:t>Rejects bad input (wrong month, negative amount) automatically</a:t>
                      </a:r>
                      <a:endParaRPr lang="en-US" sz="120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EF2F6"/>
                    </a:solidFill>
                  </a:tcPr>
                </a:tc>
                <a:extLst>
                  <a:ext uri="{0D108BD9-81ED-4DB2-BD59-A6C34878D82A}">
                    <a16:rowId xmlns:a16="http://schemas.microsoft.com/office/drawing/2014/main" val="10003"/>
                  </a:ext>
                </a:extLst>
              </a:tr>
              <a:tr h="548640">
                <a:tc>
                  <a:txBody>
                    <a:bodyPr/>
                    <a:lstStyle/>
                    <a:p>
                      <a:pPr marL="0" indent="0">
                        <a:buNone/>
                      </a:pPr>
                      <a:r>
                        <a:rPr lang="en-US" sz="1200" dirty="0">
                          <a:solidFill>
                            <a:srgbClr val="1F2933"/>
                          </a:solidFill>
                          <a:latin typeface="Calibri" pitchFamily="34" charset="0"/>
                          <a:ea typeface="Calibri" pitchFamily="34" charset="-122"/>
                          <a:cs typeface="Calibri" pitchFamily="34" charset="-120"/>
                        </a:rPr>
                        <a:t>Login</a:t>
                      </a:r>
                      <a:endParaRPr lang="en-US" sz="120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marL="0" indent="0">
                        <a:buNone/>
                      </a:pPr>
                      <a:r>
                        <a:rPr lang="en-US" sz="1200" dirty="0">
                          <a:solidFill>
                            <a:srgbClr val="1F2933"/>
                          </a:solidFill>
                          <a:latin typeface="Calibri" pitchFamily="34" charset="0"/>
                          <a:ea typeface="Calibri" pitchFamily="34" charset="-122"/>
                          <a:cs typeface="Calibri" pitchFamily="34" charset="-120"/>
                        </a:rPr>
                        <a:t>JWT + bcrypt</a:t>
                      </a:r>
                      <a:endParaRPr lang="en-US" sz="120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marL="0" indent="0">
                        <a:buNone/>
                      </a:pPr>
                      <a:r>
                        <a:rPr lang="en-US" sz="1200" dirty="0">
                          <a:solidFill>
                            <a:srgbClr val="1F2933"/>
                          </a:solidFill>
                          <a:latin typeface="Calibri" pitchFamily="34" charset="0"/>
                          <a:ea typeface="Calibri" pitchFamily="34" charset="-122"/>
                          <a:cs typeface="Calibri" pitchFamily="34" charset="-120"/>
                        </a:rPr>
                        <a:t>Secure login token; passwords stored hashed</a:t>
                      </a:r>
                      <a:endParaRPr lang="en-US" sz="120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48640">
                <a:tc>
                  <a:txBody>
                    <a:bodyPr/>
                    <a:lstStyle/>
                    <a:p>
                      <a:pPr marL="0" indent="0">
                        <a:buNone/>
                      </a:pPr>
                      <a:r>
                        <a:rPr lang="en-US" sz="1200" dirty="0">
                          <a:solidFill>
                            <a:srgbClr val="1F2933"/>
                          </a:solidFill>
                          <a:latin typeface="Calibri" pitchFamily="34" charset="0"/>
                          <a:ea typeface="Calibri" pitchFamily="34" charset="-122"/>
                          <a:cs typeface="Calibri" pitchFamily="34" charset="-120"/>
                        </a:rPr>
                        <a:t>Frontend</a:t>
                      </a:r>
                      <a:endParaRPr lang="en-US" sz="120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EF2F6"/>
                    </a:solidFill>
                  </a:tcPr>
                </a:tc>
                <a:tc>
                  <a:txBody>
                    <a:bodyPr/>
                    <a:lstStyle/>
                    <a:p>
                      <a:pPr marL="0" indent="0">
                        <a:buNone/>
                      </a:pPr>
                      <a:r>
                        <a:rPr lang="en-US" sz="1200" dirty="0">
                          <a:solidFill>
                            <a:srgbClr val="1F2933"/>
                          </a:solidFill>
                          <a:latin typeface="Calibri" pitchFamily="34" charset="0"/>
                          <a:ea typeface="Calibri" pitchFamily="34" charset="-122"/>
                          <a:cs typeface="Calibri" pitchFamily="34" charset="-120"/>
                        </a:rPr>
                        <a:t>HTML + CSS + JavaScript (Jinja2)</a:t>
                      </a:r>
                      <a:endParaRPr lang="en-US" sz="120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EF2F6"/>
                    </a:solidFill>
                  </a:tcPr>
                </a:tc>
                <a:tc>
                  <a:txBody>
                    <a:bodyPr/>
                    <a:lstStyle/>
                    <a:p>
                      <a:pPr marL="0" indent="0">
                        <a:buNone/>
                      </a:pPr>
                      <a:r>
                        <a:rPr lang="en-US" sz="1200" dirty="0">
                          <a:solidFill>
                            <a:srgbClr val="1F2933"/>
                          </a:solidFill>
                          <a:latin typeface="Calibri" pitchFamily="34" charset="0"/>
                          <a:ea typeface="Calibri" pitchFamily="34" charset="-122"/>
                          <a:cs typeface="Calibri" pitchFamily="34" charset="-120"/>
                        </a:rPr>
                        <a:t>No framework needed; printable pages</a:t>
                      </a:r>
                      <a:endParaRPr lang="en-US" sz="120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EF2F6"/>
                    </a:solidFill>
                  </a:tcPr>
                </a:tc>
                <a:extLst>
                  <a:ext uri="{0D108BD9-81ED-4DB2-BD59-A6C34878D82A}">
                    <a16:rowId xmlns:a16="http://schemas.microsoft.com/office/drawing/2014/main" val="10005"/>
                  </a:ext>
                </a:extLst>
              </a:tr>
              <a:tr h="548640">
                <a:tc>
                  <a:txBody>
                    <a:bodyPr/>
                    <a:lstStyle/>
                    <a:p>
                      <a:pPr marL="0" indent="0">
                        <a:buNone/>
                      </a:pPr>
                      <a:r>
                        <a:rPr lang="en-US" sz="1200" dirty="0">
                          <a:solidFill>
                            <a:srgbClr val="1F2933"/>
                          </a:solidFill>
                          <a:latin typeface="Calibri" pitchFamily="34" charset="0"/>
                          <a:ea typeface="Calibri" pitchFamily="34" charset="-122"/>
                          <a:cs typeface="Calibri" pitchFamily="34" charset="-120"/>
                        </a:rPr>
                        <a:t>Testing</a:t>
                      </a:r>
                      <a:endParaRPr lang="en-US" sz="120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marL="0" indent="0">
                        <a:buNone/>
                      </a:pPr>
                      <a:r>
                        <a:rPr lang="en-US" sz="1200" dirty="0">
                          <a:solidFill>
                            <a:srgbClr val="1F2933"/>
                          </a:solidFill>
                          <a:latin typeface="Calibri" pitchFamily="34" charset="0"/>
                          <a:ea typeface="Calibri" pitchFamily="34" charset="-122"/>
                          <a:cs typeface="Calibri" pitchFamily="34" charset="-120"/>
                        </a:rPr>
                        <a:t>pytest</a:t>
                      </a:r>
                      <a:endParaRPr lang="en-US" sz="120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marL="0" indent="0">
                        <a:buNone/>
                      </a:pPr>
                      <a:r>
                        <a:rPr lang="en-US" sz="1200" dirty="0">
                          <a:solidFill>
                            <a:srgbClr val="1F2933"/>
                          </a:solidFill>
                          <a:latin typeface="Calibri" pitchFamily="34" charset="0"/>
                          <a:ea typeface="Calibri" pitchFamily="34" charset="-122"/>
                          <a:cs typeface="Calibri" pitchFamily="34" charset="-120"/>
                        </a:rPr>
                        <a:t>Easy to write and run API tests</a:t>
                      </a:r>
                      <a:endParaRPr lang="en-US" sz="120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48640">
                <a:tc>
                  <a:txBody>
                    <a:bodyPr/>
                    <a:lstStyle/>
                    <a:p>
                      <a:pPr marL="0" indent="0">
                        <a:buNone/>
                      </a:pPr>
                      <a:r>
                        <a:rPr lang="en-US" sz="1200" dirty="0">
                          <a:solidFill>
                            <a:srgbClr val="1F2933"/>
                          </a:solidFill>
                          <a:latin typeface="Calibri" pitchFamily="34" charset="0"/>
                          <a:ea typeface="Calibri" pitchFamily="34" charset="-122"/>
                          <a:cs typeface="Calibri" pitchFamily="34" charset="-120"/>
                        </a:rPr>
                        <a:t>Config</a:t>
                      </a:r>
                      <a:endParaRPr lang="en-US" sz="120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EF2F6"/>
                    </a:solidFill>
                  </a:tcPr>
                </a:tc>
                <a:tc>
                  <a:txBody>
                    <a:bodyPr/>
                    <a:lstStyle/>
                    <a:p>
                      <a:pPr marL="0" indent="0">
                        <a:buNone/>
                      </a:pPr>
                      <a:r>
                        <a:rPr lang="en-US" sz="1200" dirty="0">
                          <a:solidFill>
                            <a:srgbClr val="1F2933"/>
                          </a:solidFill>
                          <a:latin typeface="Calibri" pitchFamily="34" charset="0"/>
                          <a:ea typeface="Calibri" pitchFamily="34" charset="-122"/>
                          <a:cs typeface="Calibri" pitchFamily="34" charset="-120"/>
                        </a:rPr>
                        <a:t>.env file</a:t>
                      </a:r>
                      <a:endParaRPr lang="en-US" sz="120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EF2F6"/>
                    </a:solidFill>
                  </a:tcPr>
                </a:tc>
                <a:tc>
                  <a:txBody>
                    <a:bodyPr/>
                    <a:lstStyle/>
                    <a:p>
                      <a:pPr marL="0" indent="0">
                        <a:buNone/>
                      </a:pPr>
                      <a:r>
                        <a:rPr lang="en-US" sz="1200" dirty="0">
                          <a:solidFill>
                            <a:srgbClr val="1F2933"/>
                          </a:solidFill>
                          <a:latin typeface="Calibri" pitchFamily="34" charset="0"/>
                          <a:ea typeface="Calibri" pitchFamily="34" charset="-122"/>
                          <a:cs typeface="Calibri" pitchFamily="34" charset="-120"/>
                        </a:rPr>
                        <a:t>Passwords and secrets kept out of the code</a:t>
                      </a:r>
                      <a:endParaRPr lang="en-US" sz="120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EF2F6"/>
                    </a:solidFill>
                  </a:tcPr>
                </a:tc>
                <a:extLst>
                  <a:ext uri="{0D108BD9-81ED-4DB2-BD59-A6C34878D82A}">
                    <a16:rowId xmlns:a16="http://schemas.microsoft.com/office/drawing/2014/main" val="10007"/>
                  </a:ext>
                </a:extLst>
              </a:tr>
            </a:tbl>
          </a:graphicData>
        </a:graphic>
      </p:graphicFrame>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300" dirty="0">
                <a:solidFill>
                  <a:srgbClr val="C8553D"/>
                </a:solidFill>
                <a:latin typeface="Calibri" pitchFamily="34" charset="0"/>
                <a:ea typeface="Calibri" pitchFamily="34" charset="-122"/>
                <a:cs typeface="Calibri" pitchFamily="34" charset="-120"/>
              </a:rPr>
              <a:t>ANALYSIS · UML</a:t>
            </a:r>
            <a:endParaRPr lang="en-US" sz="1200" dirty="0"/>
          </a:p>
        </p:txBody>
      </p:sp>
      <p:sp>
        <p:nvSpPr>
          <p:cNvPr id="3" name="Text 1"/>
          <p:cNvSpPr txBox="1"/>
          <p:nvPr/>
        </p:nvSpPr>
        <p:spPr>
          <a:xfrm>
            <a:off x="548640" y="566928"/>
            <a:ext cx="11094415" cy="640080"/>
          </a:xfrm>
          <a:prstGeom prst="rect">
            <a:avLst/>
          </a:prstGeom>
          <a:noFill/>
          <a:ln/>
        </p:spPr>
        <p:txBody>
          <a:bodyPr wrap="square" lIns="0" tIns="0" rIns="0" bIns="0" rtlCol="0" anchor="ctr"/>
          <a:lstStyle/>
          <a:p>
            <a:pPr marL="0" indent="0">
              <a:buNone/>
            </a:pPr>
            <a:r>
              <a:rPr lang="en-US" sz="2800" b="1" dirty="0">
                <a:solidFill>
                  <a:srgbClr val="1B2A41"/>
                </a:solidFill>
                <a:latin typeface="Cambria" pitchFamily="34" charset="0"/>
                <a:ea typeface="Cambria" pitchFamily="34" charset="-122"/>
                <a:cs typeface="Cambria" pitchFamily="34" charset="-120"/>
              </a:rPr>
              <a:t>Use case diagram</a:t>
            </a:r>
            <a:endParaRPr lang="en-US" sz="2800" dirty="0"/>
          </a:p>
        </p:txBody>
      </p:sp>
      <p:sp>
        <p:nvSpPr>
          <p:cNvPr id="4" name="Text 2"/>
          <p:cNvSpPr txBox="1"/>
          <p:nvPr/>
        </p:nvSpPr>
        <p:spPr>
          <a:xfrm>
            <a:off x="11185855" y="6400800"/>
            <a:ext cx="457200" cy="274320"/>
          </a:xfrm>
          <a:prstGeom prst="rect">
            <a:avLst/>
          </a:prstGeom>
          <a:noFill/>
          <a:ln/>
        </p:spPr>
        <p:txBody>
          <a:bodyPr wrap="square" lIns="0" tIns="0" rIns="0" bIns="0" rtlCol="0" anchor="ctr"/>
          <a:lstStyle/>
          <a:p>
            <a:pPr marL="0" indent="0" algn="r">
              <a:buNone/>
            </a:pPr>
            <a:r>
              <a:rPr lang="en-US" sz="1000" dirty="0">
                <a:solidFill>
                  <a:srgbClr val="5B6B7B"/>
                </a:solidFill>
                <a:latin typeface="Calibri" pitchFamily="34" charset="0"/>
                <a:ea typeface="Calibri" pitchFamily="34" charset="-122"/>
                <a:cs typeface="Calibri" pitchFamily="34" charset="-120"/>
              </a:rPr>
              <a:t>4</a:t>
            </a:r>
            <a:endParaRPr lang="en-US" sz="1000" dirty="0"/>
          </a:p>
        </p:txBody>
      </p:sp>
      <p:sp>
        <p:nvSpPr>
          <p:cNvPr id="6" name="Shape 3"/>
          <p:cNvSpPr/>
          <p:nvPr/>
        </p:nvSpPr>
        <p:spPr>
          <a:xfrm>
            <a:off x="512064" y="1347357"/>
            <a:ext cx="6748272" cy="5077687"/>
          </a:xfrm>
          <a:prstGeom prst="rect">
            <a:avLst/>
          </a:prstGeom>
          <a:solidFill>
            <a:srgbClr val="FFFFFF"/>
          </a:solidFill>
          <a:ln w="9525">
            <a:solidFill>
              <a:srgbClr val="C9D3DD"/>
            </a:solidFill>
            <a:prstDash val="solid"/>
          </a:ln>
          <a:effectLst>
            <a:outerShdw blurRad="76200" dist="25400" dir="5400000" algn="bl" rotWithShape="0">
              <a:srgbClr val="000000">
                <a:alpha val="15000"/>
              </a:srgbClr>
            </a:outerShdw>
          </a:effectLst>
        </p:spPr>
      </p:sp>
      <p:pic>
        <p:nvPicPr>
          <p:cNvPr id="7" name="Image 0" descr="C:\Users\Rahul\AppData\Local\Temp\claude\C--Users-Rahul-AppData-Roaming-Claude-scratch-workspaces-cdf4d821-eeb4-4a9a-a534-95f3e8b5ef5e-df7fd750-804c-4772-884a-1f73fe42c84d-scratch-2026-09-29-45a3c3\34671f05-19cf-43b2-b04e-0db0df211d26\scratchpad\deck\usecase.png"/>
          <p:cNvPicPr>
            <a:picLocks noChangeAspect="1"/>
          </p:cNvPicPr>
          <p:nvPr/>
        </p:nvPicPr>
        <p:blipFill>
          <a:blip r:embed="rId3"/>
          <a:stretch>
            <a:fillRect/>
          </a:stretch>
        </p:blipFill>
        <p:spPr>
          <a:xfrm>
            <a:off x="548640" y="1383933"/>
            <a:ext cx="6675120" cy="5004535"/>
          </a:xfrm>
          <a:prstGeom prst="rect">
            <a:avLst/>
          </a:prstGeom>
        </p:spPr>
      </p:pic>
      <p:sp>
        <p:nvSpPr>
          <p:cNvPr id="8" name="Text 4"/>
          <p:cNvSpPr txBox="1"/>
          <p:nvPr/>
        </p:nvSpPr>
        <p:spPr>
          <a:xfrm>
            <a:off x="7589520" y="1371600"/>
            <a:ext cx="4053535" cy="365760"/>
          </a:xfrm>
          <a:prstGeom prst="rect">
            <a:avLst/>
          </a:prstGeom>
          <a:noFill/>
          <a:ln/>
        </p:spPr>
        <p:txBody>
          <a:bodyPr wrap="square" lIns="0" tIns="0" rIns="0" bIns="0" rtlCol="0" anchor="t"/>
          <a:lstStyle/>
          <a:p>
            <a:pPr marL="0" indent="0">
              <a:buNone/>
            </a:pPr>
            <a:r>
              <a:rPr lang="en-US" sz="1700" b="1" dirty="0">
                <a:solidFill>
                  <a:srgbClr val="C8553D"/>
                </a:solidFill>
                <a:latin typeface="Cambria" pitchFamily="34" charset="0"/>
                <a:ea typeface="Cambria" pitchFamily="34" charset="-122"/>
                <a:cs typeface="Cambria" pitchFamily="34" charset="-120"/>
              </a:rPr>
              <a:t>What it shows</a:t>
            </a:r>
            <a:endParaRPr lang="en-US" sz="1700" dirty="0"/>
          </a:p>
        </p:txBody>
      </p:sp>
      <p:sp>
        <p:nvSpPr>
          <p:cNvPr id="9" name="Text 5"/>
          <p:cNvSpPr txBox="1"/>
          <p:nvPr/>
        </p:nvSpPr>
        <p:spPr>
          <a:xfrm>
            <a:off x="7589520" y="1828800"/>
            <a:ext cx="4053535" cy="3291840"/>
          </a:xfrm>
          <a:prstGeom prst="rect">
            <a:avLst/>
          </a:prstGeom>
          <a:noFill/>
          <a:ln/>
        </p:spPr>
        <p:txBody>
          <a:bodyPr wrap="square" lIns="0" tIns="0" rIns="0" bIns="0" rtlCol="0" anchor="t"/>
          <a:lstStyle/>
          <a:p>
            <a:pPr marL="342900" indent="-342900">
              <a:spcAft>
                <a:spcPts val="700"/>
              </a:spcAft>
              <a:buSzPct val="100000"/>
              <a:buChar char="•"/>
            </a:pPr>
            <a:r>
              <a:rPr lang="en-US" sz="1300" b="1" dirty="0">
                <a:solidFill>
                  <a:srgbClr val="1B2A41"/>
                </a:solidFill>
                <a:latin typeface="Calibri" pitchFamily="34" charset="0"/>
                <a:ea typeface="Calibri" pitchFamily="34" charset="-122"/>
                <a:cs typeface="Calibri" pitchFamily="34" charset="-120"/>
              </a:rPr>
              <a:t>Actors: </a:t>
            </a:r>
            <a:r>
              <a:rPr lang="en-US" sz="1300" dirty="0">
                <a:solidFill>
                  <a:srgbClr val="1F2933"/>
                </a:solidFill>
                <a:latin typeface="Calibri" pitchFamily="34" charset="0"/>
                <a:ea typeface="Calibri" pitchFamily="34" charset="-122"/>
                <a:cs typeface="Calibri" pitchFamily="34" charset="-120"/>
              </a:rPr>
              <a:t>Student, Hostel manager (clerk), SAC Chairman on the left; Mess Manager, Hostel Warden, Hostel Dean on the right</a:t>
            </a:r>
            <a:endParaRPr lang="en-US" sz="1300" dirty="0"/>
          </a:p>
          <a:p>
            <a:pPr marL="342900" indent="-342900">
              <a:spcAft>
                <a:spcPts val="700"/>
              </a:spcAft>
              <a:buSzPct val="100000"/>
              <a:buChar char="•"/>
            </a:pPr>
            <a:r>
              <a:rPr lang="en-US" sz="1300" b="1" dirty="0">
                <a:solidFill>
                  <a:srgbClr val="1B2A41"/>
                </a:solidFill>
                <a:latin typeface="Calibri" pitchFamily="34" charset="0"/>
                <a:ea typeface="Calibri" pitchFamily="34" charset="-122"/>
                <a:cs typeface="Calibri" pitchFamily="34" charset="-120"/>
              </a:rPr>
              <a:t>Student: </a:t>
            </a:r>
            <a:r>
              <a:rPr lang="en-US" sz="1300" dirty="0">
                <a:solidFill>
                  <a:srgbClr val="1F2933"/>
                </a:solidFill>
                <a:latin typeface="Calibri" pitchFamily="34" charset="0"/>
                <a:ea typeface="Calibri" pitchFamily="34" charset="-122"/>
                <a:cs typeface="Calibri" pitchFamily="34" charset="-120"/>
              </a:rPr>
              <a:t>register, view room allotment, pay monthly dues, file complaints</a:t>
            </a:r>
            <a:endParaRPr lang="en-US" sz="1300" dirty="0"/>
          </a:p>
          <a:p>
            <a:pPr marL="342900" indent="-342900">
              <a:spcAft>
                <a:spcPts val="700"/>
              </a:spcAft>
              <a:buSzPct val="100000"/>
              <a:buChar char="•"/>
            </a:pPr>
            <a:r>
              <a:rPr lang="en-US" sz="1300" b="1" dirty="0">
                <a:solidFill>
                  <a:srgbClr val="1B2A41"/>
                </a:solidFill>
                <a:latin typeface="Calibri" pitchFamily="34" charset="0"/>
                <a:ea typeface="Calibri" pitchFamily="34" charset="-122"/>
                <a:cs typeface="Calibri" pitchFamily="34" charset="-120"/>
              </a:rPr>
              <a:t>Mess Manager: </a:t>
            </a:r>
            <a:r>
              <a:rPr lang="en-US" sz="1300" dirty="0">
                <a:solidFill>
                  <a:srgbClr val="1F2933"/>
                </a:solidFill>
                <a:latin typeface="Calibri" pitchFamily="34" charset="0"/>
                <a:ea typeface="Calibri" pitchFamily="34" charset="-122"/>
                <a:cs typeface="Calibri" pitchFamily="34" charset="-120"/>
              </a:rPr>
              <a:t>input monthly mess charges</a:t>
            </a:r>
            <a:endParaRPr lang="en-US" sz="1300" dirty="0"/>
          </a:p>
          <a:p>
            <a:pPr marL="342900" indent="-342900">
              <a:spcAft>
                <a:spcPts val="700"/>
              </a:spcAft>
              <a:buSzPct val="100000"/>
              <a:buChar char="•"/>
            </a:pPr>
            <a:r>
              <a:rPr lang="en-US" sz="1300" b="1" dirty="0">
                <a:solidFill>
                  <a:srgbClr val="1B2A41"/>
                </a:solidFill>
                <a:latin typeface="Calibri" pitchFamily="34" charset="0"/>
                <a:ea typeface="Calibri" pitchFamily="34" charset="-122"/>
                <a:cs typeface="Calibri" pitchFamily="34" charset="-120"/>
              </a:rPr>
              <a:t>Warden: </a:t>
            </a:r>
            <a:r>
              <a:rPr lang="en-US" sz="1300" dirty="0">
                <a:solidFill>
                  <a:srgbClr val="1F2933"/>
                </a:solidFill>
                <a:latin typeface="Calibri" pitchFamily="34" charset="0"/>
                <a:ea typeface="Calibri" pitchFamily="34" charset="-122"/>
                <a:cs typeface="Calibri" pitchFamily="34" charset="-120"/>
              </a:rPr>
              <a:t>mess payment sheet, staff salary list and cheques</a:t>
            </a:r>
            <a:endParaRPr lang="en-US" sz="1300" dirty="0"/>
          </a:p>
          <a:p>
            <a:pPr marL="342900" indent="-342900">
              <a:spcAft>
                <a:spcPts val="700"/>
              </a:spcAft>
              <a:buSzPct val="100000"/>
              <a:buChar char="•"/>
            </a:pPr>
            <a:r>
              <a:rPr lang="en-US" sz="1300" b="1" dirty="0">
                <a:solidFill>
                  <a:srgbClr val="1B2A41"/>
                </a:solidFill>
                <a:latin typeface="Calibri" pitchFamily="34" charset="0"/>
                <a:ea typeface="Calibri" pitchFamily="34" charset="-122"/>
                <a:cs typeface="Calibri" pitchFamily="34" charset="-120"/>
              </a:rPr>
              <a:t>Dean / Chairman: </a:t>
            </a:r>
            <a:r>
              <a:rPr lang="en-US" sz="1300" dirty="0">
                <a:solidFill>
                  <a:srgbClr val="1F2933"/>
                </a:solidFill>
                <a:latin typeface="Calibri" pitchFamily="34" charset="0"/>
                <a:ea typeface="Calibri" pitchFamily="34" charset="-122"/>
                <a:cs typeface="Calibri" pitchFamily="34" charset="-120"/>
              </a:rPr>
              <a:t>allocate grants, overall occupancy, annual statements</a:t>
            </a:r>
            <a:endParaRPr lang="en-US" sz="1300" dirty="0"/>
          </a:p>
          <a:p>
            <a:pPr marL="342900" indent="-342900">
              <a:spcAft>
                <a:spcPts val="700"/>
              </a:spcAft>
              <a:buSzPct val="100000"/>
              <a:buChar char="•"/>
            </a:pPr>
            <a:r>
              <a:rPr lang="en-US" sz="1300" b="1" dirty="0">
                <a:solidFill>
                  <a:srgbClr val="1B2A41"/>
                </a:solidFill>
                <a:latin typeface="Calibri" pitchFamily="34" charset="0"/>
                <a:ea typeface="Calibri" pitchFamily="34" charset="-122"/>
                <a:cs typeface="Calibri" pitchFamily="34" charset="-120"/>
              </a:rPr>
              <a:t>&lt;&lt;include&gt;&gt;: </a:t>
            </a:r>
            <a:r>
              <a:rPr lang="en-US" sz="1300" dirty="0">
                <a:solidFill>
                  <a:srgbClr val="1F2933"/>
                </a:solidFill>
                <a:latin typeface="Calibri" pitchFamily="34" charset="0"/>
                <a:ea typeface="Calibri" pitchFamily="34" charset="-122"/>
                <a:cs typeface="Calibri" pitchFamily="34" charset="-120"/>
              </a:rPr>
              <a:t>every use case includes User Authentication</a:t>
            </a:r>
            <a:endParaRPr lang="en-US" sz="1300" dirty="0"/>
          </a:p>
        </p:txBody>
      </p:sp>
      <p:sp>
        <p:nvSpPr>
          <p:cNvPr id="10" name="Shape 6"/>
          <p:cNvSpPr/>
          <p:nvPr/>
        </p:nvSpPr>
        <p:spPr>
          <a:xfrm>
            <a:off x="7589520" y="5349240"/>
            <a:ext cx="4053535" cy="1051560"/>
          </a:xfrm>
          <a:prstGeom prst="roundRect">
            <a:avLst>
              <a:gd name="adj" fmla="val 6957"/>
            </a:avLst>
          </a:prstGeom>
          <a:solidFill>
            <a:srgbClr val="F6E3DC"/>
          </a:solidFill>
          <a:ln w="12700">
            <a:solidFill>
              <a:srgbClr val="F6E3DC"/>
            </a:solidFill>
            <a:prstDash val="solid"/>
          </a:ln>
        </p:spPr>
      </p:sp>
      <p:sp>
        <p:nvSpPr>
          <p:cNvPr id="11" name="Text 7"/>
          <p:cNvSpPr txBox="1"/>
          <p:nvPr/>
        </p:nvSpPr>
        <p:spPr>
          <a:xfrm>
            <a:off x="7772400" y="5413248"/>
            <a:ext cx="3687775" cy="914400"/>
          </a:xfrm>
          <a:prstGeom prst="rect">
            <a:avLst/>
          </a:prstGeom>
          <a:noFill/>
          <a:ln/>
        </p:spPr>
        <p:txBody>
          <a:bodyPr wrap="square" lIns="0" tIns="0" rIns="0" bIns="0" rtlCol="0" anchor="ctr"/>
          <a:lstStyle/>
          <a:p>
            <a:pPr marL="0" indent="0">
              <a:buNone/>
            </a:pPr>
            <a:r>
              <a:rPr lang="en-US" sz="1250" i="1" dirty="0">
                <a:solidFill>
                  <a:srgbClr val="1B2A41"/>
                </a:solidFill>
                <a:latin typeface="Calibri" pitchFamily="34" charset="0"/>
                <a:ea typeface="Calibri" pitchFamily="34" charset="-122"/>
                <a:cs typeface="Calibri" pitchFamily="34" charset="-120"/>
              </a:rPr>
              <a:t>In the website, each actor became a login role, and each use case became a page or menu item.</a:t>
            </a:r>
            <a:endParaRPr lang="en-US" sz="1250" dirty="0"/>
          </a:p>
        </p:txBody>
      </p:sp>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300" dirty="0">
                <a:solidFill>
                  <a:srgbClr val="C8553D"/>
                </a:solidFill>
                <a:latin typeface="Calibri" pitchFamily="34" charset="0"/>
                <a:ea typeface="Calibri" pitchFamily="34" charset="-122"/>
                <a:cs typeface="Calibri" pitchFamily="34" charset="-120"/>
              </a:rPr>
              <a:t>DESIGN · UML</a:t>
            </a:r>
            <a:endParaRPr lang="en-US" sz="1200" dirty="0"/>
          </a:p>
        </p:txBody>
      </p:sp>
      <p:sp>
        <p:nvSpPr>
          <p:cNvPr id="3" name="Text 1"/>
          <p:cNvSpPr txBox="1"/>
          <p:nvPr/>
        </p:nvSpPr>
        <p:spPr>
          <a:xfrm>
            <a:off x="548640" y="566928"/>
            <a:ext cx="11094415" cy="640080"/>
          </a:xfrm>
          <a:prstGeom prst="rect">
            <a:avLst/>
          </a:prstGeom>
          <a:noFill/>
          <a:ln/>
        </p:spPr>
        <p:txBody>
          <a:bodyPr wrap="square" lIns="0" tIns="0" rIns="0" bIns="0" rtlCol="0" anchor="ctr"/>
          <a:lstStyle/>
          <a:p>
            <a:pPr marL="0" indent="0">
              <a:buNone/>
            </a:pPr>
            <a:r>
              <a:rPr lang="en-US" sz="2800" b="1" dirty="0">
                <a:solidFill>
                  <a:srgbClr val="1B2A41"/>
                </a:solidFill>
                <a:latin typeface="Cambria" pitchFamily="34" charset="0"/>
                <a:ea typeface="Cambria" pitchFamily="34" charset="-122"/>
                <a:cs typeface="Cambria" pitchFamily="34" charset="-120"/>
              </a:rPr>
              <a:t>Class diagram</a:t>
            </a:r>
            <a:endParaRPr lang="en-US" sz="2800" dirty="0"/>
          </a:p>
        </p:txBody>
      </p:sp>
      <p:sp>
        <p:nvSpPr>
          <p:cNvPr id="4" name="Text 2"/>
          <p:cNvSpPr txBox="1"/>
          <p:nvPr/>
        </p:nvSpPr>
        <p:spPr>
          <a:xfrm>
            <a:off x="11185855" y="6400800"/>
            <a:ext cx="457200" cy="274320"/>
          </a:xfrm>
          <a:prstGeom prst="rect">
            <a:avLst/>
          </a:prstGeom>
          <a:noFill/>
          <a:ln/>
        </p:spPr>
        <p:txBody>
          <a:bodyPr wrap="square" lIns="0" tIns="0" rIns="0" bIns="0" rtlCol="0" anchor="ctr"/>
          <a:lstStyle/>
          <a:p>
            <a:pPr marL="0" indent="0" algn="r">
              <a:buNone/>
            </a:pPr>
            <a:r>
              <a:rPr lang="en-US" sz="1000" dirty="0">
                <a:solidFill>
                  <a:srgbClr val="5B6B7B"/>
                </a:solidFill>
                <a:latin typeface="Calibri" pitchFamily="34" charset="0"/>
                <a:ea typeface="Calibri" pitchFamily="34" charset="-122"/>
                <a:cs typeface="Calibri" pitchFamily="34" charset="-120"/>
              </a:rPr>
              <a:t>5</a:t>
            </a:r>
            <a:endParaRPr lang="en-US" sz="1000" dirty="0"/>
          </a:p>
        </p:txBody>
      </p:sp>
      <p:sp>
        <p:nvSpPr>
          <p:cNvPr id="6" name="Shape 3"/>
          <p:cNvSpPr/>
          <p:nvPr/>
        </p:nvSpPr>
        <p:spPr>
          <a:xfrm>
            <a:off x="512064" y="2079046"/>
            <a:ext cx="7022592" cy="3614307"/>
          </a:xfrm>
          <a:prstGeom prst="rect">
            <a:avLst/>
          </a:prstGeom>
          <a:solidFill>
            <a:srgbClr val="FFFFFF"/>
          </a:solidFill>
          <a:ln w="9525">
            <a:solidFill>
              <a:srgbClr val="C9D3DD"/>
            </a:solidFill>
            <a:prstDash val="solid"/>
          </a:ln>
          <a:effectLst>
            <a:outerShdw blurRad="76200" dist="25400" dir="5400000" algn="bl" rotWithShape="0">
              <a:srgbClr val="000000">
                <a:alpha val="15000"/>
              </a:srgbClr>
            </a:outerShdw>
          </a:effectLst>
        </p:spPr>
      </p:sp>
      <p:pic>
        <p:nvPicPr>
          <p:cNvPr id="7" name="Image 0" descr="C:\Users\Rahul\AppData\Local\Temp\claude\C--Users-Rahul-AppData-Roaming-Claude-scratch-workspaces-cdf4d821-eeb4-4a9a-a534-95f3e8b5ef5e-df7fd750-804c-4772-884a-1f73fe42c84d-scratch-2026-09-29-45a3c3\34671f05-19cf-43b2-b04e-0db0df211d26\scratchpad\deck\class.png"/>
          <p:cNvPicPr>
            <a:picLocks noChangeAspect="1"/>
          </p:cNvPicPr>
          <p:nvPr/>
        </p:nvPicPr>
        <p:blipFill>
          <a:blip r:embed="rId3"/>
          <a:stretch>
            <a:fillRect/>
          </a:stretch>
        </p:blipFill>
        <p:spPr>
          <a:xfrm>
            <a:off x="548640" y="2115622"/>
            <a:ext cx="6949440" cy="3541155"/>
          </a:xfrm>
          <a:prstGeom prst="rect">
            <a:avLst/>
          </a:prstGeom>
        </p:spPr>
      </p:pic>
      <p:sp>
        <p:nvSpPr>
          <p:cNvPr id="8" name="Text 4"/>
          <p:cNvSpPr txBox="1"/>
          <p:nvPr/>
        </p:nvSpPr>
        <p:spPr>
          <a:xfrm>
            <a:off x="7863840" y="1371600"/>
            <a:ext cx="3779215" cy="365760"/>
          </a:xfrm>
          <a:prstGeom prst="rect">
            <a:avLst/>
          </a:prstGeom>
          <a:noFill/>
          <a:ln/>
        </p:spPr>
        <p:txBody>
          <a:bodyPr wrap="square" lIns="0" tIns="0" rIns="0" bIns="0" rtlCol="0" anchor="t"/>
          <a:lstStyle/>
          <a:p>
            <a:pPr marL="0" indent="0">
              <a:buNone/>
            </a:pPr>
            <a:r>
              <a:rPr lang="en-US" sz="1700" b="1" dirty="0">
                <a:solidFill>
                  <a:srgbClr val="C8553D"/>
                </a:solidFill>
                <a:latin typeface="Cambria" pitchFamily="34" charset="0"/>
                <a:ea typeface="Cambria" pitchFamily="34" charset="-122"/>
                <a:cs typeface="Cambria" pitchFamily="34" charset="-120"/>
              </a:rPr>
              <a:t>Main classes and relations</a:t>
            </a:r>
            <a:endParaRPr lang="en-US" sz="1700" dirty="0"/>
          </a:p>
        </p:txBody>
      </p:sp>
      <p:sp>
        <p:nvSpPr>
          <p:cNvPr id="9" name="Text 5"/>
          <p:cNvSpPr txBox="1"/>
          <p:nvPr/>
        </p:nvSpPr>
        <p:spPr>
          <a:xfrm>
            <a:off x="7863840" y="1828800"/>
            <a:ext cx="3779215" cy="3291840"/>
          </a:xfrm>
          <a:prstGeom prst="rect">
            <a:avLst/>
          </a:prstGeom>
          <a:noFill/>
          <a:ln/>
        </p:spPr>
        <p:txBody>
          <a:bodyPr wrap="square" lIns="0" tIns="0" rIns="0" bIns="0" rtlCol="0" anchor="t"/>
          <a:lstStyle/>
          <a:p>
            <a:pPr marL="342900" indent="-342900">
              <a:spcAft>
                <a:spcPts val="700"/>
              </a:spcAft>
              <a:buSzPct val="100000"/>
              <a:buChar char="•"/>
            </a:pPr>
            <a:r>
              <a:rPr lang="en-US" sz="1300" b="1" dirty="0">
                <a:solidFill>
                  <a:srgbClr val="1B2A41"/>
                </a:solidFill>
                <a:latin typeface="Calibri" pitchFamily="34" charset="0"/>
                <a:ea typeface="Calibri" pitchFamily="34" charset="-122"/>
                <a:cs typeface="Calibri" pitchFamily="34" charset="-120"/>
              </a:rPr>
              <a:t>Hostel </a:t>
            </a:r>
            <a:r>
              <a:rPr lang="en-US" sz="1300" dirty="0">
                <a:solidFill>
                  <a:srgbClr val="1F2933"/>
                </a:solidFill>
                <a:latin typeface="Calibri" pitchFamily="34" charset="0"/>
                <a:ea typeface="Calibri" pitchFamily="34" charset="-122"/>
                <a:cs typeface="Calibri" pitchFamily="34" charset="-120"/>
              </a:rPr>
              <a:t>has many Rooms (composition), is managed by a Warden, employs TemporaryStaff</a:t>
            </a:r>
            <a:endParaRPr lang="en-US" sz="1300" dirty="0"/>
          </a:p>
          <a:p>
            <a:pPr marL="342900" indent="-342900">
              <a:spcAft>
                <a:spcPts val="700"/>
              </a:spcAft>
              <a:buSzPct val="100000"/>
              <a:buChar char="•"/>
            </a:pPr>
            <a:r>
              <a:rPr lang="en-US" sz="1300" b="1" dirty="0">
                <a:solidFill>
                  <a:srgbClr val="1B2A41"/>
                </a:solidFill>
                <a:latin typeface="Calibri" pitchFamily="34" charset="0"/>
                <a:ea typeface="Calibri" pitchFamily="34" charset="-122"/>
                <a:cs typeface="Calibri" pitchFamily="34" charset="-120"/>
              </a:rPr>
              <a:t>Room </a:t>
            </a:r>
            <a:r>
              <a:rPr lang="en-US" sz="1300" dirty="0">
                <a:solidFill>
                  <a:srgbClr val="1F2933"/>
                </a:solidFill>
                <a:latin typeface="Calibri" pitchFamily="34" charset="0"/>
                <a:ea typeface="Calibri" pitchFamily="34" charset="-122"/>
                <a:cs typeface="Calibri" pitchFamily="34" charset="-120"/>
              </a:rPr>
              <a:t>is allotted to 0 or 1 Student</a:t>
            </a:r>
            <a:endParaRPr lang="en-US" sz="1300" dirty="0"/>
          </a:p>
          <a:p>
            <a:pPr marL="342900" indent="-342900">
              <a:spcAft>
                <a:spcPts val="700"/>
              </a:spcAft>
              <a:buSzPct val="100000"/>
              <a:buChar char="•"/>
            </a:pPr>
            <a:r>
              <a:rPr lang="en-US" sz="1300" b="1" dirty="0">
                <a:solidFill>
                  <a:srgbClr val="1B2A41"/>
                </a:solidFill>
                <a:latin typeface="Calibri" pitchFamily="34" charset="0"/>
                <a:ea typeface="Calibri" pitchFamily="34" charset="-122"/>
                <a:cs typeface="Calibri" pitchFamily="34" charset="-120"/>
              </a:rPr>
              <a:t>Student </a:t>
            </a:r>
            <a:r>
              <a:rPr lang="en-US" sz="1300" dirty="0">
                <a:solidFill>
                  <a:srgbClr val="1F2933"/>
                </a:solidFill>
                <a:latin typeface="Calibri" pitchFamily="34" charset="0"/>
                <a:ea typeface="Calibri" pitchFamily="34" charset="-122"/>
                <a:cs typeface="Calibri" pitchFamily="34" charset="-120"/>
              </a:rPr>
              <a:t>raises Complaints; Student, Warden and staff inherit from Person</a:t>
            </a:r>
            <a:endParaRPr lang="en-US" sz="1300" dirty="0"/>
          </a:p>
          <a:p>
            <a:pPr marL="342900" indent="-342900">
              <a:spcAft>
                <a:spcPts val="700"/>
              </a:spcAft>
              <a:buSzPct val="100000"/>
              <a:buChar char="•"/>
            </a:pPr>
            <a:r>
              <a:rPr lang="en-US" sz="1300" b="1" dirty="0">
                <a:solidFill>
                  <a:srgbClr val="1B2A41"/>
                </a:solidFill>
                <a:latin typeface="Calibri" pitchFamily="34" charset="0"/>
                <a:ea typeface="Calibri" pitchFamily="34" charset="-122"/>
                <a:cs typeface="Calibri" pitchFamily="34" charset="-120"/>
              </a:rPr>
              <a:t>Complaint </a:t>
            </a:r>
            <a:r>
              <a:rPr lang="en-US" sz="1300" dirty="0">
                <a:solidFill>
                  <a:srgbClr val="1F2933"/>
                </a:solidFill>
                <a:latin typeface="Calibri" pitchFamily="34" charset="0"/>
                <a:ea typeface="Calibri" pitchFamily="34" charset="-122"/>
                <a:cs typeface="Calibri" pitchFamily="34" charset="-120"/>
              </a:rPr>
              <a:t>is abstract, with two types: RepairComplaint and BehaviorComplaint</a:t>
            </a:r>
            <a:endParaRPr lang="en-US" sz="1300" dirty="0"/>
          </a:p>
          <a:p>
            <a:pPr marL="342900" indent="-342900">
              <a:spcAft>
                <a:spcPts val="700"/>
              </a:spcAft>
              <a:buSzPct val="100000"/>
              <a:buChar char="•"/>
            </a:pPr>
            <a:r>
              <a:rPr lang="en-US" sz="1300" b="1" dirty="0">
                <a:solidFill>
                  <a:srgbClr val="1B2A41"/>
                </a:solidFill>
                <a:latin typeface="Calibri" pitchFamily="34" charset="0"/>
                <a:ea typeface="Calibri" pitchFamily="34" charset="-122"/>
                <a:cs typeface="Calibri" pitchFamily="34" charset="-120"/>
              </a:rPr>
              <a:t>TemporaryStaff </a:t>
            </a:r>
            <a:r>
              <a:rPr lang="en-US" sz="1300" dirty="0">
                <a:solidFill>
                  <a:srgbClr val="1F2933"/>
                </a:solidFill>
                <a:latin typeface="Calibri" pitchFamily="34" charset="0"/>
                <a:ea typeface="Calibri" pitchFamily="34" charset="-122"/>
                <a:cs typeface="Calibri" pitchFamily="34" charset="-120"/>
              </a:rPr>
              <a:t>(attendant or gardener) takes Leave and receives Salary</a:t>
            </a:r>
            <a:endParaRPr lang="en-US" sz="1300" dirty="0"/>
          </a:p>
          <a:p>
            <a:pPr marL="342900" indent="-342900">
              <a:spcAft>
                <a:spcPts val="700"/>
              </a:spcAft>
              <a:buSzPct val="100000"/>
              <a:buChar char="•"/>
            </a:pPr>
            <a:r>
              <a:rPr lang="en-US" sz="1300" b="1" dirty="0">
                <a:solidFill>
                  <a:srgbClr val="1B2A41"/>
                </a:solidFill>
                <a:latin typeface="Calibri" pitchFamily="34" charset="0"/>
                <a:ea typeface="Calibri" pitchFamily="34" charset="-122"/>
                <a:cs typeface="Calibri" pitchFamily="34" charset="-120"/>
              </a:rPr>
              <a:t>Methods </a:t>
            </a:r>
            <a:r>
              <a:rPr lang="en-US" sz="1300" dirty="0">
                <a:solidFill>
                  <a:srgbClr val="1F2933"/>
                </a:solidFill>
                <a:latin typeface="Calibri" pitchFamily="34" charset="0"/>
                <a:ea typeface="Calibri" pitchFamily="34" charset="-122"/>
                <a:cs typeface="Calibri" pitchFamily="34" charset="-120"/>
              </a:rPr>
              <a:t>such as getOccupancy() and printCheque() became backend functions</a:t>
            </a:r>
            <a:endParaRPr lang="en-US" sz="1300" dirty="0"/>
          </a:p>
        </p:txBody>
      </p:sp>
      <p:sp>
        <p:nvSpPr>
          <p:cNvPr id="10" name="Shape 6"/>
          <p:cNvSpPr/>
          <p:nvPr/>
        </p:nvSpPr>
        <p:spPr>
          <a:xfrm>
            <a:off x="7863840" y="5349240"/>
            <a:ext cx="3779215" cy="1051560"/>
          </a:xfrm>
          <a:prstGeom prst="roundRect">
            <a:avLst>
              <a:gd name="adj" fmla="val 6957"/>
            </a:avLst>
          </a:prstGeom>
          <a:solidFill>
            <a:srgbClr val="F6E3DC"/>
          </a:solidFill>
          <a:ln w="12700">
            <a:solidFill>
              <a:srgbClr val="F6E3DC"/>
            </a:solidFill>
            <a:prstDash val="solid"/>
          </a:ln>
        </p:spPr>
      </p:sp>
      <p:sp>
        <p:nvSpPr>
          <p:cNvPr id="11" name="Text 7"/>
          <p:cNvSpPr txBox="1"/>
          <p:nvPr/>
        </p:nvSpPr>
        <p:spPr>
          <a:xfrm>
            <a:off x="8046720" y="5413248"/>
            <a:ext cx="3413455" cy="914400"/>
          </a:xfrm>
          <a:prstGeom prst="rect">
            <a:avLst/>
          </a:prstGeom>
          <a:noFill/>
          <a:ln/>
        </p:spPr>
        <p:txBody>
          <a:bodyPr wrap="square" lIns="0" tIns="0" rIns="0" bIns="0" rtlCol="0" anchor="ctr"/>
          <a:lstStyle/>
          <a:p>
            <a:pPr marL="0" indent="0">
              <a:buNone/>
            </a:pPr>
            <a:r>
              <a:rPr lang="en-US" sz="1250" i="1" dirty="0">
                <a:solidFill>
                  <a:srgbClr val="1B2A41"/>
                </a:solidFill>
                <a:latin typeface="Calibri" pitchFamily="34" charset="0"/>
                <a:ea typeface="Calibri" pitchFamily="34" charset="-122"/>
                <a:cs typeface="Calibri" pitchFamily="34" charset="-120"/>
              </a:rPr>
              <a:t>Each class became a database table; extra tables were added for billing, grants and payments.</a:t>
            </a:r>
            <a:endParaRPr lang="en-US" sz="1250" dirty="0"/>
          </a:p>
        </p:txBody>
      </p:sp>
    </p:spTree>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300" dirty="0">
                <a:solidFill>
                  <a:srgbClr val="C8553D"/>
                </a:solidFill>
                <a:latin typeface="Calibri" pitchFamily="34" charset="0"/>
                <a:ea typeface="Calibri" pitchFamily="34" charset="-122"/>
                <a:cs typeface="Calibri" pitchFamily="34" charset="-120"/>
              </a:rPr>
              <a:t>ANALYSIS · UML</a:t>
            </a:r>
            <a:endParaRPr lang="en-US" sz="1200" dirty="0"/>
          </a:p>
        </p:txBody>
      </p:sp>
      <p:sp>
        <p:nvSpPr>
          <p:cNvPr id="3" name="Text 1"/>
          <p:cNvSpPr txBox="1"/>
          <p:nvPr/>
        </p:nvSpPr>
        <p:spPr>
          <a:xfrm>
            <a:off x="548640" y="566928"/>
            <a:ext cx="11094415" cy="640080"/>
          </a:xfrm>
          <a:prstGeom prst="rect">
            <a:avLst/>
          </a:prstGeom>
          <a:noFill/>
          <a:ln/>
        </p:spPr>
        <p:txBody>
          <a:bodyPr wrap="square" lIns="0" tIns="0" rIns="0" bIns="0" rtlCol="0" anchor="ctr"/>
          <a:lstStyle/>
          <a:p>
            <a:pPr marL="0" indent="0">
              <a:buNone/>
            </a:pPr>
            <a:r>
              <a:rPr lang="en-US" sz="2800" b="1" dirty="0">
                <a:solidFill>
                  <a:srgbClr val="1B2A41"/>
                </a:solidFill>
                <a:latin typeface="Cambria" pitchFamily="34" charset="0"/>
                <a:ea typeface="Cambria" pitchFamily="34" charset="-122"/>
                <a:cs typeface="Cambria" pitchFamily="34" charset="-120"/>
              </a:rPr>
              <a:t>Activity diagram</a:t>
            </a:r>
            <a:endParaRPr lang="en-US" sz="2800" dirty="0"/>
          </a:p>
        </p:txBody>
      </p:sp>
      <p:sp>
        <p:nvSpPr>
          <p:cNvPr id="4" name="Text 2"/>
          <p:cNvSpPr txBox="1"/>
          <p:nvPr/>
        </p:nvSpPr>
        <p:spPr>
          <a:xfrm>
            <a:off x="11185855" y="6400800"/>
            <a:ext cx="457200" cy="274320"/>
          </a:xfrm>
          <a:prstGeom prst="rect">
            <a:avLst/>
          </a:prstGeom>
          <a:noFill/>
          <a:ln/>
        </p:spPr>
        <p:txBody>
          <a:bodyPr wrap="square" lIns="0" tIns="0" rIns="0" bIns="0" rtlCol="0" anchor="ctr"/>
          <a:lstStyle/>
          <a:p>
            <a:pPr marL="0" indent="0" algn="r">
              <a:buNone/>
            </a:pPr>
            <a:r>
              <a:rPr lang="en-US" sz="1000" dirty="0">
                <a:solidFill>
                  <a:srgbClr val="5B6B7B"/>
                </a:solidFill>
                <a:latin typeface="Calibri" pitchFamily="34" charset="0"/>
                <a:ea typeface="Calibri" pitchFamily="34" charset="-122"/>
                <a:cs typeface="Calibri" pitchFamily="34" charset="-120"/>
              </a:rPr>
              <a:t>6</a:t>
            </a:r>
            <a:endParaRPr lang="en-US" sz="1000" dirty="0"/>
          </a:p>
        </p:txBody>
      </p:sp>
      <p:sp>
        <p:nvSpPr>
          <p:cNvPr id="6" name="Shape 3"/>
          <p:cNvSpPr/>
          <p:nvPr/>
        </p:nvSpPr>
        <p:spPr>
          <a:xfrm>
            <a:off x="745236" y="1335024"/>
            <a:ext cx="2990088" cy="5102352"/>
          </a:xfrm>
          <a:prstGeom prst="rect">
            <a:avLst/>
          </a:prstGeom>
          <a:solidFill>
            <a:srgbClr val="FFFFFF"/>
          </a:solidFill>
          <a:ln w="9525">
            <a:solidFill>
              <a:srgbClr val="C9D3DD"/>
            </a:solidFill>
            <a:prstDash val="solid"/>
          </a:ln>
          <a:effectLst>
            <a:outerShdw blurRad="76200" dist="25400" dir="5400000" algn="bl" rotWithShape="0">
              <a:srgbClr val="000000">
                <a:alpha val="15000"/>
              </a:srgbClr>
            </a:outerShdw>
          </a:effectLst>
        </p:spPr>
      </p:sp>
      <p:pic>
        <p:nvPicPr>
          <p:cNvPr id="7" name="Image 0" descr="C:\Users\Rahul\AppData\Local\Temp\claude\C--Users-Rahul-AppData-Roaming-Claude-scratch-workspaces-cdf4d821-eeb4-4a9a-a534-95f3e8b5ef5e-df7fd750-804c-4772-884a-1f73fe42c84d-scratch-2026-09-29-45a3c3\34671f05-19cf-43b2-b04e-0db0df211d26\scratchpad\deck\activity.png"/>
          <p:cNvPicPr>
            <a:picLocks noChangeAspect="1"/>
          </p:cNvPicPr>
          <p:nvPr/>
        </p:nvPicPr>
        <p:blipFill>
          <a:blip r:embed="rId3"/>
          <a:stretch>
            <a:fillRect/>
          </a:stretch>
        </p:blipFill>
        <p:spPr>
          <a:xfrm>
            <a:off x="781812" y="1371600"/>
            <a:ext cx="2916936" cy="5029200"/>
          </a:xfrm>
          <a:prstGeom prst="rect">
            <a:avLst/>
          </a:prstGeom>
        </p:spPr>
      </p:pic>
      <p:sp>
        <p:nvSpPr>
          <p:cNvPr id="8" name="Text 4"/>
          <p:cNvSpPr txBox="1"/>
          <p:nvPr/>
        </p:nvSpPr>
        <p:spPr>
          <a:xfrm>
            <a:off x="4297680" y="1371600"/>
            <a:ext cx="7345375" cy="365760"/>
          </a:xfrm>
          <a:prstGeom prst="rect">
            <a:avLst/>
          </a:prstGeom>
          <a:noFill/>
          <a:ln/>
        </p:spPr>
        <p:txBody>
          <a:bodyPr wrap="square" lIns="0" tIns="0" rIns="0" bIns="0" rtlCol="0" anchor="t"/>
          <a:lstStyle/>
          <a:p>
            <a:pPr marL="0" indent="0">
              <a:buNone/>
            </a:pPr>
            <a:r>
              <a:rPr lang="en-US" sz="1700" b="1" dirty="0">
                <a:solidFill>
                  <a:srgbClr val="C8553D"/>
                </a:solidFill>
                <a:latin typeface="Cambria" pitchFamily="34" charset="0"/>
                <a:ea typeface="Cambria" pitchFamily="34" charset="-122"/>
                <a:cs typeface="Cambria" pitchFamily="34" charset="-120"/>
              </a:rPr>
              <a:t>The flow of work through a year</a:t>
            </a:r>
            <a:endParaRPr lang="en-US" sz="1700" dirty="0"/>
          </a:p>
        </p:txBody>
      </p:sp>
      <p:sp>
        <p:nvSpPr>
          <p:cNvPr id="9" name="Text 5"/>
          <p:cNvSpPr txBox="1"/>
          <p:nvPr/>
        </p:nvSpPr>
        <p:spPr>
          <a:xfrm>
            <a:off x="4297680" y="1828800"/>
            <a:ext cx="7345375" cy="3291840"/>
          </a:xfrm>
          <a:prstGeom prst="rect">
            <a:avLst/>
          </a:prstGeom>
          <a:noFill/>
          <a:ln/>
        </p:spPr>
        <p:txBody>
          <a:bodyPr wrap="square" lIns="0" tIns="0" rIns="0" bIns="0" rtlCol="0" anchor="t"/>
          <a:lstStyle/>
          <a:p>
            <a:pPr marL="342900" indent="-342900">
              <a:spcAft>
                <a:spcPts val="700"/>
              </a:spcAft>
              <a:buSzPct val="100000"/>
              <a:buChar char="•"/>
            </a:pPr>
            <a:r>
              <a:rPr lang="en-US" sz="1300" b="1" dirty="0">
                <a:solidFill>
                  <a:srgbClr val="1B2A41"/>
                </a:solidFill>
                <a:latin typeface="Calibri" pitchFamily="34" charset="0"/>
                <a:ea typeface="Calibri" pitchFamily="34" charset="-122"/>
                <a:cs typeface="Calibri" pitchFamily="34" charset="-120"/>
              </a:rPr>
              <a:t>1. Admission: </a:t>
            </a:r>
            <a:r>
              <a:rPr lang="en-US" sz="1300" dirty="0">
                <a:solidFill>
                  <a:srgbClr val="1F2933"/>
                </a:solidFill>
                <a:latin typeface="Calibri" pitchFamily="34" charset="0"/>
                <a:ea typeface="Calibri" pitchFamily="34" charset="-122"/>
                <a:cs typeface="Calibri" pitchFamily="34" charset="-120"/>
              </a:rPr>
              <a:t>student takes admission, submits details, gets a hostel and room, and receives the allotment letter</a:t>
            </a:r>
            <a:endParaRPr lang="en-US" sz="1300" dirty="0"/>
          </a:p>
          <a:p>
            <a:pPr marL="342900" indent="-342900">
              <a:spcAft>
                <a:spcPts val="700"/>
              </a:spcAft>
              <a:buSzPct val="100000"/>
              <a:buChar char="•"/>
            </a:pPr>
            <a:r>
              <a:rPr lang="en-US" sz="1300" b="1" dirty="0">
                <a:solidFill>
                  <a:srgbClr val="1B2A41"/>
                </a:solidFill>
                <a:latin typeface="Calibri" pitchFamily="34" charset="0"/>
                <a:ea typeface="Calibri" pitchFamily="34" charset="-122"/>
                <a:cs typeface="Calibri" pitchFamily="34" charset="-120"/>
              </a:rPr>
              <a:t>2. Monthly billing (left): </a:t>
            </a:r>
            <a:r>
              <a:rPr lang="en-US" sz="1300" dirty="0">
                <a:solidFill>
                  <a:srgbClr val="1F2933"/>
                </a:solidFill>
                <a:latin typeface="Calibri" pitchFamily="34" charset="0"/>
                <a:ea typeface="Calibri" pitchFamily="34" charset="-122"/>
                <a:cs typeface="Calibri" pitchFamily="34" charset="-120"/>
              </a:rPr>
              <a:t>enter mess charges, add rent and amenity, calculate total dues. Student pays? Yes: update account. No: keep dues pending. Then collect mess charges and issue a cheque to the mess manager</a:t>
            </a:r>
            <a:endParaRPr lang="en-US" sz="1300" dirty="0"/>
          </a:p>
          <a:p>
            <a:pPr marL="342900" indent="-342900">
              <a:spcAft>
                <a:spcPts val="700"/>
              </a:spcAft>
              <a:buSzPct val="100000"/>
              <a:buChar char="•"/>
            </a:pPr>
            <a:r>
              <a:rPr lang="en-US" sz="1300" b="1" dirty="0">
                <a:solidFill>
                  <a:srgbClr val="1B2A41"/>
                </a:solidFill>
                <a:latin typeface="Calibri" pitchFamily="34" charset="0"/>
                <a:ea typeface="Calibri" pitchFamily="34" charset="-122"/>
                <a:cs typeface="Calibri" pitchFamily="34" charset="-120"/>
              </a:rPr>
              <a:t>3. Complaints (decision): </a:t>
            </a:r>
            <a:r>
              <a:rPr lang="en-US" sz="1300" dirty="0">
                <a:solidFill>
                  <a:srgbClr val="1F2933"/>
                </a:solidFill>
                <a:latin typeface="Calibri" pitchFamily="34" charset="0"/>
                <a:ea typeface="Calibri" pitchFamily="34" charset="-122"/>
                <a:cs typeface="Calibri" pitchFamily="34" charset="-120"/>
              </a:rPr>
              <a:t>if a complaint is raised, it is registered, the warden views it, takes action and posts an ATR</a:t>
            </a:r>
            <a:endParaRPr lang="en-US" sz="1300" dirty="0"/>
          </a:p>
          <a:p>
            <a:pPr marL="342900" indent="-342900">
              <a:spcAft>
                <a:spcPts val="700"/>
              </a:spcAft>
              <a:buSzPct val="100000"/>
              <a:buChar char="•"/>
            </a:pPr>
            <a:r>
              <a:rPr lang="en-US" sz="1300" b="1" dirty="0">
                <a:solidFill>
                  <a:srgbClr val="1B2A41"/>
                </a:solidFill>
                <a:latin typeface="Calibri" pitchFamily="34" charset="0"/>
                <a:ea typeface="Calibri" pitchFamily="34" charset="-122"/>
                <a:cs typeface="Calibri" pitchFamily="34" charset="-120"/>
              </a:rPr>
              <a:t>4. Parallel work: </a:t>
            </a:r>
            <a:r>
              <a:rPr lang="en-US" sz="1300" dirty="0">
                <a:solidFill>
                  <a:srgbClr val="1F2933"/>
                </a:solidFill>
                <a:latin typeface="Calibri" pitchFamily="34" charset="0"/>
                <a:ea typeface="Calibri" pitchFamily="34" charset="-122"/>
                <a:cs typeface="Calibri" pitchFamily="34" charset="-120"/>
              </a:rPr>
              <a:t>manage staff and salary, receive and distribute the annual grant, enter petty expenses</a:t>
            </a:r>
            <a:endParaRPr lang="en-US" sz="1300" dirty="0"/>
          </a:p>
          <a:p>
            <a:pPr marL="342900" indent="-342900">
              <a:spcAft>
                <a:spcPts val="700"/>
              </a:spcAft>
              <a:buSzPct val="100000"/>
              <a:buChar char="•"/>
            </a:pPr>
            <a:r>
              <a:rPr lang="en-US" sz="1300" b="1" dirty="0">
                <a:solidFill>
                  <a:srgbClr val="1B2A41"/>
                </a:solidFill>
                <a:latin typeface="Calibri" pitchFamily="34" charset="0"/>
                <a:ea typeface="Calibri" pitchFamily="34" charset="-122"/>
                <a:cs typeface="Calibri" pitchFamily="34" charset="-120"/>
              </a:rPr>
              <a:t>5. End: </a:t>
            </a:r>
            <a:r>
              <a:rPr lang="en-US" sz="1300" dirty="0">
                <a:solidFill>
                  <a:srgbClr val="1F2933"/>
                </a:solidFill>
                <a:latin typeface="Calibri" pitchFamily="34" charset="0"/>
                <a:ea typeface="Calibri" pitchFamily="34" charset="-122"/>
                <a:cs typeface="Calibri" pitchFamily="34" charset="-120"/>
              </a:rPr>
              <a:t>view the statement of accounts, print the annual statement, submit for audit</a:t>
            </a:r>
            <a:endParaRPr lang="en-US" sz="1300" dirty="0"/>
          </a:p>
        </p:txBody>
      </p:sp>
      <p:sp>
        <p:nvSpPr>
          <p:cNvPr id="10" name="Shape 6"/>
          <p:cNvSpPr/>
          <p:nvPr/>
        </p:nvSpPr>
        <p:spPr>
          <a:xfrm>
            <a:off x="4297680" y="5349240"/>
            <a:ext cx="7345375" cy="1051560"/>
          </a:xfrm>
          <a:prstGeom prst="roundRect">
            <a:avLst>
              <a:gd name="adj" fmla="val 6957"/>
            </a:avLst>
          </a:prstGeom>
          <a:solidFill>
            <a:srgbClr val="F6E3DC"/>
          </a:solidFill>
          <a:ln w="12700">
            <a:solidFill>
              <a:srgbClr val="F6E3DC"/>
            </a:solidFill>
            <a:prstDash val="solid"/>
          </a:ln>
        </p:spPr>
      </p:sp>
      <p:sp>
        <p:nvSpPr>
          <p:cNvPr id="11" name="Text 7"/>
          <p:cNvSpPr txBox="1"/>
          <p:nvPr/>
        </p:nvSpPr>
        <p:spPr>
          <a:xfrm>
            <a:off x="4480560" y="5413248"/>
            <a:ext cx="6979615" cy="914400"/>
          </a:xfrm>
          <a:prstGeom prst="rect">
            <a:avLst/>
          </a:prstGeom>
          <a:noFill/>
          <a:ln/>
        </p:spPr>
        <p:txBody>
          <a:bodyPr wrap="square" lIns="0" tIns="0" rIns="0" bIns="0" rtlCol="0" anchor="ctr"/>
          <a:lstStyle/>
          <a:p>
            <a:pPr marL="0" indent="0">
              <a:buNone/>
            </a:pPr>
            <a:r>
              <a:rPr lang="en-US" sz="1250" i="1" dirty="0">
                <a:solidFill>
                  <a:srgbClr val="1B2A41"/>
                </a:solidFill>
                <a:latin typeface="Calibri" pitchFamily="34" charset="0"/>
                <a:ea typeface="Calibri" pitchFamily="34" charset="-122"/>
                <a:cs typeface="Calibri" pitchFamily="34" charset="-120"/>
              </a:rPr>
              <a:t>Diamonds are decisions. Our website follows the same flow: each box is a form or button for the matching role.</a:t>
            </a:r>
            <a:endParaRPr lang="en-US" sz="1250" dirty="0"/>
          </a:p>
        </p:txBody>
      </p:sp>
    </p:spTree>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300" dirty="0">
                <a:solidFill>
                  <a:srgbClr val="C8553D"/>
                </a:solidFill>
                <a:latin typeface="Calibri" pitchFamily="34" charset="0"/>
                <a:ea typeface="Calibri" pitchFamily="34" charset="-122"/>
                <a:cs typeface="Calibri" pitchFamily="34" charset="-120"/>
              </a:rPr>
              <a:t>DESIGN · UML</a:t>
            </a:r>
            <a:endParaRPr lang="en-US" sz="1200" dirty="0"/>
          </a:p>
        </p:txBody>
      </p:sp>
      <p:sp>
        <p:nvSpPr>
          <p:cNvPr id="3" name="Text 1"/>
          <p:cNvSpPr txBox="1"/>
          <p:nvPr/>
        </p:nvSpPr>
        <p:spPr>
          <a:xfrm>
            <a:off x="548640" y="566928"/>
            <a:ext cx="11094415" cy="640080"/>
          </a:xfrm>
          <a:prstGeom prst="rect">
            <a:avLst/>
          </a:prstGeom>
          <a:noFill/>
          <a:ln/>
        </p:spPr>
        <p:txBody>
          <a:bodyPr wrap="square" lIns="0" tIns="0" rIns="0" bIns="0" rtlCol="0" anchor="ctr"/>
          <a:lstStyle/>
          <a:p>
            <a:pPr marL="0" indent="0">
              <a:buNone/>
            </a:pPr>
            <a:r>
              <a:rPr lang="en-US" sz="2800" b="1" dirty="0">
                <a:solidFill>
                  <a:srgbClr val="1B2A41"/>
                </a:solidFill>
                <a:latin typeface="Cambria" pitchFamily="34" charset="0"/>
                <a:ea typeface="Cambria" pitchFamily="34" charset="-122"/>
                <a:cs typeface="Cambria" pitchFamily="34" charset="-120"/>
              </a:rPr>
              <a:t>State diagram</a:t>
            </a:r>
            <a:endParaRPr lang="en-US" sz="2800" dirty="0"/>
          </a:p>
        </p:txBody>
      </p:sp>
      <p:sp>
        <p:nvSpPr>
          <p:cNvPr id="4" name="Text 2"/>
          <p:cNvSpPr txBox="1"/>
          <p:nvPr/>
        </p:nvSpPr>
        <p:spPr>
          <a:xfrm>
            <a:off x="11185855" y="6400800"/>
            <a:ext cx="457200" cy="274320"/>
          </a:xfrm>
          <a:prstGeom prst="rect">
            <a:avLst/>
          </a:prstGeom>
          <a:noFill/>
          <a:ln/>
        </p:spPr>
        <p:txBody>
          <a:bodyPr wrap="square" lIns="0" tIns="0" rIns="0" bIns="0" rtlCol="0" anchor="ctr"/>
          <a:lstStyle/>
          <a:p>
            <a:pPr marL="0" indent="0" algn="r">
              <a:buNone/>
            </a:pPr>
            <a:r>
              <a:rPr lang="en-US" sz="1000" dirty="0">
                <a:solidFill>
                  <a:srgbClr val="5B6B7B"/>
                </a:solidFill>
                <a:latin typeface="Calibri" pitchFamily="34" charset="0"/>
                <a:ea typeface="Calibri" pitchFamily="34" charset="-122"/>
                <a:cs typeface="Calibri" pitchFamily="34" charset="-120"/>
              </a:rPr>
              <a:t>7</a:t>
            </a:r>
            <a:endParaRPr lang="en-US" sz="1000" dirty="0"/>
          </a:p>
        </p:txBody>
      </p:sp>
      <p:sp>
        <p:nvSpPr>
          <p:cNvPr id="6" name="Shape 3"/>
          <p:cNvSpPr/>
          <p:nvPr/>
        </p:nvSpPr>
        <p:spPr>
          <a:xfrm>
            <a:off x="526824" y="1335024"/>
            <a:ext cx="5621471" cy="5102352"/>
          </a:xfrm>
          <a:prstGeom prst="rect">
            <a:avLst/>
          </a:prstGeom>
          <a:solidFill>
            <a:srgbClr val="FFFFFF"/>
          </a:solidFill>
          <a:ln w="9525">
            <a:solidFill>
              <a:srgbClr val="C9D3DD"/>
            </a:solidFill>
            <a:prstDash val="solid"/>
          </a:ln>
          <a:effectLst>
            <a:outerShdw blurRad="76200" dist="25400" dir="5400000" algn="bl" rotWithShape="0">
              <a:srgbClr val="000000">
                <a:alpha val="15000"/>
              </a:srgbClr>
            </a:outerShdw>
          </a:effectLst>
        </p:spPr>
      </p:sp>
      <p:pic>
        <p:nvPicPr>
          <p:cNvPr id="7" name="Image 0" descr="C:\Users\Rahul\AppData\Local\Temp\claude\C--Users-Rahul-AppData-Roaming-Claude-scratch-workspaces-cdf4d821-eeb4-4a9a-a534-95f3e8b5ef5e-df7fd750-804c-4772-884a-1f73fe42c84d-scratch-2026-09-29-45a3c3\34671f05-19cf-43b2-b04e-0db0df211d26\scratchpad\deck\state.png"/>
          <p:cNvPicPr>
            <a:picLocks noChangeAspect="1"/>
          </p:cNvPicPr>
          <p:nvPr/>
        </p:nvPicPr>
        <p:blipFill>
          <a:blip r:embed="rId3"/>
          <a:stretch>
            <a:fillRect/>
          </a:stretch>
        </p:blipFill>
        <p:spPr>
          <a:xfrm>
            <a:off x="563400" y="1371600"/>
            <a:ext cx="5548319" cy="5029200"/>
          </a:xfrm>
          <a:prstGeom prst="rect">
            <a:avLst/>
          </a:prstGeom>
        </p:spPr>
      </p:pic>
      <p:sp>
        <p:nvSpPr>
          <p:cNvPr id="8" name="Text 4"/>
          <p:cNvSpPr txBox="1"/>
          <p:nvPr/>
        </p:nvSpPr>
        <p:spPr>
          <a:xfrm>
            <a:off x="6492240" y="1371600"/>
            <a:ext cx="5150815" cy="365760"/>
          </a:xfrm>
          <a:prstGeom prst="rect">
            <a:avLst/>
          </a:prstGeom>
          <a:noFill/>
          <a:ln/>
        </p:spPr>
        <p:txBody>
          <a:bodyPr wrap="square" lIns="0" tIns="0" rIns="0" bIns="0" rtlCol="0" anchor="t"/>
          <a:lstStyle/>
          <a:p>
            <a:pPr marL="0" indent="0">
              <a:buNone/>
            </a:pPr>
            <a:r>
              <a:rPr lang="en-US" sz="1700" b="1" dirty="0">
                <a:solidFill>
                  <a:srgbClr val="C8553D"/>
                </a:solidFill>
                <a:latin typeface="Cambria" pitchFamily="34" charset="0"/>
                <a:ea typeface="Cambria" pitchFamily="34" charset="-122"/>
                <a:cs typeface="Cambria" pitchFamily="34" charset="-120"/>
              </a:rPr>
              <a:t>States of a student and the system</a:t>
            </a:r>
            <a:endParaRPr lang="en-US" sz="1700" dirty="0"/>
          </a:p>
        </p:txBody>
      </p:sp>
      <p:sp>
        <p:nvSpPr>
          <p:cNvPr id="9" name="Text 5"/>
          <p:cNvSpPr txBox="1"/>
          <p:nvPr/>
        </p:nvSpPr>
        <p:spPr>
          <a:xfrm>
            <a:off x="6492240" y="1828800"/>
            <a:ext cx="5150815" cy="3291840"/>
          </a:xfrm>
          <a:prstGeom prst="rect">
            <a:avLst/>
          </a:prstGeom>
          <a:noFill/>
          <a:ln/>
        </p:spPr>
        <p:txBody>
          <a:bodyPr wrap="square" lIns="0" tIns="0" rIns="0" bIns="0" rtlCol="0" anchor="t"/>
          <a:lstStyle/>
          <a:p>
            <a:pPr marL="342900" indent="-342900">
              <a:spcAft>
                <a:spcPts val="700"/>
              </a:spcAft>
              <a:buSzPct val="100000"/>
              <a:buChar char="•"/>
            </a:pPr>
            <a:r>
              <a:rPr lang="en-US" sz="1300" b="1" dirty="0">
                <a:solidFill>
                  <a:srgbClr val="1B2A41"/>
                </a:solidFill>
                <a:latin typeface="Calibri" pitchFamily="34" charset="0"/>
                <a:ea typeface="Calibri" pitchFamily="34" charset="-122"/>
                <a:cs typeface="Calibri" pitchFamily="34" charset="-120"/>
              </a:rPr>
              <a:t>Admission → HostelAllotment → RoomAllotted → ActiveStudent </a:t>
            </a:r>
            <a:endParaRPr lang="en-US" sz="1300" dirty="0"/>
          </a:p>
          <a:p>
            <a:pPr marL="342900" indent="-342900">
              <a:spcAft>
                <a:spcPts val="700"/>
              </a:spcAft>
              <a:buSzPct val="100000"/>
              <a:buChar char="•"/>
            </a:pPr>
            <a:r>
              <a:rPr lang="en-US" sz="1300" b="1" dirty="0">
                <a:solidFill>
                  <a:srgbClr val="1B2A41"/>
                </a:solidFill>
                <a:latin typeface="Calibri" pitchFamily="34" charset="0"/>
                <a:ea typeface="Calibri" pitchFamily="34" charset="-122"/>
                <a:cs typeface="Calibri" pitchFamily="34" charset="-120"/>
              </a:rPr>
              <a:t>Complaint: </a:t>
            </a:r>
            <a:r>
              <a:rPr lang="en-US" sz="1300" dirty="0">
                <a:solidFill>
                  <a:srgbClr val="1F2933"/>
                </a:solidFill>
                <a:latin typeface="Calibri" pitchFamily="34" charset="0"/>
                <a:ea typeface="Calibri" pitchFamily="34" charset="-122"/>
                <a:cs typeface="Calibri" pitchFamily="34" charset="-120"/>
              </a:rPr>
              <a:t>Registered → UnderReview → ActionTaken → Resolved, then back to ActiveStudent</a:t>
            </a:r>
            <a:endParaRPr lang="en-US" sz="1300" dirty="0"/>
          </a:p>
          <a:p>
            <a:pPr marL="342900" indent="-342900">
              <a:spcAft>
                <a:spcPts val="700"/>
              </a:spcAft>
              <a:buSzPct val="100000"/>
              <a:buChar char="•"/>
            </a:pPr>
            <a:r>
              <a:rPr lang="en-US" sz="1300" b="1" dirty="0">
                <a:solidFill>
                  <a:srgbClr val="1B2A41"/>
                </a:solidFill>
                <a:latin typeface="Calibri" pitchFamily="34" charset="0"/>
                <a:ea typeface="Calibri" pitchFamily="34" charset="-122"/>
                <a:cs typeface="Calibri" pitchFamily="34" charset="-120"/>
              </a:rPr>
              <a:t>Billing: </a:t>
            </a:r>
            <a:r>
              <a:rPr lang="en-US" sz="1300" dirty="0">
                <a:solidFill>
                  <a:srgbClr val="1F2933"/>
                </a:solidFill>
                <a:latin typeface="Calibri" pitchFamily="34" charset="0"/>
                <a:ea typeface="Calibri" pitchFamily="34" charset="-122"/>
                <a:cs typeface="Calibri" pitchFamily="34" charset="-120"/>
              </a:rPr>
              <a:t>MonthlyBilling → MessChargeEntered → TotalDueCalculated → DuePending; loops on "payment not made" until PaymentReceived</a:t>
            </a:r>
            <a:endParaRPr lang="en-US" sz="1300" dirty="0"/>
          </a:p>
          <a:p>
            <a:pPr marL="342900" indent="-342900">
              <a:spcAft>
                <a:spcPts val="700"/>
              </a:spcAft>
              <a:buSzPct val="100000"/>
              <a:buChar char="•"/>
            </a:pPr>
            <a:r>
              <a:rPr lang="en-US" sz="1300" b="1" dirty="0">
                <a:solidFill>
                  <a:srgbClr val="1B2A41"/>
                </a:solidFill>
                <a:latin typeface="Calibri" pitchFamily="34" charset="0"/>
                <a:ea typeface="Calibri" pitchFamily="34" charset="-122"/>
                <a:cs typeface="Calibri" pitchFamily="34" charset="-120"/>
              </a:rPr>
              <a:t>Staff: </a:t>
            </a:r>
            <a:r>
              <a:rPr lang="en-US" sz="1300" dirty="0">
                <a:solidFill>
                  <a:srgbClr val="1F2933"/>
                </a:solidFill>
                <a:latin typeface="Calibri" pitchFamily="34" charset="0"/>
                <a:ea typeface="Calibri" pitchFamily="34" charset="-122"/>
                <a:cs typeface="Calibri" pitchFamily="34" charset="-120"/>
              </a:rPr>
              <a:t>StaffAdded / StaffRemoved / LeaveRecorded → SalaryCalculated → SalaryPaid</a:t>
            </a:r>
            <a:endParaRPr lang="en-US" sz="1300" dirty="0"/>
          </a:p>
          <a:p>
            <a:pPr marL="342900" indent="-342900">
              <a:spcAft>
                <a:spcPts val="700"/>
              </a:spcAft>
              <a:buSzPct val="100000"/>
              <a:buChar char="•"/>
            </a:pPr>
            <a:r>
              <a:rPr lang="en-US" sz="1300" b="1" dirty="0">
                <a:solidFill>
                  <a:srgbClr val="1B2A41"/>
                </a:solidFill>
                <a:latin typeface="Calibri" pitchFamily="34" charset="0"/>
                <a:ea typeface="Calibri" pitchFamily="34" charset="-122"/>
                <a:cs typeface="Calibri" pitchFamily="34" charset="-120"/>
              </a:rPr>
              <a:t>Accounts: </a:t>
            </a:r>
            <a:r>
              <a:rPr lang="en-US" sz="1300" dirty="0">
                <a:solidFill>
                  <a:srgbClr val="1F2933"/>
                </a:solidFill>
                <a:latin typeface="Calibri" pitchFamily="34" charset="0"/>
                <a:ea typeface="Calibri" pitchFamily="34" charset="-122"/>
                <a:cs typeface="Calibri" pitchFamily="34" charset="-120"/>
              </a:rPr>
              <a:t>Grant, expenditure and petty-expense states lead to StatementGenerated → SubmittedForAudit</a:t>
            </a:r>
            <a:endParaRPr lang="en-US" sz="1300" dirty="0"/>
          </a:p>
        </p:txBody>
      </p:sp>
      <p:sp>
        <p:nvSpPr>
          <p:cNvPr id="10" name="Shape 6"/>
          <p:cNvSpPr/>
          <p:nvPr/>
        </p:nvSpPr>
        <p:spPr>
          <a:xfrm>
            <a:off x="6492240" y="5349240"/>
            <a:ext cx="5150815" cy="1051560"/>
          </a:xfrm>
          <a:prstGeom prst="roundRect">
            <a:avLst>
              <a:gd name="adj" fmla="val 6957"/>
            </a:avLst>
          </a:prstGeom>
          <a:solidFill>
            <a:srgbClr val="F6E3DC"/>
          </a:solidFill>
          <a:ln w="12700">
            <a:solidFill>
              <a:srgbClr val="F6E3DC"/>
            </a:solidFill>
            <a:prstDash val="solid"/>
          </a:ln>
        </p:spPr>
      </p:sp>
      <p:sp>
        <p:nvSpPr>
          <p:cNvPr id="11" name="Text 7"/>
          <p:cNvSpPr txBox="1"/>
          <p:nvPr/>
        </p:nvSpPr>
        <p:spPr>
          <a:xfrm>
            <a:off x="6675120" y="5413248"/>
            <a:ext cx="4785055" cy="914400"/>
          </a:xfrm>
          <a:prstGeom prst="rect">
            <a:avLst/>
          </a:prstGeom>
          <a:noFill/>
          <a:ln/>
        </p:spPr>
        <p:txBody>
          <a:bodyPr wrap="square" lIns="0" tIns="0" rIns="0" bIns="0" rtlCol="0" anchor="ctr"/>
          <a:lstStyle/>
          <a:p>
            <a:pPr marL="0" indent="0">
              <a:buNone/>
            </a:pPr>
            <a:r>
              <a:rPr lang="en-US" sz="1250" i="1" dirty="0">
                <a:solidFill>
                  <a:srgbClr val="1B2A41"/>
                </a:solidFill>
                <a:latin typeface="Calibri" pitchFamily="34" charset="0"/>
                <a:ea typeface="Calibri" pitchFamily="34" charset="-122"/>
                <a:cs typeface="Calibri" pitchFamily="34" charset="-120"/>
              </a:rPr>
              <a:t>Our code enforces these: paying twice is rejected, and a complaint is resolved only through the warden's ATR.</a:t>
            </a:r>
            <a:endParaRPr lang="en-US" sz="1250" dirty="0"/>
          </a:p>
        </p:txBody>
      </p:sp>
    </p:spTree>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300" dirty="0">
                <a:solidFill>
                  <a:srgbClr val="C8553D"/>
                </a:solidFill>
                <a:latin typeface="Calibri" pitchFamily="34" charset="0"/>
                <a:ea typeface="Calibri" pitchFamily="34" charset="-122"/>
                <a:cs typeface="Calibri" pitchFamily="34" charset="-120"/>
              </a:rPr>
              <a:t>DESIGN · UML</a:t>
            </a:r>
            <a:endParaRPr lang="en-US" sz="1200" dirty="0"/>
          </a:p>
        </p:txBody>
      </p:sp>
      <p:sp>
        <p:nvSpPr>
          <p:cNvPr id="3" name="Text 1"/>
          <p:cNvSpPr txBox="1"/>
          <p:nvPr/>
        </p:nvSpPr>
        <p:spPr>
          <a:xfrm>
            <a:off x="548640" y="566928"/>
            <a:ext cx="11094415" cy="640080"/>
          </a:xfrm>
          <a:prstGeom prst="rect">
            <a:avLst/>
          </a:prstGeom>
          <a:noFill/>
          <a:ln/>
        </p:spPr>
        <p:txBody>
          <a:bodyPr wrap="square" lIns="0" tIns="0" rIns="0" bIns="0" rtlCol="0" anchor="ctr"/>
          <a:lstStyle/>
          <a:p>
            <a:pPr marL="0" indent="0">
              <a:buNone/>
            </a:pPr>
            <a:r>
              <a:rPr lang="en-US" sz="2800" b="1" dirty="0">
                <a:solidFill>
                  <a:srgbClr val="1B2A41"/>
                </a:solidFill>
                <a:latin typeface="Cambria" pitchFamily="34" charset="0"/>
                <a:ea typeface="Cambria" pitchFamily="34" charset="-122"/>
                <a:cs typeface="Cambria" pitchFamily="34" charset="-120"/>
              </a:rPr>
              <a:t>Sequence diagrams: three key interactions</a:t>
            </a:r>
            <a:endParaRPr lang="en-US" sz="2800" dirty="0"/>
          </a:p>
        </p:txBody>
      </p:sp>
      <p:sp>
        <p:nvSpPr>
          <p:cNvPr id="4" name="Text 2"/>
          <p:cNvSpPr txBox="1"/>
          <p:nvPr/>
        </p:nvSpPr>
        <p:spPr>
          <a:xfrm>
            <a:off x="11185855" y="6400800"/>
            <a:ext cx="457200" cy="274320"/>
          </a:xfrm>
          <a:prstGeom prst="rect">
            <a:avLst/>
          </a:prstGeom>
          <a:noFill/>
          <a:ln/>
        </p:spPr>
        <p:txBody>
          <a:bodyPr wrap="square" lIns="0" tIns="0" rIns="0" bIns="0" rtlCol="0" anchor="ctr"/>
          <a:lstStyle/>
          <a:p>
            <a:pPr marL="0" indent="0" algn="r">
              <a:buNone/>
            </a:pPr>
            <a:r>
              <a:rPr lang="en-US" sz="1000" dirty="0">
                <a:solidFill>
                  <a:srgbClr val="5B6B7B"/>
                </a:solidFill>
                <a:latin typeface="Calibri" pitchFamily="34" charset="0"/>
                <a:ea typeface="Calibri" pitchFamily="34" charset="-122"/>
                <a:cs typeface="Calibri" pitchFamily="34" charset="-120"/>
              </a:rPr>
              <a:t>8</a:t>
            </a:r>
            <a:endParaRPr lang="en-US" sz="1000" dirty="0"/>
          </a:p>
        </p:txBody>
      </p:sp>
      <p:sp>
        <p:nvSpPr>
          <p:cNvPr id="6" name="Shape 3"/>
          <p:cNvSpPr/>
          <p:nvPr/>
        </p:nvSpPr>
        <p:spPr>
          <a:xfrm>
            <a:off x="512064" y="1631772"/>
            <a:ext cx="3639312" cy="2542896"/>
          </a:xfrm>
          <a:prstGeom prst="rect">
            <a:avLst/>
          </a:prstGeom>
          <a:solidFill>
            <a:srgbClr val="FFFFFF"/>
          </a:solidFill>
          <a:ln w="9525">
            <a:solidFill>
              <a:srgbClr val="C9D3DD"/>
            </a:solidFill>
            <a:prstDash val="solid"/>
          </a:ln>
          <a:effectLst>
            <a:outerShdw blurRad="76200" dist="25400" dir="5400000" algn="bl" rotWithShape="0">
              <a:srgbClr val="000000">
                <a:alpha val="15000"/>
              </a:srgbClr>
            </a:outerShdw>
          </a:effectLst>
        </p:spPr>
      </p:sp>
      <p:pic>
        <p:nvPicPr>
          <p:cNvPr id="7" name="Image 0" descr="C:\Users\Rahul\AppData\Local\Temp\claude\C--Users-Rahul-AppData-Roaming-Claude-scratch-workspaces-cdf4d821-eeb4-4a9a-a534-95f3e8b5ef5e-df7fd750-804c-4772-884a-1f73fe42c84d-scratch-2026-09-29-45a3c3\34671f05-19cf-43b2-b04e-0db0df211d26\scratchpad\deck\seq_admission.png"/>
          <p:cNvPicPr>
            <a:picLocks noChangeAspect="1"/>
          </p:cNvPicPr>
          <p:nvPr/>
        </p:nvPicPr>
        <p:blipFill>
          <a:blip r:embed="rId3"/>
          <a:stretch>
            <a:fillRect/>
          </a:stretch>
        </p:blipFill>
        <p:spPr>
          <a:xfrm>
            <a:off x="548640" y="1668348"/>
            <a:ext cx="3566160" cy="2469744"/>
          </a:xfrm>
          <a:prstGeom prst="rect">
            <a:avLst/>
          </a:prstGeom>
        </p:spPr>
      </p:pic>
      <p:sp>
        <p:nvSpPr>
          <p:cNvPr id="8" name="Text 4"/>
          <p:cNvSpPr txBox="1"/>
          <p:nvPr/>
        </p:nvSpPr>
        <p:spPr>
          <a:xfrm>
            <a:off x="548640" y="4617720"/>
            <a:ext cx="3566160" cy="320040"/>
          </a:xfrm>
          <a:prstGeom prst="rect">
            <a:avLst/>
          </a:prstGeom>
          <a:noFill/>
          <a:ln/>
        </p:spPr>
        <p:txBody>
          <a:bodyPr wrap="square" lIns="0" tIns="0" rIns="0" bIns="0" rtlCol="0" anchor="t"/>
          <a:lstStyle/>
          <a:p>
            <a:pPr marL="0" indent="0">
              <a:buNone/>
            </a:pPr>
            <a:r>
              <a:rPr lang="en-US" sz="1500" b="1" dirty="0">
                <a:solidFill>
                  <a:srgbClr val="1B2A41"/>
                </a:solidFill>
                <a:latin typeface="Calibri" pitchFamily="34" charset="0"/>
                <a:ea typeface="Calibri" pitchFamily="34" charset="-122"/>
                <a:cs typeface="Calibri" pitchFamily="34" charset="-120"/>
              </a:rPr>
              <a:t>1. Student admission</a:t>
            </a:r>
            <a:endParaRPr lang="en-US" sz="1500" dirty="0"/>
          </a:p>
        </p:txBody>
      </p:sp>
      <p:sp>
        <p:nvSpPr>
          <p:cNvPr id="9" name="Text 5"/>
          <p:cNvSpPr txBox="1"/>
          <p:nvPr/>
        </p:nvSpPr>
        <p:spPr>
          <a:xfrm>
            <a:off x="548640" y="4956048"/>
            <a:ext cx="3566160" cy="1371600"/>
          </a:xfrm>
          <a:prstGeom prst="rect">
            <a:avLst/>
          </a:prstGeom>
          <a:noFill/>
          <a:ln/>
        </p:spPr>
        <p:txBody>
          <a:bodyPr wrap="square" lIns="0" tIns="0" rIns="0" bIns="0" rtlCol="0" anchor="t"/>
          <a:lstStyle/>
          <a:p>
            <a:pPr marL="0" indent="0">
              <a:buNone/>
            </a:pPr>
            <a:r>
              <a:rPr lang="en-US" sz="1200" dirty="0">
                <a:solidFill>
                  <a:schemeClr val="bg1"/>
                </a:solidFill>
                <a:latin typeface="Calibri" pitchFamily="34" charset="0"/>
                <a:ea typeface="Calibri" pitchFamily="34" charset="-122"/>
                <a:cs typeface="Calibri" pitchFamily="34" charset="-120"/>
              </a:rPr>
              <a:t>Student gives details to the clerk → clerk enters them → software stores the student, checks free rooms, allocates one → generates the allotment letter</a:t>
            </a:r>
            <a:endParaRPr lang="en-US" sz="1200" dirty="0">
              <a:solidFill>
                <a:schemeClr val="bg1"/>
              </a:solidFill>
            </a:endParaRPr>
          </a:p>
        </p:txBody>
      </p:sp>
      <p:sp>
        <p:nvSpPr>
          <p:cNvPr id="10" name="Shape 6"/>
          <p:cNvSpPr/>
          <p:nvPr/>
        </p:nvSpPr>
        <p:spPr>
          <a:xfrm>
            <a:off x="4261104" y="1701353"/>
            <a:ext cx="3639312" cy="2403734"/>
          </a:xfrm>
          <a:prstGeom prst="rect">
            <a:avLst/>
          </a:prstGeom>
          <a:solidFill>
            <a:srgbClr val="FFFFFF"/>
          </a:solidFill>
          <a:ln w="9525">
            <a:solidFill>
              <a:srgbClr val="C9D3DD"/>
            </a:solidFill>
            <a:prstDash val="solid"/>
          </a:ln>
          <a:effectLst>
            <a:outerShdw blurRad="76200" dist="25400" dir="5400000" algn="bl" rotWithShape="0">
              <a:srgbClr val="000000">
                <a:alpha val="15000"/>
              </a:srgbClr>
            </a:outerShdw>
          </a:effectLst>
        </p:spPr>
      </p:sp>
      <p:pic>
        <p:nvPicPr>
          <p:cNvPr id="11" name="Image 1" descr="C:\Users\Rahul\AppData\Local\Temp\claude\C--Users-Rahul-AppData-Roaming-Claude-scratch-workspaces-cdf4d821-eeb4-4a9a-a534-95f3e8b5ef5e-df7fd750-804c-4772-884a-1f73fe42c84d-scratch-2026-09-29-45a3c3\34671f05-19cf-43b2-b04e-0db0df211d26\scratchpad\deck\seq_complaint.png"/>
          <p:cNvPicPr>
            <a:picLocks noChangeAspect="1"/>
          </p:cNvPicPr>
          <p:nvPr/>
        </p:nvPicPr>
        <p:blipFill>
          <a:blip r:embed="rId4"/>
          <a:stretch>
            <a:fillRect/>
          </a:stretch>
        </p:blipFill>
        <p:spPr>
          <a:xfrm>
            <a:off x="4297680" y="1737929"/>
            <a:ext cx="3566160" cy="2330582"/>
          </a:xfrm>
          <a:prstGeom prst="rect">
            <a:avLst/>
          </a:prstGeom>
        </p:spPr>
      </p:pic>
      <p:sp>
        <p:nvSpPr>
          <p:cNvPr id="12" name="Text 7"/>
          <p:cNvSpPr txBox="1"/>
          <p:nvPr/>
        </p:nvSpPr>
        <p:spPr>
          <a:xfrm>
            <a:off x="4297680" y="4617720"/>
            <a:ext cx="3566160" cy="320040"/>
          </a:xfrm>
          <a:prstGeom prst="rect">
            <a:avLst/>
          </a:prstGeom>
          <a:noFill/>
          <a:ln/>
        </p:spPr>
        <p:txBody>
          <a:bodyPr wrap="square" lIns="0" tIns="0" rIns="0" bIns="0" rtlCol="0" anchor="t"/>
          <a:lstStyle/>
          <a:p>
            <a:pPr marL="0" indent="0">
              <a:buNone/>
            </a:pPr>
            <a:r>
              <a:rPr lang="en-US" sz="1500" b="1" dirty="0">
                <a:solidFill>
                  <a:srgbClr val="1B2A41"/>
                </a:solidFill>
                <a:latin typeface="Calibri" pitchFamily="34" charset="0"/>
                <a:ea typeface="Calibri" pitchFamily="34" charset="-122"/>
                <a:cs typeface="Calibri" pitchFamily="34" charset="-120"/>
              </a:rPr>
              <a:t>2. Complaint and ATR</a:t>
            </a:r>
            <a:endParaRPr lang="en-US" sz="1500" dirty="0"/>
          </a:p>
        </p:txBody>
      </p:sp>
      <p:sp>
        <p:nvSpPr>
          <p:cNvPr id="13" name="Text 8"/>
          <p:cNvSpPr txBox="1"/>
          <p:nvPr/>
        </p:nvSpPr>
        <p:spPr>
          <a:xfrm>
            <a:off x="4303123" y="4956048"/>
            <a:ext cx="3566160" cy="1371600"/>
          </a:xfrm>
          <a:prstGeom prst="rect">
            <a:avLst/>
          </a:prstGeom>
          <a:noFill/>
          <a:ln/>
        </p:spPr>
        <p:txBody>
          <a:bodyPr wrap="square" lIns="0" tIns="0" rIns="0" bIns="0" rtlCol="0" anchor="t"/>
          <a:lstStyle/>
          <a:p>
            <a:pPr marL="0" indent="0">
              <a:buNone/>
            </a:pPr>
            <a:r>
              <a:rPr lang="en-US" sz="1200" dirty="0">
                <a:solidFill>
                  <a:schemeClr val="bg1"/>
                </a:solidFill>
                <a:latin typeface="Calibri" pitchFamily="34" charset="0"/>
                <a:ea typeface="Calibri" pitchFamily="34" charset="-122"/>
                <a:cs typeface="Calibri" pitchFamily="34" charset="-120"/>
              </a:rPr>
              <a:t>Student raises a complaint → stored, confirmation sent → warden views complaints → enters an ATR → complaint updated</a:t>
            </a:r>
            <a:endParaRPr lang="en-US" sz="1200" dirty="0">
              <a:solidFill>
                <a:schemeClr val="bg1"/>
              </a:solidFill>
            </a:endParaRPr>
          </a:p>
        </p:txBody>
      </p:sp>
      <p:sp>
        <p:nvSpPr>
          <p:cNvPr id="14" name="Shape 9"/>
          <p:cNvSpPr/>
          <p:nvPr/>
        </p:nvSpPr>
        <p:spPr>
          <a:xfrm>
            <a:off x="8328752" y="1335024"/>
            <a:ext cx="3002095" cy="3136392"/>
          </a:xfrm>
          <a:prstGeom prst="rect">
            <a:avLst/>
          </a:prstGeom>
          <a:solidFill>
            <a:srgbClr val="FFFFFF"/>
          </a:solidFill>
          <a:ln w="9525">
            <a:solidFill>
              <a:srgbClr val="C9D3DD"/>
            </a:solidFill>
            <a:prstDash val="solid"/>
          </a:ln>
          <a:effectLst>
            <a:outerShdw blurRad="76200" dist="25400" dir="5400000" algn="bl" rotWithShape="0">
              <a:srgbClr val="000000">
                <a:alpha val="15000"/>
              </a:srgbClr>
            </a:outerShdw>
          </a:effectLst>
        </p:spPr>
      </p:sp>
      <p:pic>
        <p:nvPicPr>
          <p:cNvPr id="15" name="Image 2" descr="C:\Users\Rahul\AppData\Local\Temp\claude\C--Users-Rahul-AppData-Roaming-Claude-scratch-workspaces-cdf4d821-eeb4-4a9a-a534-95f3e8b5ef5e-df7fd750-804c-4772-884a-1f73fe42c84d-scratch-2026-09-29-45a3c3\34671f05-19cf-43b2-b04e-0db0df211d26\scratchpad\deck\seq_dues.png"/>
          <p:cNvPicPr>
            <a:picLocks noChangeAspect="1"/>
          </p:cNvPicPr>
          <p:nvPr/>
        </p:nvPicPr>
        <p:blipFill>
          <a:blip r:embed="rId5"/>
          <a:stretch>
            <a:fillRect/>
          </a:stretch>
        </p:blipFill>
        <p:spPr>
          <a:xfrm>
            <a:off x="8365328" y="1371600"/>
            <a:ext cx="2928943" cy="3063240"/>
          </a:xfrm>
          <a:prstGeom prst="rect">
            <a:avLst/>
          </a:prstGeom>
        </p:spPr>
      </p:pic>
      <p:sp>
        <p:nvSpPr>
          <p:cNvPr id="16" name="Text 10"/>
          <p:cNvSpPr txBox="1"/>
          <p:nvPr/>
        </p:nvSpPr>
        <p:spPr>
          <a:xfrm>
            <a:off x="8046720" y="4617720"/>
            <a:ext cx="3566160" cy="320040"/>
          </a:xfrm>
          <a:prstGeom prst="rect">
            <a:avLst/>
          </a:prstGeom>
          <a:noFill/>
          <a:ln/>
        </p:spPr>
        <p:txBody>
          <a:bodyPr wrap="square" lIns="0" tIns="0" rIns="0" bIns="0" rtlCol="0" anchor="t"/>
          <a:lstStyle/>
          <a:p>
            <a:pPr marL="0" indent="0">
              <a:buNone/>
            </a:pPr>
            <a:r>
              <a:rPr lang="en-US" sz="1500" b="1" dirty="0">
                <a:solidFill>
                  <a:srgbClr val="1B2A41"/>
                </a:solidFill>
                <a:latin typeface="Calibri" pitchFamily="34" charset="0"/>
                <a:ea typeface="Calibri" pitchFamily="34" charset="-122"/>
                <a:cs typeface="Calibri" pitchFamily="34" charset="-120"/>
              </a:rPr>
              <a:t>3. Dues payment</a:t>
            </a:r>
            <a:endParaRPr lang="en-US" sz="1500" dirty="0"/>
          </a:p>
        </p:txBody>
      </p:sp>
      <p:sp>
        <p:nvSpPr>
          <p:cNvPr id="17" name="Text 11"/>
          <p:cNvSpPr txBox="1"/>
          <p:nvPr/>
        </p:nvSpPr>
        <p:spPr>
          <a:xfrm>
            <a:off x="8046720" y="4956048"/>
            <a:ext cx="3566160" cy="1371600"/>
          </a:xfrm>
          <a:prstGeom prst="rect">
            <a:avLst/>
          </a:prstGeom>
          <a:noFill/>
          <a:ln/>
        </p:spPr>
        <p:txBody>
          <a:bodyPr wrap="square" lIns="0" tIns="0" rIns="0" bIns="0" rtlCol="0" anchor="t"/>
          <a:lstStyle/>
          <a:p>
            <a:pPr marL="0" indent="0">
              <a:buNone/>
            </a:pPr>
            <a:r>
              <a:rPr lang="en-US" sz="1200" dirty="0">
                <a:solidFill>
                  <a:schemeClr val="bg1"/>
                </a:solidFill>
                <a:latin typeface="Calibri" pitchFamily="34" charset="0"/>
                <a:ea typeface="Calibri" pitchFamily="34" charset="-122"/>
                <a:cs typeface="Calibri" pitchFamily="34" charset="-120"/>
              </a:rPr>
              <a:t>Student requests dues → software fetches mess, amenity and rent → calculates the total → student pays → payment recorded</a:t>
            </a:r>
            <a:endParaRPr lang="en-US" sz="1200" dirty="0">
              <a:solidFill>
                <a:schemeClr val="bg1"/>
              </a:solidFill>
            </a:endParaRPr>
          </a:p>
        </p:txBody>
      </p:sp>
    </p:spTree>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300" dirty="0">
                <a:solidFill>
                  <a:srgbClr val="C8553D"/>
                </a:solidFill>
                <a:latin typeface="Calibri" pitchFamily="34" charset="0"/>
                <a:ea typeface="Calibri" pitchFamily="34" charset="-122"/>
                <a:cs typeface="Calibri" pitchFamily="34" charset="-120"/>
              </a:rPr>
              <a:t>ANALYSIS</a:t>
            </a:r>
            <a:endParaRPr lang="en-US" sz="1200" dirty="0"/>
          </a:p>
        </p:txBody>
      </p:sp>
      <p:sp>
        <p:nvSpPr>
          <p:cNvPr id="3" name="Text 1"/>
          <p:cNvSpPr txBox="1"/>
          <p:nvPr/>
        </p:nvSpPr>
        <p:spPr>
          <a:xfrm>
            <a:off x="548640" y="566928"/>
            <a:ext cx="11094415" cy="640080"/>
          </a:xfrm>
          <a:prstGeom prst="rect">
            <a:avLst/>
          </a:prstGeom>
          <a:noFill/>
          <a:ln/>
        </p:spPr>
        <p:txBody>
          <a:bodyPr wrap="square" lIns="0" tIns="0" rIns="0" bIns="0" rtlCol="0" anchor="ctr"/>
          <a:lstStyle/>
          <a:p>
            <a:pPr marL="0" indent="0">
              <a:buNone/>
            </a:pPr>
            <a:r>
              <a:rPr lang="en-US" sz="2800" b="1" dirty="0">
                <a:solidFill>
                  <a:srgbClr val="1B2A41"/>
                </a:solidFill>
                <a:latin typeface="Cambria" pitchFamily="34" charset="0"/>
                <a:ea typeface="Cambria" pitchFamily="34" charset="-122"/>
                <a:cs typeface="Cambria" pitchFamily="34" charset="-120"/>
              </a:rPr>
              <a:t>Data flow diagram (level 0)</a:t>
            </a:r>
            <a:endParaRPr lang="en-US" sz="2800" dirty="0"/>
          </a:p>
        </p:txBody>
      </p:sp>
      <p:sp>
        <p:nvSpPr>
          <p:cNvPr id="4" name="Text 2"/>
          <p:cNvSpPr txBox="1"/>
          <p:nvPr/>
        </p:nvSpPr>
        <p:spPr>
          <a:xfrm>
            <a:off x="11185855" y="6400800"/>
            <a:ext cx="457200" cy="274320"/>
          </a:xfrm>
          <a:prstGeom prst="rect">
            <a:avLst/>
          </a:prstGeom>
          <a:noFill/>
          <a:ln/>
        </p:spPr>
        <p:txBody>
          <a:bodyPr wrap="square" lIns="0" tIns="0" rIns="0" bIns="0" rtlCol="0" anchor="ctr"/>
          <a:lstStyle/>
          <a:p>
            <a:pPr marL="0" indent="0" algn="r">
              <a:buNone/>
            </a:pPr>
            <a:r>
              <a:rPr lang="en-US" sz="1000" dirty="0">
                <a:solidFill>
                  <a:srgbClr val="5B6B7B"/>
                </a:solidFill>
                <a:latin typeface="Calibri" pitchFamily="34" charset="0"/>
                <a:ea typeface="Calibri" pitchFamily="34" charset="-122"/>
                <a:cs typeface="Calibri" pitchFamily="34" charset="-120"/>
              </a:rPr>
              <a:t>9</a:t>
            </a:r>
            <a:endParaRPr lang="en-US" sz="1000" dirty="0"/>
          </a:p>
        </p:txBody>
      </p:sp>
      <p:sp>
        <p:nvSpPr>
          <p:cNvPr id="6" name="Shape 3"/>
          <p:cNvSpPr/>
          <p:nvPr/>
        </p:nvSpPr>
        <p:spPr>
          <a:xfrm>
            <a:off x="4727448" y="3063240"/>
            <a:ext cx="2743200" cy="1737360"/>
          </a:xfrm>
          <a:prstGeom prst="ellipse">
            <a:avLst/>
          </a:prstGeom>
          <a:solidFill>
            <a:srgbClr val="1B2A41"/>
          </a:solidFill>
          <a:ln w="12700">
            <a:solidFill>
              <a:srgbClr val="1B2A41"/>
            </a:solidFill>
            <a:prstDash val="solid"/>
          </a:ln>
        </p:spPr>
      </p:sp>
      <p:sp>
        <p:nvSpPr>
          <p:cNvPr id="7" name="Text 4"/>
          <p:cNvSpPr txBox="1"/>
          <p:nvPr/>
        </p:nvSpPr>
        <p:spPr>
          <a:xfrm>
            <a:off x="4818888" y="3246120"/>
            <a:ext cx="2560320" cy="13716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SAC Hostel</a:t>
            </a:r>
            <a:endParaRPr lang="en-US" sz="1600" dirty="0"/>
          </a:p>
          <a:p>
            <a:pPr marL="0" indent="0" algn="ctr">
              <a:buNone/>
            </a:pPr>
            <a:r>
              <a:rPr lang="en-US" sz="1600" b="1" dirty="0">
                <a:solidFill>
                  <a:srgbClr val="FFFFFF"/>
                </a:solidFill>
                <a:latin typeface="Calibri" pitchFamily="34" charset="0"/>
                <a:ea typeface="Calibri" pitchFamily="34" charset="-122"/>
                <a:cs typeface="Calibri" pitchFamily="34" charset="-120"/>
              </a:rPr>
              <a:t>Management</a:t>
            </a:r>
            <a:endParaRPr lang="en-US" sz="1600" dirty="0"/>
          </a:p>
          <a:p>
            <a:pPr marL="0" indent="0" algn="ctr">
              <a:buNone/>
            </a:pPr>
            <a:r>
              <a:rPr lang="en-US" sz="1600" b="1" dirty="0">
                <a:solidFill>
                  <a:srgbClr val="FFFFFF"/>
                </a:solidFill>
                <a:latin typeface="Calibri" pitchFamily="34" charset="0"/>
                <a:ea typeface="Calibri" pitchFamily="34" charset="-122"/>
                <a:cs typeface="Calibri" pitchFamily="34" charset="-120"/>
              </a:rPr>
              <a:t>System</a:t>
            </a:r>
            <a:endParaRPr lang="en-US" sz="1600" dirty="0"/>
          </a:p>
        </p:txBody>
      </p:sp>
      <p:sp>
        <p:nvSpPr>
          <p:cNvPr id="8" name="Shape 5"/>
          <p:cNvSpPr/>
          <p:nvPr/>
        </p:nvSpPr>
        <p:spPr>
          <a:xfrm>
            <a:off x="548640" y="1737360"/>
            <a:ext cx="2194560" cy="640080"/>
          </a:xfrm>
          <a:prstGeom prst="rect">
            <a:avLst/>
          </a:prstGeom>
          <a:solidFill>
            <a:srgbClr val="EEF2F6"/>
          </a:solidFill>
          <a:ln w="12700">
            <a:solidFill>
              <a:srgbClr val="2E4057"/>
            </a:solidFill>
            <a:prstDash val="solid"/>
          </a:ln>
        </p:spPr>
      </p:sp>
      <p:sp>
        <p:nvSpPr>
          <p:cNvPr id="9" name="Text 6"/>
          <p:cNvSpPr txBox="1"/>
          <p:nvPr/>
        </p:nvSpPr>
        <p:spPr>
          <a:xfrm>
            <a:off x="548640" y="1737360"/>
            <a:ext cx="2194560" cy="640080"/>
          </a:xfrm>
          <a:prstGeom prst="rect">
            <a:avLst/>
          </a:prstGeom>
          <a:noFill/>
          <a:ln/>
        </p:spPr>
        <p:txBody>
          <a:bodyPr wrap="square" lIns="0" tIns="0" rIns="0" bIns="0" rtlCol="0" anchor="ctr"/>
          <a:lstStyle/>
          <a:p>
            <a:pPr marL="0" indent="0" algn="ctr">
              <a:buNone/>
            </a:pPr>
            <a:r>
              <a:rPr lang="en-US" sz="1400" b="1" dirty="0">
                <a:solidFill>
                  <a:srgbClr val="1B2A41"/>
                </a:solidFill>
                <a:latin typeface="Calibri" pitchFamily="34" charset="0"/>
                <a:ea typeface="Calibri" pitchFamily="34" charset="-122"/>
                <a:cs typeface="Calibri" pitchFamily="34" charset="-120"/>
              </a:rPr>
              <a:t>Student</a:t>
            </a:r>
            <a:endParaRPr lang="en-US" sz="1400" dirty="0"/>
          </a:p>
        </p:txBody>
      </p:sp>
      <p:sp>
        <p:nvSpPr>
          <p:cNvPr id="10" name="Shape 7"/>
          <p:cNvSpPr/>
          <p:nvPr/>
        </p:nvSpPr>
        <p:spPr>
          <a:xfrm>
            <a:off x="2743200" y="1993392"/>
            <a:ext cx="2029968" cy="1417320"/>
          </a:xfrm>
          <a:prstGeom prst="line">
            <a:avLst/>
          </a:prstGeom>
          <a:noFill/>
          <a:ln w="15875">
            <a:solidFill>
              <a:srgbClr val="C8553D"/>
            </a:solidFill>
            <a:prstDash val="solid"/>
            <a:tailEnd type="triangle"/>
          </a:ln>
        </p:spPr>
      </p:sp>
      <p:sp>
        <p:nvSpPr>
          <p:cNvPr id="11" name="Shape 8"/>
          <p:cNvSpPr/>
          <p:nvPr/>
        </p:nvSpPr>
        <p:spPr>
          <a:xfrm flipH="1" flipV="1">
            <a:off x="2743200" y="2121408"/>
            <a:ext cx="2029968" cy="1417320"/>
          </a:xfrm>
          <a:prstGeom prst="line">
            <a:avLst/>
          </a:prstGeom>
          <a:noFill/>
          <a:ln w="15875">
            <a:solidFill>
              <a:srgbClr val="2A7F80"/>
            </a:solidFill>
            <a:prstDash val="solid"/>
            <a:tailEnd type="triangle"/>
          </a:ln>
        </p:spPr>
      </p:sp>
      <p:sp>
        <p:nvSpPr>
          <p:cNvPr id="12" name="Text 9"/>
          <p:cNvSpPr txBox="1"/>
          <p:nvPr/>
        </p:nvSpPr>
        <p:spPr>
          <a:xfrm>
            <a:off x="548640" y="1207008"/>
            <a:ext cx="2743200" cy="237744"/>
          </a:xfrm>
          <a:prstGeom prst="rect">
            <a:avLst/>
          </a:prstGeom>
          <a:noFill/>
          <a:ln/>
        </p:spPr>
        <p:txBody>
          <a:bodyPr wrap="square" lIns="0" tIns="0" rIns="0" bIns="0" rtlCol="0" anchor="t"/>
          <a:lstStyle/>
          <a:p>
            <a:pPr marL="0" indent="0" algn="l">
              <a:buNone/>
            </a:pPr>
            <a:r>
              <a:rPr lang="en-US" sz="1100" dirty="0">
                <a:solidFill>
                  <a:srgbClr val="C8553D"/>
                </a:solidFill>
                <a:latin typeface="Calibri" pitchFamily="34" charset="0"/>
                <a:ea typeface="Calibri" pitchFamily="34" charset="-122"/>
                <a:cs typeface="Calibri" pitchFamily="34" charset="-120"/>
              </a:rPr>
              <a:t>→ details, complaints, payment</a:t>
            </a:r>
            <a:endParaRPr lang="en-US" sz="1100" dirty="0"/>
          </a:p>
        </p:txBody>
      </p:sp>
      <p:sp>
        <p:nvSpPr>
          <p:cNvPr id="13" name="Text 10"/>
          <p:cNvSpPr txBox="1"/>
          <p:nvPr/>
        </p:nvSpPr>
        <p:spPr>
          <a:xfrm>
            <a:off x="548640" y="1435608"/>
            <a:ext cx="2743200" cy="237744"/>
          </a:xfrm>
          <a:prstGeom prst="rect">
            <a:avLst/>
          </a:prstGeom>
          <a:noFill/>
          <a:ln/>
        </p:spPr>
        <p:txBody>
          <a:bodyPr wrap="square" lIns="0" tIns="0" rIns="0" bIns="0" rtlCol="0" anchor="t"/>
          <a:lstStyle/>
          <a:p>
            <a:pPr marL="0" indent="0" algn="l">
              <a:buNone/>
            </a:pPr>
            <a:r>
              <a:rPr lang="en-US" sz="1100" dirty="0">
                <a:solidFill>
                  <a:srgbClr val="2A7F80"/>
                </a:solidFill>
                <a:latin typeface="Calibri" pitchFamily="34" charset="0"/>
                <a:ea typeface="Calibri" pitchFamily="34" charset="-122"/>
                <a:cs typeface="Calibri" pitchFamily="34" charset="-120"/>
              </a:rPr>
              <a:t>← letter, dues, ATR status</a:t>
            </a:r>
            <a:endParaRPr lang="en-US" sz="1100" dirty="0"/>
          </a:p>
        </p:txBody>
      </p:sp>
      <p:sp>
        <p:nvSpPr>
          <p:cNvPr id="14" name="Shape 11"/>
          <p:cNvSpPr/>
          <p:nvPr/>
        </p:nvSpPr>
        <p:spPr>
          <a:xfrm>
            <a:off x="548640" y="3611880"/>
            <a:ext cx="2194560" cy="640080"/>
          </a:xfrm>
          <a:prstGeom prst="rect">
            <a:avLst/>
          </a:prstGeom>
          <a:solidFill>
            <a:srgbClr val="EEF2F6"/>
          </a:solidFill>
          <a:ln w="12700">
            <a:solidFill>
              <a:srgbClr val="2E4057"/>
            </a:solidFill>
            <a:prstDash val="solid"/>
          </a:ln>
        </p:spPr>
      </p:sp>
      <p:sp>
        <p:nvSpPr>
          <p:cNvPr id="15" name="Text 12"/>
          <p:cNvSpPr txBox="1"/>
          <p:nvPr/>
        </p:nvSpPr>
        <p:spPr>
          <a:xfrm>
            <a:off x="548640" y="3611880"/>
            <a:ext cx="2194560" cy="640080"/>
          </a:xfrm>
          <a:prstGeom prst="rect">
            <a:avLst/>
          </a:prstGeom>
          <a:noFill/>
          <a:ln/>
        </p:spPr>
        <p:txBody>
          <a:bodyPr wrap="square" lIns="0" tIns="0" rIns="0" bIns="0" rtlCol="0" anchor="ctr"/>
          <a:lstStyle/>
          <a:p>
            <a:pPr marL="0" indent="0" algn="ctr">
              <a:buNone/>
            </a:pPr>
            <a:r>
              <a:rPr lang="en-US" sz="1400" b="1" dirty="0">
                <a:solidFill>
                  <a:srgbClr val="1B2A41"/>
                </a:solidFill>
                <a:latin typeface="Calibri" pitchFamily="34" charset="0"/>
                <a:ea typeface="Calibri" pitchFamily="34" charset="-122"/>
                <a:cs typeface="Calibri" pitchFamily="34" charset="-120"/>
              </a:rPr>
              <a:t>Clerk</a:t>
            </a:r>
            <a:endParaRPr lang="en-US" sz="1400" dirty="0"/>
          </a:p>
        </p:txBody>
      </p:sp>
      <p:sp>
        <p:nvSpPr>
          <p:cNvPr id="16" name="Shape 13"/>
          <p:cNvSpPr/>
          <p:nvPr/>
        </p:nvSpPr>
        <p:spPr>
          <a:xfrm>
            <a:off x="2743200" y="3867912"/>
            <a:ext cx="2029968" cy="914"/>
          </a:xfrm>
          <a:prstGeom prst="line">
            <a:avLst/>
          </a:prstGeom>
          <a:noFill/>
          <a:ln w="15875">
            <a:solidFill>
              <a:srgbClr val="C8553D"/>
            </a:solidFill>
            <a:prstDash val="solid"/>
            <a:tailEnd type="triangle"/>
          </a:ln>
        </p:spPr>
      </p:sp>
      <p:sp>
        <p:nvSpPr>
          <p:cNvPr id="17" name="Shape 14"/>
          <p:cNvSpPr/>
          <p:nvPr/>
        </p:nvSpPr>
        <p:spPr>
          <a:xfrm flipH="1">
            <a:off x="2743200" y="3995928"/>
            <a:ext cx="2029968" cy="914"/>
          </a:xfrm>
          <a:prstGeom prst="line">
            <a:avLst/>
          </a:prstGeom>
          <a:noFill/>
          <a:ln w="15875">
            <a:solidFill>
              <a:srgbClr val="2A7F80"/>
            </a:solidFill>
            <a:prstDash val="solid"/>
            <a:tailEnd type="triangle"/>
          </a:ln>
        </p:spPr>
      </p:sp>
      <p:sp>
        <p:nvSpPr>
          <p:cNvPr id="18" name="Text 15"/>
          <p:cNvSpPr txBox="1"/>
          <p:nvPr/>
        </p:nvSpPr>
        <p:spPr>
          <a:xfrm>
            <a:off x="548640" y="4325112"/>
            <a:ext cx="2743200" cy="237744"/>
          </a:xfrm>
          <a:prstGeom prst="rect">
            <a:avLst/>
          </a:prstGeom>
          <a:noFill/>
          <a:ln/>
        </p:spPr>
        <p:txBody>
          <a:bodyPr wrap="square" lIns="0" tIns="0" rIns="0" bIns="0" rtlCol="0" anchor="t"/>
          <a:lstStyle/>
          <a:p>
            <a:pPr marL="0" indent="0" algn="l">
              <a:buNone/>
            </a:pPr>
            <a:r>
              <a:rPr lang="en-US" sz="1100" dirty="0">
                <a:solidFill>
                  <a:srgbClr val="C8553D"/>
                </a:solidFill>
                <a:latin typeface="Calibri" pitchFamily="34" charset="0"/>
                <a:ea typeface="Calibri" pitchFamily="34" charset="-122"/>
                <a:cs typeface="Calibri" pitchFamily="34" charset="-120"/>
              </a:rPr>
              <a:t>→ admission, staff, leave</a:t>
            </a:r>
            <a:endParaRPr lang="en-US" sz="1100" dirty="0"/>
          </a:p>
        </p:txBody>
      </p:sp>
      <p:sp>
        <p:nvSpPr>
          <p:cNvPr id="19" name="Text 16"/>
          <p:cNvSpPr txBox="1"/>
          <p:nvPr/>
        </p:nvSpPr>
        <p:spPr>
          <a:xfrm>
            <a:off x="548640" y="4553712"/>
            <a:ext cx="2743200" cy="237744"/>
          </a:xfrm>
          <a:prstGeom prst="rect">
            <a:avLst/>
          </a:prstGeom>
          <a:noFill/>
          <a:ln/>
        </p:spPr>
        <p:txBody>
          <a:bodyPr wrap="square" lIns="0" tIns="0" rIns="0" bIns="0" rtlCol="0" anchor="t"/>
          <a:lstStyle/>
          <a:p>
            <a:pPr marL="0" indent="0" algn="l">
              <a:buNone/>
            </a:pPr>
            <a:r>
              <a:rPr lang="en-US" sz="1100" dirty="0">
                <a:solidFill>
                  <a:srgbClr val="2A7F80"/>
                </a:solidFill>
                <a:latin typeface="Calibri" pitchFamily="34" charset="0"/>
                <a:ea typeface="Calibri" pitchFamily="34" charset="-122"/>
                <a:cs typeface="Calibri" pitchFamily="34" charset="-120"/>
              </a:rPr>
              <a:t>← rooms, salary list</a:t>
            </a:r>
            <a:endParaRPr lang="en-US" sz="1100" dirty="0"/>
          </a:p>
        </p:txBody>
      </p:sp>
      <p:sp>
        <p:nvSpPr>
          <p:cNvPr id="20" name="Shape 17"/>
          <p:cNvSpPr/>
          <p:nvPr/>
        </p:nvSpPr>
        <p:spPr>
          <a:xfrm>
            <a:off x="548640" y="5486400"/>
            <a:ext cx="2194560" cy="640080"/>
          </a:xfrm>
          <a:prstGeom prst="rect">
            <a:avLst/>
          </a:prstGeom>
          <a:solidFill>
            <a:srgbClr val="EEF2F6"/>
          </a:solidFill>
          <a:ln w="12700">
            <a:solidFill>
              <a:srgbClr val="2E4057"/>
            </a:solidFill>
            <a:prstDash val="solid"/>
          </a:ln>
        </p:spPr>
      </p:sp>
      <p:sp>
        <p:nvSpPr>
          <p:cNvPr id="21" name="Text 18"/>
          <p:cNvSpPr txBox="1"/>
          <p:nvPr/>
        </p:nvSpPr>
        <p:spPr>
          <a:xfrm>
            <a:off x="548640" y="5486400"/>
            <a:ext cx="2194560" cy="640080"/>
          </a:xfrm>
          <a:prstGeom prst="rect">
            <a:avLst/>
          </a:prstGeom>
          <a:noFill/>
          <a:ln/>
        </p:spPr>
        <p:txBody>
          <a:bodyPr wrap="square" lIns="0" tIns="0" rIns="0" bIns="0" rtlCol="0" anchor="ctr"/>
          <a:lstStyle/>
          <a:p>
            <a:pPr marL="0" indent="0" algn="ctr">
              <a:buNone/>
            </a:pPr>
            <a:r>
              <a:rPr lang="en-US" sz="1400" b="1" dirty="0">
                <a:solidFill>
                  <a:srgbClr val="1B2A41"/>
                </a:solidFill>
                <a:latin typeface="Calibri" pitchFamily="34" charset="0"/>
                <a:ea typeface="Calibri" pitchFamily="34" charset="-122"/>
                <a:cs typeface="Calibri" pitchFamily="34" charset="-120"/>
              </a:rPr>
              <a:t>Mess Manager</a:t>
            </a:r>
            <a:endParaRPr lang="en-US" sz="1400" dirty="0"/>
          </a:p>
        </p:txBody>
      </p:sp>
      <p:sp>
        <p:nvSpPr>
          <p:cNvPr id="22" name="Shape 19"/>
          <p:cNvSpPr/>
          <p:nvPr/>
        </p:nvSpPr>
        <p:spPr>
          <a:xfrm flipV="1">
            <a:off x="2743200" y="4325112"/>
            <a:ext cx="2029968" cy="1417320"/>
          </a:xfrm>
          <a:prstGeom prst="line">
            <a:avLst/>
          </a:prstGeom>
          <a:noFill/>
          <a:ln w="15875">
            <a:solidFill>
              <a:srgbClr val="C8553D"/>
            </a:solidFill>
            <a:prstDash val="solid"/>
            <a:tailEnd type="triangle"/>
          </a:ln>
        </p:spPr>
      </p:sp>
      <p:sp>
        <p:nvSpPr>
          <p:cNvPr id="23" name="Shape 20"/>
          <p:cNvSpPr/>
          <p:nvPr/>
        </p:nvSpPr>
        <p:spPr>
          <a:xfrm flipH="1">
            <a:off x="2743200" y="4453128"/>
            <a:ext cx="2029968" cy="1417320"/>
          </a:xfrm>
          <a:prstGeom prst="line">
            <a:avLst/>
          </a:prstGeom>
          <a:noFill/>
          <a:ln w="15875">
            <a:solidFill>
              <a:srgbClr val="2A7F80"/>
            </a:solidFill>
            <a:prstDash val="solid"/>
            <a:tailEnd type="triangle"/>
          </a:ln>
        </p:spPr>
      </p:sp>
      <p:sp>
        <p:nvSpPr>
          <p:cNvPr id="24" name="Text 21"/>
          <p:cNvSpPr txBox="1"/>
          <p:nvPr/>
        </p:nvSpPr>
        <p:spPr>
          <a:xfrm>
            <a:off x="548640" y="4956048"/>
            <a:ext cx="2743200" cy="237744"/>
          </a:xfrm>
          <a:prstGeom prst="rect">
            <a:avLst/>
          </a:prstGeom>
          <a:noFill/>
          <a:ln/>
        </p:spPr>
        <p:txBody>
          <a:bodyPr wrap="square" lIns="0" tIns="0" rIns="0" bIns="0" rtlCol="0" anchor="t"/>
          <a:lstStyle/>
          <a:p>
            <a:pPr marL="0" indent="0" algn="l">
              <a:buNone/>
            </a:pPr>
            <a:r>
              <a:rPr lang="en-US" sz="1100" dirty="0">
                <a:solidFill>
                  <a:srgbClr val="C8553D"/>
                </a:solidFill>
                <a:latin typeface="Calibri" pitchFamily="34" charset="0"/>
                <a:ea typeface="Calibri" pitchFamily="34" charset="-122"/>
                <a:cs typeface="Calibri" pitchFamily="34" charset="-120"/>
              </a:rPr>
              <a:t>→ monthly mess charges</a:t>
            </a:r>
            <a:endParaRPr lang="en-US" sz="1100" dirty="0"/>
          </a:p>
        </p:txBody>
      </p:sp>
      <p:sp>
        <p:nvSpPr>
          <p:cNvPr id="25" name="Text 22"/>
          <p:cNvSpPr txBox="1"/>
          <p:nvPr/>
        </p:nvSpPr>
        <p:spPr>
          <a:xfrm>
            <a:off x="548640" y="5184648"/>
            <a:ext cx="2743200" cy="237744"/>
          </a:xfrm>
          <a:prstGeom prst="rect">
            <a:avLst/>
          </a:prstGeom>
          <a:noFill/>
          <a:ln/>
        </p:spPr>
        <p:txBody>
          <a:bodyPr wrap="square" lIns="0" tIns="0" rIns="0" bIns="0" rtlCol="0" anchor="t"/>
          <a:lstStyle/>
          <a:p>
            <a:pPr marL="0" indent="0" algn="l">
              <a:buNone/>
            </a:pPr>
            <a:r>
              <a:rPr lang="en-US" sz="1100" dirty="0">
                <a:solidFill>
                  <a:srgbClr val="2A7F80"/>
                </a:solidFill>
                <a:latin typeface="Calibri" pitchFamily="34" charset="0"/>
                <a:ea typeface="Calibri" pitchFamily="34" charset="-122"/>
                <a:cs typeface="Calibri" pitchFamily="34" charset="-120"/>
              </a:rPr>
              <a:t>← mess cheque</a:t>
            </a:r>
            <a:endParaRPr lang="en-US" sz="1100" dirty="0"/>
          </a:p>
        </p:txBody>
      </p:sp>
      <p:sp>
        <p:nvSpPr>
          <p:cNvPr id="26" name="Shape 23"/>
          <p:cNvSpPr/>
          <p:nvPr/>
        </p:nvSpPr>
        <p:spPr>
          <a:xfrm>
            <a:off x="9445752" y="1737360"/>
            <a:ext cx="2194560" cy="640080"/>
          </a:xfrm>
          <a:prstGeom prst="rect">
            <a:avLst/>
          </a:prstGeom>
          <a:solidFill>
            <a:srgbClr val="EEF2F6"/>
          </a:solidFill>
          <a:ln w="12700">
            <a:solidFill>
              <a:srgbClr val="2E4057"/>
            </a:solidFill>
            <a:prstDash val="solid"/>
          </a:ln>
        </p:spPr>
      </p:sp>
      <p:sp>
        <p:nvSpPr>
          <p:cNvPr id="27" name="Text 24"/>
          <p:cNvSpPr txBox="1"/>
          <p:nvPr/>
        </p:nvSpPr>
        <p:spPr>
          <a:xfrm>
            <a:off x="9445752" y="1737360"/>
            <a:ext cx="2194560" cy="640080"/>
          </a:xfrm>
          <a:prstGeom prst="rect">
            <a:avLst/>
          </a:prstGeom>
          <a:noFill/>
          <a:ln/>
        </p:spPr>
        <p:txBody>
          <a:bodyPr wrap="square" lIns="0" tIns="0" rIns="0" bIns="0" rtlCol="0" anchor="ctr"/>
          <a:lstStyle/>
          <a:p>
            <a:pPr marL="0" indent="0" algn="ctr">
              <a:buNone/>
            </a:pPr>
            <a:r>
              <a:rPr lang="en-US" sz="1400" b="1" dirty="0">
                <a:solidFill>
                  <a:srgbClr val="1B2A41"/>
                </a:solidFill>
                <a:latin typeface="Calibri" pitchFamily="34" charset="0"/>
                <a:ea typeface="Calibri" pitchFamily="34" charset="-122"/>
                <a:cs typeface="Calibri" pitchFamily="34" charset="-120"/>
              </a:rPr>
              <a:t>Warden</a:t>
            </a:r>
            <a:endParaRPr lang="en-US" sz="1400" dirty="0"/>
          </a:p>
        </p:txBody>
      </p:sp>
      <p:sp>
        <p:nvSpPr>
          <p:cNvPr id="28" name="Shape 25"/>
          <p:cNvSpPr/>
          <p:nvPr/>
        </p:nvSpPr>
        <p:spPr>
          <a:xfrm flipH="1">
            <a:off x="7424928" y="1993392"/>
            <a:ext cx="2020824" cy="1417320"/>
          </a:xfrm>
          <a:prstGeom prst="line">
            <a:avLst/>
          </a:prstGeom>
          <a:noFill/>
          <a:ln w="15875">
            <a:solidFill>
              <a:srgbClr val="C8553D"/>
            </a:solidFill>
            <a:prstDash val="solid"/>
            <a:tailEnd type="triangle"/>
          </a:ln>
        </p:spPr>
      </p:sp>
      <p:sp>
        <p:nvSpPr>
          <p:cNvPr id="29" name="Shape 26"/>
          <p:cNvSpPr/>
          <p:nvPr/>
        </p:nvSpPr>
        <p:spPr>
          <a:xfrm flipV="1">
            <a:off x="7424928" y="2121408"/>
            <a:ext cx="2020824" cy="1417320"/>
          </a:xfrm>
          <a:prstGeom prst="line">
            <a:avLst/>
          </a:prstGeom>
          <a:noFill/>
          <a:ln w="15875">
            <a:solidFill>
              <a:srgbClr val="2A7F80"/>
            </a:solidFill>
            <a:prstDash val="solid"/>
            <a:tailEnd type="triangle"/>
          </a:ln>
        </p:spPr>
      </p:sp>
      <p:sp>
        <p:nvSpPr>
          <p:cNvPr id="30" name="Text 27"/>
          <p:cNvSpPr txBox="1"/>
          <p:nvPr/>
        </p:nvSpPr>
        <p:spPr>
          <a:xfrm>
            <a:off x="8897112" y="1207008"/>
            <a:ext cx="2743200" cy="237744"/>
          </a:xfrm>
          <a:prstGeom prst="rect">
            <a:avLst/>
          </a:prstGeom>
          <a:noFill/>
          <a:ln/>
        </p:spPr>
        <p:txBody>
          <a:bodyPr wrap="square" lIns="0" tIns="0" rIns="0" bIns="0" rtlCol="0" anchor="t"/>
          <a:lstStyle/>
          <a:p>
            <a:pPr marL="0" indent="0" algn="r">
              <a:buNone/>
            </a:pPr>
            <a:r>
              <a:rPr lang="en-US" sz="1100" dirty="0">
                <a:solidFill>
                  <a:srgbClr val="C8553D"/>
                </a:solidFill>
                <a:latin typeface="Calibri" pitchFamily="34" charset="0"/>
                <a:ea typeface="Calibri" pitchFamily="34" charset="-122"/>
                <a:cs typeface="Calibri" pitchFamily="34" charset="-120"/>
              </a:rPr>
              <a:t>→ ATR, expenditure</a:t>
            </a:r>
            <a:endParaRPr lang="en-US" sz="1100" dirty="0"/>
          </a:p>
        </p:txBody>
      </p:sp>
      <p:sp>
        <p:nvSpPr>
          <p:cNvPr id="31" name="Text 28"/>
          <p:cNvSpPr txBox="1"/>
          <p:nvPr/>
        </p:nvSpPr>
        <p:spPr>
          <a:xfrm>
            <a:off x="8897112" y="1435608"/>
            <a:ext cx="2743200" cy="237744"/>
          </a:xfrm>
          <a:prstGeom prst="rect">
            <a:avLst/>
          </a:prstGeom>
          <a:noFill/>
          <a:ln/>
        </p:spPr>
        <p:txBody>
          <a:bodyPr wrap="square" lIns="0" tIns="0" rIns="0" bIns="0" rtlCol="0" anchor="t"/>
          <a:lstStyle/>
          <a:p>
            <a:pPr marL="0" indent="0" algn="r">
              <a:buNone/>
            </a:pPr>
            <a:r>
              <a:rPr lang="en-US" sz="1100" dirty="0">
                <a:solidFill>
                  <a:srgbClr val="2A7F80"/>
                </a:solidFill>
                <a:latin typeface="Calibri" pitchFamily="34" charset="0"/>
                <a:ea typeface="Calibri" pitchFamily="34" charset="-122"/>
                <a:cs typeface="Calibri" pitchFamily="34" charset="-120"/>
              </a:rPr>
              <a:t>← complaints, statement</a:t>
            </a:r>
            <a:endParaRPr lang="en-US" sz="1100" dirty="0"/>
          </a:p>
        </p:txBody>
      </p:sp>
      <p:sp>
        <p:nvSpPr>
          <p:cNvPr id="32" name="Shape 29"/>
          <p:cNvSpPr/>
          <p:nvPr/>
        </p:nvSpPr>
        <p:spPr>
          <a:xfrm>
            <a:off x="9445752" y="3611880"/>
            <a:ext cx="2194560" cy="640080"/>
          </a:xfrm>
          <a:prstGeom prst="rect">
            <a:avLst/>
          </a:prstGeom>
          <a:solidFill>
            <a:srgbClr val="EEF2F6"/>
          </a:solidFill>
          <a:ln w="12700">
            <a:solidFill>
              <a:srgbClr val="2E4057"/>
            </a:solidFill>
            <a:prstDash val="solid"/>
          </a:ln>
        </p:spPr>
      </p:sp>
      <p:sp>
        <p:nvSpPr>
          <p:cNvPr id="33" name="Text 30"/>
          <p:cNvSpPr txBox="1"/>
          <p:nvPr/>
        </p:nvSpPr>
        <p:spPr>
          <a:xfrm>
            <a:off x="9445752" y="3611880"/>
            <a:ext cx="2194560" cy="640080"/>
          </a:xfrm>
          <a:prstGeom prst="rect">
            <a:avLst/>
          </a:prstGeom>
          <a:noFill/>
          <a:ln/>
        </p:spPr>
        <p:txBody>
          <a:bodyPr wrap="square" lIns="0" tIns="0" rIns="0" bIns="0" rtlCol="0" anchor="ctr"/>
          <a:lstStyle/>
          <a:p>
            <a:pPr marL="0" indent="0" algn="ctr">
              <a:buNone/>
            </a:pPr>
            <a:r>
              <a:rPr lang="en-US" sz="1400" b="1" dirty="0">
                <a:solidFill>
                  <a:srgbClr val="1B2A41"/>
                </a:solidFill>
                <a:latin typeface="Calibri" pitchFamily="34" charset="0"/>
                <a:ea typeface="Calibri" pitchFamily="34" charset="-122"/>
                <a:cs typeface="Calibri" pitchFamily="34" charset="-120"/>
              </a:rPr>
              <a:t>Dean</a:t>
            </a:r>
            <a:endParaRPr lang="en-US" sz="1400" dirty="0"/>
          </a:p>
        </p:txBody>
      </p:sp>
      <p:sp>
        <p:nvSpPr>
          <p:cNvPr id="34" name="Shape 31"/>
          <p:cNvSpPr/>
          <p:nvPr/>
        </p:nvSpPr>
        <p:spPr>
          <a:xfrm flipH="1">
            <a:off x="7424928" y="3867912"/>
            <a:ext cx="2020824" cy="914"/>
          </a:xfrm>
          <a:prstGeom prst="line">
            <a:avLst/>
          </a:prstGeom>
          <a:noFill/>
          <a:ln w="15875">
            <a:solidFill>
              <a:srgbClr val="C8553D"/>
            </a:solidFill>
            <a:prstDash val="solid"/>
            <a:tailEnd type="triangle"/>
          </a:ln>
        </p:spPr>
      </p:sp>
      <p:sp>
        <p:nvSpPr>
          <p:cNvPr id="35" name="Shape 32"/>
          <p:cNvSpPr/>
          <p:nvPr/>
        </p:nvSpPr>
        <p:spPr>
          <a:xfrm>
            <a:off x="7424928" y="3995928"/>
            <a:ext cx="2020824" cy="914"/>
          </a:xfrm>
          <a:prstGeom prst="line">
            <a:avLst/>
          </a:prstGeom>
          <a:noFill/>
          <a:ln w="15875">
            <a:solidFill>
              <a:srgbClr val="2A7F80"/>
            </a:solidFill>
            <a:prstDash val="solid"/>
            <a:tailEnd type="triangle"/>
          </a:ln>
        </p:spPr>
      </p:sp>
      <p:sp>
        <p:nvSpPr>
          <p:cNvPr id="36" name="Text 33"/>
          <p:cNvSpPr txBox="1"/>
          <p:nvPr/>
        </p:nvSpPr>
        <p:spPr>
          <a:xfrm>
            <a:off x="8897112" y="4325112"/>
            <a:ext cx="2743200" cy="237744"/>
          </a:xfrm>
          <a:prstGeom prst="rect">
            <a:avLst/>
          </a:prstGeom>
          <a:noFill/>
          <a:ln/>
        </p:spPr>
        <p:txBody>
          <a:bodyPr wrap="square" lIns="0" tIns="0" rIns="0" bIns="0" rtlCol="0" anchor="t"/>
          <a:lstStyle/>
          <a:p>
            <a:pPr marL="0" indent="0" algn="r">
              <a:buNone/>
            </a:pPr>
            <a:r>
              <a:rPr lang="en-US" sz="1100" dirty="0">
                <a:solidFill>
                  <a:srgbClr val="C8553D"/>
                </a:solidFill>
                <a:latin typeface="Calibri" pitchFamily="34" charset="0"/>
                <a:ea typeface="Calibri" pitchFamily="34" charset="-122"/>
                <a:cs typeface="Calibri" pitchFamily="34" charset="-120"/>
              </a:rPr>
              <a:t>→ occupancy request</a:t>
            </a:r>
            <a:endParaRPr lang="en-US" sz="1100" dirty="0"/>
          </a:p>
        </p:txBody>
      </p:sp>
      <p:sp>
        <p:nvSpPr>
          <p:cNvPr id="37" name="Text 34"/>
          <p:cNvSpPr txBox="1"/>
          <p:nvPr/>
        </p:nvSpPr>
        <p:spPr>
          <a:xfrm>
            <a:off x="8897112" y="4553712"/>
            <a:ext cx="2743200" cy="237744"/>
          </a:xfrm>
          <a:prstGeom prst="rect">
            <a:avLst/>
          </a:prstGeom>
          <a:noFill/>
          <a:ln/>
        </p:spPr>
        <p:txBody>
          <a:bodyPr wrap="square" lIns="0" tIns="0" rIns="0" bIns="0" rtlCol="0" anchor="t"/>
          <a:lstStyle/>
          <a:p>
            <a:pPr marL="0" indent="0" algn="r">
              <a:buNone/>
            </a:pPr>
            <a:r>
              <a:rPr lang="en-US" sz="1100" dirty="0">
                <a:solidFill>
                  <a:srgbClr val="2A7F80"/>
                </a:solidFill>
                <a:latin typeface="Calibri" pitchFamily="34" charset="0"/>
                <a:ea typeface="Calibri" pitchFamily="34" charset="-122"/>
                <a:cs typeface="Calibri" pitchFamily="34" charset="-120"/>
              </a:rPr>
              <a:t>← overall occupancy</a:t>
            </a:r>
            <a:endParaRPr lang="en-US" sz="1100" dirty="0"/>
          </a:p>
        </p:txBody>
      </p:sp>
      <p:sp>
        <p:nvSpPr>
          <p:cNvPr id="38" name="Shape 35"/>
          <p:cNvSpPr/>
          <p:nvPr/>
        </p:nvSpPr>
        <p:spPr>
          <a:xfrm>
            <a:off x="9445752" y="5486400"/>
            <a:ext cx="2194560" cy="640080"/>
          </a:xfrm>
          <a:prstGeom prst="rect">
            <a:avLst/>
          </a:prstGeom>
          <a:solidFill>
            <a:srgbClr val="EEF2F6"/>
          </a:solidFill>
          <a:ln w="12700">
            <a:solidFill>
              <a:srgbClr val="2E4057"/>
            </a:solidFill>
            <a:prstDash val="solid"/>
          </a:ln>
        </p:spPr>
      </p:sp>
      <p:sp>
        <p:nvSpPr>
          <p:cNvPr id="39" name="Text 36"/>
          <p:cNvSpPr txBox="1"/>
          <p:nvPr/>
        </p:nvSpPr>
        <p:spPr>
          <a:xfrm>
            <a:off x="9445752" y="5486400"/>
            <a:ext cx="2194560" cy="640080"/>
          </a:xfrm>
          <a:prstGeom prst="rect">
            <a:avLst/>
          </a:prstGeom>
          <a:noFill/>
          <a:ln/>
        </p:spPr>
        <p:txBody>
          <a:bodyPr wrap="square" lIns="0" tIns="0" rIns="0" bIns="0" rtlCol="0" anchor="ctr"/>
          <a:lstStyle/>
          <a:p>
            <a:pPr marL="0" indent="0" algn="ctr">
              <a:buNone/>
            </a:pPr>
            <a:r>
              <a:rPr lang="en-US" sz="1400" b="1" dirty="0">
                <a:solidFill>
                  <a:srgbClr val="1B2A41"/>
                </a:solidFill>
                <a:latin typeface="Calibri" pitchFamily="34" charset="0"/>
                <a:ea typeface="Calibri" pitchFamily="34" charset="-122"/>
                <a:cs typeface="Calibri" pitchFamily="34" charset="-120"/>
              </a:rPr>
              <a:t>SAC Chairman</a:t>
            </a:r>
            <a:endParaRPr lang="en-US" sz="1400" dirty="0"/>
          </a:p>
        </p:txBody>
      </p:sp>
      <p:sp>
        <p:nvSpPr>
          <p:cNvPr id="40" name="Shape 37"/>
          <p:cNvSpPr/>
          <p:nvPr/>
        </p:nvSpPr>
        <p:spPr>
          <a:xfrm flipH="1" flipV="1">
            <a:off x="7424928" y="4325112"/>
            <a:ext cx="2020824" cy="1417320"/>
          </a:xfrm>
          <a:prstGeom prst="line">
            <a:avLst/>
          </a:prstGeom>
          <a:noFill/>
          <a:ln w="15875">
            <a:solidFill>
              <a:srgbClr val="C8553D"/>
            </a:solidFill>
            <a:prstDash val="solid"/>
            <a:tailEnd type="triangle"/>
          </a:ln>
        </p:spPr>
      </p:sp>
      <p:sp>
        <p:nvSpPr>
          <p:cNvPr id="41" name="Shape 38"/>
          <p:cNvSpPr/>
          <p:nvPr/>
        </p:nvSpPr>
        <p:spPr>
          <a:xfrm>
            <a:off x="7424928" y="4453128"/>
            <a:ext cx="2020824" cy="1417320"/>
          </a:xfrm>
          <a:prstGeom prst="line">
            <a:avLst/>
          </a:prstGeom>
          <a:noFill/>
          <a:ln w="15875">
            <a:solidFill>
              <a:srgbClr val="2A7F80"/>
            </a:solidFill>
            <a:prstDash val="solid"/>
            <a:tailEnd type="triangle"/>
          </a:ln>
        </p:spPr>
      </p:sp>
      <p:sp>
        <p:nvSpPr>
          <p:cNvPr id="42" name="Text 39"/>
          <p:cNvSpPr txBox="1"/>
          <p:nvPr/>
        </p:nvSpPr>
        <p:spPr>
          <a:xfrm>
            <a:off x="8897112" y="4956048"/>
            <a:ext cx="2743200" cy="237744"/>
          </a:xfrm>
          <a:prstGeom prst="rect">
            <a:avLst/>
          </a:prstGeom>
          <a:noFill/>
          <a:ln/>
        </p:spPr>
        <p:txBody>
          <a:bodyPr wrap="square" lIns="0" tIns="0" rIns="0" bIns="0" rtlCol="0" anchor="t"/>
          <a:lstStyle/>
          <a:p>
            <a:pPr marL="0" indent="0" algn="r">
              <a:buNone/>
            </a:pPr>
            <a:r>
              <a:rPr lang="en-US" sz="1100" dirty="0">
                <a:solidFill>
                  <a:srgbClr val="C8553D"/>
                </a:solidFill>
                <a:latin typeface="Calibri" pitchFamily="34" charset="0"/>
                <a:ea typeface="Calibri" pitchFamily="34" charset="-122"/>
                <a:cs typeface="Calibri" pitchFamily="34" charset="-120"/>
              </a:rPr>
              <a:t>→ grant, allocations</a:t>
            </a:r>
            <a:endParaRPr lang="en-US" sz="1100" dirty="0"/>
          </a:p>
        </p:txBody>
      </p:sp>
      <p:sp>
        <p:nvSpPr>
          <p:cNvPr id="43" name="Text 40"/>
          <p:cNvSpPr txBox="1"/>
          <p:nvPr/>
        </p:nvSpPr>
        <p:spPr>
          <a:xfrm>
            <a:off x="8897112" y="5184648"/>
            <a:ext cx="2743200" cy="237744"/>
          </a:xfrm>
          <a:prstGeom prst="rect">
            <a:avLst/>
          </a:prstGeom>
          <a:noFill/>
          <a:ln/>
        </p:spPr>
        <p:txBody>
          <a:bodyPr wrap="square" lIns="0" tIns="0" rIns="0" bIns="0" rtlCol="0" anchor="t"/>
          <a:lstStyle/>
          <a:p>
            <a:pPr marL="0" indent="0" algn="r">
              <a:buNone/>
            </a:pPr>
            <a:r>
              <a:rPr lang="en-US" sz="1100" dirty="0">
                <a:solidFill>
                  <a:srgbClr val="2A7F80"/>
                </a:solidFill>
                <a:latin typeface="Calibri" pitchFamily="34" charset="0"/>
                <a:ea typeface="Calibri" pitchFamily="34" charset="-122"/>
                <a:cs typeface="Calibri" pitchFamily="34" charset="-120"/>
              </a:rPr>
              <a:t>← mess sheet, accounts</a:t>
            </a:r>
            <a:endParaRPr lang="en-US" sz="1100" dirty="0"/>
          </a:p>
        </p:txBody>
      </p:sp>
      <p:sp>
        <p:nvSpPr>
          <p:cNvPr id="44" name="Text 41"/>
          <p:cNvSpPr txBox="1"/>
          <p:nvPr/>
        </p:nvSpPr>
        <p:spPr>
          <a:xfrm>
            <a:off x="3355848" y="1325880"/>
            <a:ext cx="5486400" cy="274320"/>
          </a:xfrm>
          <a:prstGeom prst="rect">
            <a:avLst/>
          </a:prstGeom>
          <a:noFill/>
          <a:ln/>
        </p:spPr>
        <p:txBody>
          <a:bodyPr wrap="square" lIns="0" tIns="0" rIns="0" bIns="0" rtlCol="0" anchor="t"/>
          <a:lstStyle/>
          <a:p>
            <a:pPr marL="0" indent="0" algn="ctr">
              <a:buNone/>
            </a:pPr>
            <a:r>
              <a:rPr lang="en-US" sz="1200" i="1" dirty="0">
                <a:solidFill>
                  <a:srgbClr val="5B6B7B"/>
                </a:solidFill>
                <a:latin typeface="Calibri" pitchFamily="34" charset="0"/>
                <a:ea typeface="Calibri" pitchFamily="34" charset="-122"/>
                <a:cs typeface="Calibri" pitchFamily="34" charset="-120"/>
              </a:rPr>
              <a:t>Red arrows: data into the system · Teal arrows: information out of the system</a:t>
            </a:r>
            <a:endParaRPr lang="en-US" sz="1200" dirty="0"/>
          </a:p>
        </p:txBody>
      </p:sp>
    </p:spTree>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300" dirty="0">
                <a:solidFill>
                  <a:srgbClr val="C8553D"/>
                </a:solidFill>
                <a:latin typeface="Calibri" pitchFamily="34" charset="0"/>
                <a:ea typeface="Calibri" pitchFamily="34" charset="-122"/>
                <a:cs typeface="Calibri" pitchFamily="34" charset="-120"/>
              </a:rPr>
              <a:t>IMPLEMENTATION</a:t>
            </a:r>
            <a:endParaRPr lang="en-US" sz="1200" dirty="0"/>
          </a:p>
        </p:txBody>
      </p:sp>
      <p:sp>
        <p:nvSpPr>
          <p:cNvPr id="3" name="Text 1"/>
          <p:cNvSpPr txBox="1"/>
          <p:nvPr/>
        </p:nvSpPr>
        <p:spPr>
          <a:xfrm>
            <a:off x="548640" y="566928"/>
            <a:ext cx="11094415" cy="640080"/>
          </a:xfrm>
          <a:prstGeom prst="rect">
            <a:avLst/>
          </a:prstGeom>
          <a:noFill/>
          <a:ln/>
        </p:spPr>
        <p:txBody>
          <a:bodyPr wrap="square" lIns="0" tIns="0" rIns="0" bIns="0" rtlCol="0" anchor="ctr"/>
          <a:lstStyle/>
          <a:p>
            <a:pPr marL="0" indent="0">
              <a:buNone/>
            </a:pPr>
            <a:r>
              <a:rPr lang="en-US" sz="2800" b="1" dirty="0">
                <a:solidFill>
                  <a:srgbClr val="1B2A41"/>
                </a:solidFill>
                <a:latin typeface="Cambria" pitchFamily="34" charset="0"/>
                <a:ea typeface="Cambria" pitchFamily="34" charset="-122"/>
                <a:cs typeface="Cambria" pitchFamily="34" charset="-120"/>
              </a:rPr>
              <a:t>How the website implements the features</a:t>
            </a:r>
            <a:endParaRPr lang="en-US" sz="2800" dirty="0"/>
          </a:p>
        </p:txBody>
      </p:sp>
      <p:sp>
        <p:nvSpPr>
          <p:cNvPr id="4" name="Text 2"/>
          <p:cNvSpPr txBox="1"/>
          <p:nvPr/>
        </p:nvSpPr>
        <p:spPr>
          <a:xfrm>
            <a:off x="11185855" y="6400800"/>
            <a:ext cx="457200" cy="274320"/>
          </a:xfrm>
          <a:prstGeom prst="rect">
            <a:avLst/>
          </a:prstGeom>
          <a:noFill/>
          <a:ln/>
        </p:spPr>
        <p:txBody>
          <a:bodyPr wrap="square" lIns="0" tIns="0" rIns="0" bIns="0" rtlCol="0" anchor="ctr"/>
          <a:lstStyle/>
          <a:p>
            <a:pPr marL="0" indent="0" algn="r">
              <a:buNone/>
            </a:pPr>
            <a:r>
              <a:rPr lang="en-US" sz="1000" dirty="0">
                <a:solidFill>
                  <a:srgbClr val="5B6B7B"/>
                </a:solidFill>
                <a:latin typeface="Calibri" pitchFamily="34" charset="0"/>
                <a:ea typeface="Calibri" pitchFamily="34" charset="-122"/>
                <a:cs typeface="Calibri" pitchFamily="34" charset="-120"/>
              </a:rPr>
              <a:t>10</a:t>
            </a:r>
            <a:endParaRPr lang="en-US" sz="1000" dirty="0"/>
          </a:p>
        </p:txBody>
      </p:sp>
      <p:sp>
        <p:nvSpPr>
          <p:cNvPr id="6" name="Shape 3"/>
          <p:cNvSpPr/>
          <p:nvPr/>
        </p:nvSpPr>
        <p:spPr>
          <a:xfrm>
            <a:off x="548640" y="1371600"/>
            <a:ext cx="3931920" cy="914400"/>
          </a:xfrm>
          <a:prstGeom prst="roundRect">
            <a:avLst>
              <a:gd name="adj" fmla="val 10000"/>
            </a:avLst>
          </a:prstGeom>
          <a:solidFill>
            <a:srgbClr val="2A7F80"/>
          </a:solidFill>
          <a:ln w="12700">
            <a:solidFill>
              <a:srgbClr val="2A7F80"/>
            </a:solidFill>
            <a:prstDash val="solid"/>
          </a:ln>
        </p:spPr>
      </p:sp>
      <p:sp>
        <p:nvSpPr>
          <p:cNvPr id="7" name="Text 4"/>
          <p:cNvSpPr txBox="1"/>
          <p:nvPr/>
        </p:nvSpPr>
        <p:spPr>
          <a:xfrm>
            <a:off x="731520" y="1463040"/>
            <a:ext cx="3566160" cy="365760"/>
          </a:xfrm>
          <a:prstGeom prst="rect">
            <a:avLst/>
          </a:prstGeom>
          <a:noFill/>
          <a:ln/>
        </p:spPr>
        <p:txBody>
          <a:bodyPr wrap="square" lIns="0" tIns="0" rIns="0" bIns="0" rtlCol="0" anchor="t"/>
          <a:lstStyle/>
          <a:p>
            <a:pPr marL="0" indent="0">
              <a:buNone/>
            </a:pPr>
            <a:r>
              <a:rPr lang="en-US" sz="1600" b="1" dirty="0">
                <a:solidFill>
                  <a:srgbClr val="FFFFFF"/>
                </a:solidFill>
                <a:latin typeface="Cambria" pitchFamily="34" charset="0"/>
                <a:ea typeface="Cambria" pitchFamily="34" charset="-122"/>
                <a:cs typeface="Cambria" pitchFamily="34" charset="-120"/>
              </a:rPr>
              <a:t>Website</a:t>
            </a:r>
            <a:endParaRPr lang="en-US" sz="1600" dirty="0"/>
          </a:p>
        </p:txBody>
      </p:sp>
      <p:sp>
        <p:nvSpPr>
          <p:cNvPr id="8" name="Text 5"/>
          <p:cNvSpPr txBox="1"/>
          <p:nvPr/>
        </p:nvSpPr>
        <p:spPr>
          <a:xfrm>
            <a:off x="731520" y="1847088"/>
            <a:ext cx="3566160" cy="36576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HTML pages + app.js (one menu per role)</a:t>
            </a:r>
            <a:endParaRPr lang="en-US" sz="1200" dirty="0"/>
          </a:p>
        </p:txBody>
      </p:sp>
      <p:sp>
        <p:nvSpPr>
          <p:cNvPr id="9" name="Shape 6"/>
          <p:cNvSpPr/>
          <p:nvPr/>
        </p:nvSpPr>
        <p:spPr>
          <a:xfrm>
            <a:off x="2514600" y="2286000"/>
            <a:ext cx="914" cy="274320"/>
          </a:xfrm>
          <a:prstGeom prst="line">
            <a:avLst/>
          </a:prstGeom>
          <a:noFill/>
          <a:ln w="15875">
            <a:solidFill>
              <a:srgbClr val="1B2A41"/>
            </a:solidFill>
            <a:prstDash val="solid"/>
            <a:tailEnd type="triangle"/>
          </a:ln>
        </p:spPr>
      </p:sp>
      <p:sp>
        <p:nvSpPr>
          <p:cNvPr id="10" name="Shape 7"/>
          <p:cNvSpPr/>
          <p:nvPr/>
        </p:nvSpPr>
        <p:spPr>
          <a:xfrm>
            <a:off x="548640" y="2560320"/>
            <a:ext cx="3931920" cy="914400"/>
          </a:xfrm>
          <a:prstGeom prst="roundRect">
            <a:avLst>
              <a:gd name="adj" fmla="val 10000"/>
            </a:avLst>
          </a:prstGeom>
          <a:solidFill>
            <a:srgbClr val="2E4057"/>
          </a:solidFill>
          <a:ln w="12700">
            <a:solidFill>
              <a:srgbClr val="2E4057"/>
            </a:solidFill>
            <a:prstDash val="solid"/>
          </a:ln>
        </p:spPr>
      </p:sp>
      <p:sp>
        <p:nvSpPr>
          <p:cNvPr id="11" name="Text 8"/>
          <p:cNvSpPr txBox="1"/>
          <p:nvPr/>
        </p:nvSpPr>
        <p:spPr>
          <a:xfrm>
            <a:off x="731520" y="2651760"/>
            <a:ext cx="3566160" cy="365760"/>
          </a:xfrm>
          <a:prstGeom prst="rect">
            <a:avLst/>
          </a:prstGeom>
          <a:noFill/>
          <a:ln/>
        </p:spPr>
        <p:txBody>
          <a:bodyPr wrap="square" lIns="0" tIns="0" rIns="0" bIns="0" rtlCol="0" anchor="t"/>
          <a:lstStyle/>
          <a:p>
            <a:pPr marL="0" indent="0">
              <a:buNone/>
            </a:pPr>
            <a:r>
              <a:rPr lang="en-US" sz="1600" b="1" dirty="0">
                <a:solidFill>
                  <a:srgbClr val="FFFFFF"/>
                </a:solidFill>
                <a:latin typeface="Cambria" pitchFamily="34" charset="0"/>
                <a:ea typeface="Cambria" pitchFamily="34" charset="-122"/>
                <a:cs typeface="Cambria" pitchFamily="34" charset="-120"/>
              </a:rPr>
              <a:t>API routers</a:t>
            </a:r>
            <a:endParaRPr lang="en-US" sz="1600" dirty="0"/>
          </a:p>
        </p:txBody>
      </p:sp>
      <p:sp>
        <p:nvSpPr>
          <p:cNvPr id="12" name="Text 9"/>
          <p:cNvSpPr txBox="1"/>
          <p:nvPr/>
        </p:nvSpPr>
        <p:spPr>
          <a:xfrm>
            <a:off x="731520" y="3035808"/>
            <a:ext cx="3566160" cy="36576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FastAPI: login, role check, validation</a:t>
            </a:r>
            <a:endParaRPr lang="en-US" sz="1200" dirty="0"/>
          </a:p>
        </p:txBody>
      </p:sp>
      <p:sp>
        <p:nvSpPr>
          <p:cNvPr id="13" name="Shape 10"/>
          <p:cNvSpPr/>
          <p:nvPr/>
        </p:nvSpPr>
        <p:spPr>
          <a:xfrm>
            <a:off x="2514600" y="3474720"/>
            <a:ext cx="914" cy="274320"/>
          </a:xfrm>
          <a:prstGeom prst="line">
            <a:avLst/>
          </a:prstGeom>
          <a:noFill/>
          <a:ln w="15875">
            <a:solidFill>
              <a:srgbClr val="1B2A41"/>
            </a:solidFill>
            <a:prstDash val="solid"/>
            <a:tailEnd type="triangle"/>
          </a:ln>
        </p:spPr>
      </p:sp>
      <p:sp>
        <p:nvSpPr>
          <p:cNvPr id="14" name="Shape 11"/>
          <p:cNvSpPr/>
          <p:nvPr/>
        </p:nvSpPr>
        <p:spPr>
          <a:xfrm>
            <a:off x="548640" y="3749040"/>
            <a:ext cx="3931920" cy="914400"/>
          </a:xfrm>
          <a:prstGeom prst="roundRect">
            <a:avLst>
              <a:gd name="adj" fmla="val 10000"/>
            </a:avLst>
          </a:prstGeom>
          <a:solidFill>
            <a:srgbClr val="C8553D"/>
          </a:solidFill>
          <a:ln w="12700">
            <a:solidFill>
              <a:srgbClr val="C8553D"/>
            </a:solidFill>
            <a:prstDash val="solid"/>
          </a:ln>
        </p:spPr>
      </p:sp>
      <p:sp>
        <p:nvSpPr>
          <p:cNvPr id="15" name="Text 12"/>
          <p:cNvSpPr txBox="1"/>
          <p:nvPr/>
        </p:nvSpPr>
        <p:spPr>
          <a:xfrm>
            <a:off x="731520" y="3840480"/>
            <a:ext cx="3566160" cy="365760"/>
          </a:xfrm>
          <a:prstGeom prst="rect">
            <a:avLst/>
          </a:prstGeom>
          <a:noFill/>
          <a:ln/>
        </p:spPr>
        <p:txBody>
          <a:bodyPr wrap="square" lIns="0" tIns="0" rIns="0" bIns="0" rtlCol="0" anchor="t"/>
          <a:lstStyle/>
          <a:p>
            <a:pPr marL="0" indent="0">
              <a:buNone/>
            </a:pPr>
            <a:r>
              <a:rPr lang="en-US" sz="1600" b="1" dirty="0">
                <a:solidFill>
                  <a:srgbClr val="FFFFFF"/>
                </a:solidFill>
                <a:latin typeface="Cambria" pitchFamily="34" charset="0"/>
                <a:ea typeface="Cambria" pitchFamily="34" charset="-122"/>
                <a:cs typeface="Cambria" pitchFamily="34" charset="-120"/>
              </a:rPr>
              <a:t>Services</a:t>
            </a:r>
            <a:endParaRPr lang="en-US" sz="1600" dirty="0"/>
          </a:p>
        </p:txBody>
      </p:sp>
      <p:sp>
        <p:nvSpPr>
          <p:cNvPr id="16" name="Text 13"/>
          <p:cNvSpPr txBox="1"/>
          <p:nvPr/>
        </p:nvSpPr>
        <p:spPr>
          <a:xfrm>
            <a:off x="731520" y="4224528"/>
            <a:ext cx="3566160" cy="36576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Business rules: dues, salary, statement</a:t>
            </a:r>
            <a:endParaRPr lang="en-US" sz="1200" dirty="0"/>
          </a:p>
        </p:txBody>
      </p:sp>
      <p:sp>
        <p:nvSpPr>
          <p:cNvPr id="17" name="Shape 14"/>
          <p:cNvSpPr/>
          <p:nvPr/>
        </p:nvSpPr>
        <p:spPr>
          <a:xfrm>
            <a:off x="2514600" y="4663440"/>
            <a:ext cx="914" cy="274320"/>
          </a:xfrm>
          <a:prstGeom prst="line">
            <a:avLst/>
          </a:prstGeom>
          <a:noFill/>
          <a:ln w="15875">
            <a:solidFill>
              <a:srgbClr val="1B2A41"/>
            </a:solidFill>
            <a:prstDash val="solid"/>
            <a:tailEnd type="triangle"/>
          </a:ln>
        </p:spPr>
      </p:sp>
      <p:sp>
        <p:nvSpPr>
          <p:cNvPr id="18" name="Shape 15"/>
          <p:cNvSpPr/>
          <p:nvPr/>
        </p:nvSpPr>
        <p:spPr>
          <a:xfrm>
            <a:off x="548640" y="4937760"/>
            <a:ext cx="3931920" cy="914400"/>
          </a:xfrm>
          <a:prstGeom prst="roundRect">
            <a:avLst>
              <a:gd name="adj" fmla="val 10000"/>
            </a:avLst>
          </a:prstGeom>
          <a:solidFill>
            <a:srgbClr val="1B2A41"/>
          </a:solidFill>
          <a:ln w="12700">
            <a:solidFill>
              <a:srgbClr val="1B2A41"/>
            </a:solidFill>
            <a:prstDash val="solid"/>
          </a:ln>
        </p:spPr>
      </p:sp>
      <p:sp>
        <p:nvSpPr>
          <p:cNvPr id="19" name="Text 16"/>
          <p:cNvSpPr txBox="1"/>
          <p:nvPr/>
        </p:nvSpPr>
        <p:spPr>
          <a:xfrm>
            <a:off x="731520" y="5029200"/>
            <a:ext cx="3566160" cy="365760"/>
          </a:xfrm>
          <a:prstGeom prst="rect">
            <a:avLst/>
          </a:prstGeom>
          <a:noFill/>
          <a:ln/>
        </p:spPr>
        <p:txBody>
          <a:bodyPr wrap="square" lIns="0" tIns="0" rIns="0" bIns="0" rtlCol="0" anchor="t"/>
          <a:lstStyle/>
          <a:p>
            <a:pPr marL="0" indent="0">
              <a:buNone/>
            </a:pPr>
            <a:r>
              <a:rPr lang="en-US" sz="1600" b="1" dirty="0">
                <a:solidFill>
                  <a:srgbClr val="FFFFFF"/>
                </a:solidFill>
                <a:latin typeface="Cambria" pitchFamily="34" charset="0"/>
                <a:ea typeface="Cambria" pitchFamily="34" charset="-122"/>
                <a:cs typeface="Cambria" pitchFamily="34" charset="-120"/>
              </a:rPr>
              <a:t>Database</a:t>
            </a:r>
            <a:endParaRPr lang="en-US" sz="1600" dirty="0"/>
          </a:p>
        </p:txBody>
      </p:sp>
      <p:sp>
        <p:nvSpPr>
          <p:cNvPr id="20" name="Text 17"/>
          <p:cNvSpPr txBox="1"/>
          <p:nvPr/>
        </p:nvSpPr>
        <p:spPr>
          <a:xfrm>
            <a:off x="731520" y="5413248"/>
            <a:ext cx="3566160" cy="36576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SQLAlchemy models → PostgreSQL</a:t>
            </a:r>
            <a:endParaRPr lang="en-US" sz="1200" dirty="0"/>
          </a:p>
        </p:txBody>
      </p:sp>
      <p:sp>
        <p:nvSpPr>
          <p:cNvPr id="21" name="Text 18"/>
          <p:cNvSpPr txBox="1"/>
          <p:nvPr/>
        </p:nvSpPr>
        <p:spPr>
          <a:xfrm>
            <a:off x="548640" y="6217920"/>
            <a:ext cx="3931920" cy="274320"/>
          </a:xfrm>
          <a:prstGeom prst="rect">
            <a:avLst/>
          </a:prstGeom>
          <a:noFill/>
          <a:ln/>
        </p:spPr>
        <p:txBody>
          <a:bodyPr wrap="square" lIns="0" tIns="0" rIns="0" bIns="0" rtlCol="0" anchor="t"/>
          <a:lstStyle/>
          <a:p>
            <a:pPr marL="0" indent="0">
              <a:buNone/>
            </a:pPr>
            <a:r>
              <a:rPr lang="en-US" sz="1050" dirty="0">
                <a:solidFill>
                  <a:srgbClr val="C8553D"/>
                </a:solidFill>
                <a:latin typeface="Courier New" pitchFamily="34" charset="0"/>
                <a:ea typeface="Courier New" pitchFamily="34" charset="-122"/>
                <a:cs typeface="Courier New" pitchFamily="34" charset="-120"/>
              </a:rPr>
              <a:t>Entry point: main.py  ·  run: fastapi dev main.py</a:t>
            </a:r>
            <a:endParaRPr lang="en-US" sz="10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846320" y="1371600"/>
          <a:ext cx="6793992" cy="4828032"/>
        </p:xfrm>
        <a:graphic>
          <a:graphicData uri="http://schemas.openxmlformats.org/drawingml/2006/table">
            <a:tbl>
              <a:tblPr/>
              <a:tblGrid>
                <a:gridCol w="233172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2999232">
                  <a:extLst>
                    <a:ext uri="{9D8B030D-6E8A-4147-A177-3AD203B41FA5}">
                      <a16:colId xmlns:a16="http://schemas.microsoft.com/office/drawing/2014/main" val="20002"/>
                    </a:ext>
                  </a:extLst>
                </a:gridCol>
              </a:tblGrid>
              <a:tr h="438912">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Feature</a:t>
                      </a:r>
                      <a:endParaRPr lang="en-US" sz="11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1B2A41"/>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Who</a:t>
                      </a:r>
                      <a:endParaRPr lang="en-US" sz="11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1B2A41"/>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API endpoint</a:t>
                      </a:r>
                      <a:endParaRPr lang="en-US" sz="11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1B2A41"/>
                    </a:solidFill>
                  </a:tcPr>
                </a:tc>
                <a:extLst>
                  <a:ext uri="{0D108BD9-81ED-4DB2-BD59-A6C34878D82A}">
                    <a16:rowId xmlns:a16="http://schemas.microsoft.com/office/drawing/2014/main" val="10000"/>
                  </a:ext>
                </a:extLst>
              </a:tr>
              <a:tr h="438912">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Admission + room allotment</a:t>
                      </a:r>
                      <a:endParaRPr lang="en-US" sz="11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EF2F6"/>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Clerk</a:t>
                      </a:r>
                      <a:endParaRPr lang="en-US" sz="11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EF2F6"/>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POST /api/students</a:t>
                      </a:r>
                      <a:endParaRPr lang="en-US" sz="11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EF2F6"/>
                    </a:solidFill>
                  </a:tcPr>
                </a:tc>
                <a:extLst>
                  <a:ext uri="{0D108BD9-81ED-4DB2-BD59-A6C34878D82A}">
                    <a16:rowId xmlns:a16="http://schemas.microsoft.com/office/drawing/2014/main" val="10001"/>
                  </a:ext>
                </a:extLst>
              </a:tr>
              <a:tr h="438912">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Allotment letter</a:t>
                      </a:r>
                      <a:endParaRPr lang="en-US" sz="11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Student, Clerk</a:t>
                      </a:r>
                      <a:endParaRPr lang="en-US" sz="11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GET /api/students/{roll}/allotment-letter</a:t>
                      </a:r>
                      <a:endParaRPr lang="en-US" sz="11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38912">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Enter mess charges</a:t>
                      </a:r>
                      <a:endParaRPr lang="en-US" sz="11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EF2F6"/>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Mess Manager</a:t>
                      </a:r>
                      <a:endParaRPr lang="en-US" sz="11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EF2F6"/>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POST /api/mess-charges</a:t>
                      </a:r>
                      <a:endParaRPr lang="en-US" sz="11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EF2F6"/>
                    </a:solidFill>
                  </a:tcPr>
                </a:tc>
                <a:extLst>
                  <a:ext uri="{0D108BD9-81ED-4DB2-BD59-A6C34878D82A}">
                    <a16:rowId xmlns:a16="http://schemas.microsoft.com/office/drawing/2014/main" val="10003"/>
                  </a:ext>
                </a:extLst>
              </a:tr>
              <a:tr h="438912">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View and pay dues</a:t>
                      </a:r>
                      <a:endParaRPr lang="en-US" sz="11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Student</a:t>
                      </a:r>
                      <a:endParaRPr lang="en-US" sz="11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GET /api/dues, POST /api/payments</a:t>
                      </a:r>
                      <a:endParaRPr lang="en-US" sz="11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38912">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Mess manager sheet + cheque</a:t>
                      </a:r>
                      <a:endParaRPr lang="en-US" sz="11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EF2F6"/>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Chairman</a:t>
                      </a:r>
                      <a:endParaRPr lang="en-US" sz="11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EF2F6"/>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GET /api/mess-sheet</a:t>
                      </a:r>
                      <a:endParaRPr lang="en-US" sz="11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EF2F6"/>
                    </a:solidFill>
                  </a:tcPr>
                </a:tc>
                <a:extLst>
                  <a:ext uri="{0D108BD9-81ED-4DB2-BD59-A6C34878D82A}">
                    <a16:rowId xmlns:a16="http://schemas.microsoft.com/office/drawing/2014/main" val="10005"/>
                  </a:ext>
                </a:extLst>
              </a:tr>
              <a:tr h="438912">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Raise complaint / post ATR</a:t>
                      </a:r>
                      <a:endParaRPr lang="en-US" sz="11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Student / Warden</a:t>
                      </a:r>
                      <a:endParaRPr lang="en-US" sz="11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POST /api/complaints, /{id}/atr</a:t>
                      </a:r>
                      <a:endParaRPr lang="en-US" sz="11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38912">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Staff, leave, salary</a:t>
                      </a:r>
                      <a:endParaRPr lang="en-US" sz="11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EF2F6"/>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Clerk</a:t>
                      </a:r>
                      <a:endParaRPr lang="en-US" sz="11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EF2F6"/>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/api/staff, /api/leaves, /api/salaries</a:t>
                      </a:r>
                      <a:endParaRPr lang="en-US" sz="11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EF2F6"/>
                    </a:solidFill>
                  </a:tcPr>
                </a:tc>
                <a:extLst>
                  <a:ext uri="{0D108BD9-81ED-4DB2-BD59-A6C34878D82A}">
                    <a16:rowId xmlns:a16="http://schemas.microsoft.com/office/drawing/2014/main" val="10007"/>
                  </a:ext>
                </a:extLst>
              </a:tr>
              <a:tr h="438912">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Grant distribution</a:t>
                      </a:r>
                      <a:endParaRPr lang="en-US" sz="11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Chairman</a:t>
                      </a:r>
                      <a:endParaRPr lang="en-US" sz="11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POST /api/grants/allocations</a:t>
                      </a:r>
                      <a:endParaRPr lang="en-US" sz="11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38912">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Occupancy</a:t>
                      </a:r>
                      <a:endParaRPr lang="en-US" sz="11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EF2F6"/>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Warden, Dean</a:t>
                      </a:r>
                      <a:endParaRPr lang="en-US" sz="11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EF2F6"/>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GET /api/occupancy</a:t>
                      </a:r>
                      <a:endParaRPr lang="en-US" sz="11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EF2F6"/>
                    </a:solidFill>
                  </a:tcPr>
                </a:tc>
                <a:extLst>
                  <a:ext uri="{0D108BD9-81ED-4DB2-BD59-A6C34878D82A}">
                    <a16:rowId xmlns:a16="http://schemas.microsoft.com/office/drawing/2014/main" val="10009"/>
                  </a:ext>
                </a:extLst>
              </a:tr>
              <a:tr h="438912">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Statement of accounts</a:t>
                      </a:r>
                      <a:endParaRPr lang="en-US" sz="11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Warden</a:t>
                      </a:r>
                      <a:endParaRPr lang="en-US" sz="11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GET /api/statement</a:t>
                      </a:r>
                      <a:endParaRPr lang="en-US" sz="11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Tree>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300" dirty="0">
                <a:solidFill>
                  <a:srgbClr val="C8553D"/>
                </a:solidFill>
                <a:latin typeface="Calibri" pitchFamily="34" charset="0"/>
                <a:ea typeface="Calibri" pitchFamily="34" charset="-122"/>
                <a:cs typeface="Calibri" pitchFamily="34" charset="-120"/>
              </a:rPr>
              <a:t>IMPLEMENTATION</a:t>
            </a:r>
            <a:endParaRPr lang="en-US" sz="1200" dirty="0"/>
          </a:p>
        </p:txBody>
      </p:sp>
      <p:sp>
        <p:nvSpPr>
          <p:cNvPr id="3" name="Text 1"/>
          <p:cNvSpPr txBox="1"/>
          <p:nvPr/>
        </p:nvSpPr>
        <p:spPr>
          <a:xfrm>
            <a:off x="548640" y="566928"/>
            <a:ext cx="11094415" cy="640080"/>
          </a:xfrm>
          <a:prstGeom prst="rect">
            <a:avLst/>
          </a:prstGeom>
          <a:noFill/>
          <a:ln/>
        </p:spPr>
        <p:txBody>
          <a:bodyPr wrap="square" lIns="0" tIns="0" rIns="0" bIns="0" rtlCol="0" anchor="ctr"/>
          <a:lstStyle/>
          <a:p>
            <a:pPr marL="0" indent="0">
              <a:buNone/>
            </a:pPr>
            <a:r>
              <a:rPr lang="en-US" sz="2800" b="1" dirty="0">
                <a:solidFill>
                  <a:srgbClr val="1B2A41"/>
                </a:solidFill>
                <a:latin typeface="Cambria" pitchFamily="34" charset="0"/>
                <a:ea typeface="Cambria" pitchFamily="34" charset="-122"/>
                <a:cs typeface="Cambria" pitchFamily="34" charset="-120"/>
              </a:rPr>
              <a:t>Business rules and security</a:t>
            </a:r>
            <a:endParaRPr lang="en-US" sz="2800" dirty="0"/>
          </a:p>
        </p:txBody>
      </p:sp>
      <p:sp>
        <p:nvSpPr>
          <p:cNvPr id="4" name="Text 2"/>
          <p:cNvSpPr txBox="1"/>
          <p:nvPr/>
        </p:nvSpPr>
        <p:spPr>
          <a:xfrm>
            <a:off x="11185855" y="6400800"/>
            <a:ext cx="457200" cy="274320"/>
          </a:xfrm>
          <a:prstGeom prst="rect">
            <a:avLst/>
          </a:prstGeom>
          <a:noFill/>
          <a:ln/>
        </p:spPr>
        <p:txBody>
          <a:bodyPr wrap="square" lIns="0" tIns="0" rIns="0" bIns="0" rtlCol="0" anchor="ctr"/>
          <a:lstStyle/>
          <a:p>
            <a:pPr marL="0" indent="0" algn="r">
              <a:buNone/>
            </a:pPr>
            <a:r>
              <a:rPr lang="en-US" sz="1000" dirty="0">
                <a:solidFill>
                  <a:srgbClr val="5B6B7B"/>
                </a:solidFill>
                <a:latin typeface="Calibri" pitchFamily="34" charset="0"/>
                <a:ea typeface="Calibri" pitchFamily="34" charset="-122"/>
                <a:cs typeface="Calibri" pitchFamily="34" charset="-120"/>
              </a:rPr>
              <a:t>11</a:t>
            </a:r>
            <a:endParaRPr lang="en-US" sz="1000" dirty="0"/>
          </a:p>
        </p:txBody>
      </p:sp>
      <p:sp>
        <p:nvSpPr>
          <p:cNvPr id="6" name="Text 3"/>
          <p:cNvSpPr txBox="1"/>
          <p:nvPr/>
        </p:nvSpPr>
        <p:spPr>
          <a:xfrm>
            <a:off x="548640" y="1371600"/>
            <a:ext cx="5669280" cy="365760"/>
          </a:xfrm>
          <a:prstGeom prst="rect">
            <a:avLst/>
          </a:prstGeom>
          <a:noFill/>
          <a:ln/>
        </p:spPr>
        <p:txBody>
          <a:bodyPr wrap="square" lIns="0" tIns="0" rIns="0" bIns="0" rtlCol="0" anchor="t"/>
          <a:lstStyle/>
          <a:p>
            <a:pPr marL="0" indent="0">
              <a:buNone/>
            </a:pPr>
            <a:r>
              <a:rPr lang="en-US" sz="1700" b="1" dirty="0">
                <a:solidFill>
                  <a:srgbClr val="C8553D"/>
                </a:solidFill>
                <a:latin typeface="Cambria" pitchFamily="34" charset="0"/>
                <a:ea typeface="Cambria" pitchFamily="34" charset="-122"/>
                <a:cs typeface="Cambria" pitchFamily="34" charset="-120"/>
              </a:rPr>
              <a:t>Business rules (checked on the server)</a:t>
            </a:r>
            <a:endParaRPr lang="en-US" sz="1700" dirty="0"/>
          </a:p>
        </p:txBody>
      </p:sp>
      <p:sp>
        <p:nvSpPr>
          <p:cNvPr id="7" name="Shape 4"/>
          <p:cNvSpPr/>
          <p:nvPr/>
        </p:nvSpPr>
        <p:spPr>
          <a:xfrm>
            <a:off x="548640" y="1847088"/>
            <a:ext cx="384048" cy="384048"/>
          </a:xfrm>
          <a:prstGeom prst="ellipse">
            <a:avLst/>
          </a:prstGeom>
          <a:solidFill>
            <a:srgbClr val="C8553D"/>
          </a:solidFill>
          <a:ln w="12700">
            <a:solidFill>
              <a:srgbClr val="C8553D"/>
            </a:solidFill>
            <a:prstDash val="solid"/>
          </a:ln>
        </p:spPr>
      </p:sp>
      <p:sp>
        <p:nvSpPr>
          <p:cNvPr id="8" name="Text 5"/>
          <p:cNvSpPr txBox="1"/>
          <p:nvPr/>
        </p:nvSpPr>
        <p:spPr>
          <a:xfrm>
            <a:off x="548640" y="1847088"/>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6"/>
          <p:cNvSpPr txBox="1"/>
          <p:nvPr/>
        </p:nvSpPr>
        <p:spPr>
          <a:xfrm>
            <a:off x="1097280" y="1828800"/>
            <a:ext cx="5120640" cy="640080"/>
          </a:xfrm>
          <a:prstGeom prst="rect">
            <a:avLst/>
          </a:prstGeom>
          <a:noFill/>
          <a:ln/>
        </p:spPr>
        <p:txBody>
          <a:bodyPr wrap="square" lIns="0" tIns="0" rIns="0" bIns="0" rtlCol="0" anchor="ctr"/>
          <a:lstStyle/>
          <a:p>
            <a:pPr marL="0" indent="0">
              <a:buNone/>
            </a:pPr>
            <a:r>
              <a:rPr lang="en-US" sz="1350" dirty="0">
                <a:solidFill>
                  <a:srgbClr val="1B2A41"/>
                </a:solidFill>
                <a:latin typeface="Calibri" pitchFamily="34" charset="0"/>
                <a:ea typeface="Calibri" pitchFamily="34" charset="-122"/>
                <a:cs typeface="Calibri" pitchFamily="34" charset="-120"/>
              </a:rPr>
              <a:t>Total due = mess charge + amenity charge + room rent</a:t>
            </a:r>
            <a:endParaRPr lang="en-US" sz="1350" dirty="0"/>
          </a:p>
        </p:txBody>
      </p:sp>
      <p:sp>
        <p:nvSpPr>
          <p:cNvPr id="10" name="Shape 7"/>
          <p:cNvSpPr/>
          <p:nvPr/>
        </p:nvSpPr>
        <p:spPr>
          <a:xfrm>
            <a:off x="548640" y="2596896"/>
            <a:ext cx="384048" cy="384048"/>
          </a:xfrm>
          <a:prstGeom prst="ellipse">
            <a:avLst/>
          </a:prstGeom>
          <a:solidFill>
            <a:srgbClr val="C8553D"/>
          </a:solidFill>
          <a:ln w="12700">
            <a:solidFill>
              <a:srgbClr val="C8553D"/>
            </a:solidFill>
            <a:prstDash val="solid"/>
          </a:ln>
        </p:spPr>
      </p:sp>
      <p:sp>
        <p:nvSpPr>
          <p:cNvPr id="11" name="Text 8"/>
          <p:cNvSpPr txBox="1"/>
          <p:nvPr/>
        </p:nvSpPr>
        <p:spPr>
          <a:xfrm>
            <a:off x="548640" y="2596896"/>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9"/>
          <p:cNvSpPr txBox="1"/>
          <p:nvPr/>
        </p:nvSpPr>
        <p:spPr>
          <a:xfrm>
            <a:off x="1097280" y="2578608"/>
            <a:ext cx="5120640" cy="640080"/>
          </a:xfrm>
          <a:prstGeom prst="rect">
            <a:avLst/>
          </a:prstGeom>
          <a:noFill/>
          <a:ln/>
        </p:spPr>
        <p:txBody>
          <a:bodyPr wrap="square" lIns="0" tIns="0" rIns="0" bIns="0" rtlCol="0" anchor="ctr"/>
          <a:lstStyle/>
          <a:p>
            <a:pPr marL="0" indent="0">
              <a:buNone/>
            </a:pPr>
            <a:r>
              <a:rPr lang="en-US" sz="1350" dirty="0">
                <a:solidFill>
                  <a:srgbClr val="1B2A41"/>
                </a:solidFill>
                <a:latin typeface="Calibri" pitchFamily="34" charset="0"/>
                <a:ea typeface="Calibri" pitchFamily="34" charset="-122"/>
                <a:cs typeface="Calibri" pitchFamily="34" charset="-120"/>
              </a:rPr>
              <a:t>The amount to pay is calculated by the server, never sent by the user</a:t>
            </a:r>
            <a:endParaRPr lang="en-US" sz="1350" dirty="0"/>
          </a:p>
        </p:txBody>
      </p:sp>
      <p:sp>
        <p:nvSpPr>
          <p:cNvPr id="13" name="Shape 10"/>
          <p:cNvSpPr/>
          <p:nvPr/>
        </p:nvSpPr>
        <p:spPr>
          <a:xfrm>
            <a:off x="548640" y="3346704"/>
            <a:ext cx="384048" cy="384048"/>
          </a:xfrm>
          <a:prstGeom prst="ellipse">
            <a:avLst/>
          </a:prstGeom>
          <a:solidFill>
            <a:srgbClr val="C8553D"/>
          </a:solidFill>
          <a:ln w="12700">
            <a:solidFill>
              <a:srgbClr val="C8553D"/>
            </a:solidFill>
            <a:prstDash val="solid"/>
          </a:ln>
        </p:spPr>
      </p:sp>
      <p:sp>
        <p:nvSpPr>
          <p:cNvPr id="14" name="Text 11"/>
          <p:cNvSpPr txBox="1"/>
          <p:nvPr/>
        </p:nvSpPr>
        <p:spPr>
          <a:xfrm>
            <a:off x="548640" y="3346704"/>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2"/>
          <p:cNvSpPr txBox="1"/>
          <p:nvPr/>
        </p:nvSpPr>
        <p:spPr>
          <a:xfrm>
            <a:off x="1097280" y="3328416"/>
            <a:ext cx="5120640" cy="640080"/>
          </a:xfrm>
          <a:prstGeom prst="rect">
            <a:avLst/>
          </a:prstGeom>
          <a:noFill/>
          <a:ln/>
        </p:spPr>
        <p:txBody>
          <a:bodyPr wrap="square" lIns="0" tIns="0" rIns="0" bIns="0" rtlCol="0" anchor="ctr"/>
          <a:lstStyle/>
          <a:p>
            <a:pPr marL="0" indent="0">
              <a:buNone/>
            </a:pPr>
            <a:r>
              <a:rPr lang="en-US" sz="1350" dirty="0">
                <a:solidFill>
                  <a:srgbClr val="1B2A41"/>
                </a:solidFill>
                <a:latin typeface="Calibri" pitchFamily="34" charset="0"/>
                <a:ea typeface="Calibri" pitchFamily="34" charset="-122"/>
                <a:cs typeface="Calibri" pitchFamily="34" charset="-120"/>
              </a:rPr>
              <a:t>Dues for a month can be paid only once</a:t>
            </a:r>
            <a:endParaRPr lang="en-US" sz="1350" dirty="0"/>
          </a:p>
        </p:txBody>
      </p:sp>
      <p:sp>
        <p:nvSpPr>
          <p:cNvPr id="16" name="Shape 13"/>
          <p:cNvSpPr/>
          <p:nvPr/>
        </p:nvSpPr>
        <p:spPr>
          <a:xfrm>
            <a:off x="548640" y="4096512"/>
            <a:ext cx="384048" cy="384048"/>
          </a:xfrm>
          <a:prstGeom prst="ellipse">
            <a:avLst/>
          </a:prstGeom>
          <a:solidFill>
            <a:srgbClr val="C8553D"/>
          </a:solidFill>
          <a:ln w="12700">
            <a:solidFill>
              <a:srgbClr val="C8553D"/>
            </a:solidFill>
            <a:prstDash val="solid"/>
          </a:ln>
        </p:spPr>
      </p:sp>
      <p:sp>
        <p:nvSpPr>
          <p:cNvPr id="17" name="Text 14"/>
          <p:cNvSpPr txBox="1"/>
          <p:nvPr/>
        </p:nvSpPr>
        <p:spPr>
          <a:xfrm>
            <a:off x="548640" y="4096512"/>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8" name="Text 15"/>
          <p:cNvSpPr txBox="1"/>
          <p:nvPr/>
        </p:nvSpPr>
        <p:spPr>
          <a:xfrm>
            <a:off x="1097280" y="4078224"/>
            <a:ext cx="5120640" cy="640080"/>
          </a:xfrm>
          <a:prstGeom prst="rect">
            <a:avLst/>
          </a:prstGeom>
          <a:noFill/>
          <a:ln/>
        </p:spPr>
        <p:txBody>
          <a:bodyPr wrap="square" lIns="0" tIns="0" rIns="0" bIns="0" rtlCol="0" anchor="ctr"/>
          <a:lstStyle/>
          <a:p>
            <a:pPr marL="0" indent="0">
              <a:buNone/>
            </a:pPr>
            <a:r>
              <a:rPr lang="en-US" sz="1350" dirty="0">
                <a:solidFill>
                  <a:srgbClr val="1B2A41"/>
                </a:solidFill>
                <a:latin typeface="Calibri" pitchFamily="34" charset="0"/>
                <a:ea typeface="Calibri" pitchFamily="34" charset="-122"/>
                <a:cs typeface="Calibri" pitchFamily="34" charset="-120"/>
              </a:rPr>
              <a:t>One student per room; the first free room is allotted</a:t>
            </a:r>
            <a:endParaRPr lang="en-US" sz="1350" dirty="0"/>
          </a:p>
        </p:txBody>
      </p:sp>
      <p:sp>
        <p:nvSpPr>
          <p:cNvPr id="19" name="Shape 16"/>
          <p:cNvSpPr/>
          <p:nvPr/>
        </p:nvSpPr>
        <p:spPr>
          <a:xfrm>
            <a:off x="548640" y="4846320"/>
            <a:ext cx="384048" cy="384048"/>
          </a:xfrm>
          <a:prstGeom prst="ellipse">
            <a:avLst/>
          </a:prstGeom>
          <a:solidFill>
            <a:srgbClr val="C8553D"/>
          </a:solidFill>
          <a:ln w="12700">
            <a:solidFill>
              <a:srgbClr val="C8553D"/>
            </a:solidFill>
            <a:prstDash val="solid"/>
          </a:ln>
        </p:spPr>
      </p:sp>
      <p:sp>
        <p:nvSpPr>
          <p:cNvPr id="20" name="Text 17"/>
          <p:cNvSpPr txBox="1"/>
          <p:nvPr/>
        </p:nvSpPr>
        <p:spPr>
          <a:xfrm>
            <a:off x="548640" y="4846320"/>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1" name="Text 18"/>
          <p:cNvSpPr txBox="1"/>
          <p:nvPr/>
        </p:nvSpPr>
        <p:spPr>
          <a:xfrm>
            <a:off x="1097280" y="4828032"/>
            <a:ext cx="5120640" cy="640080"/>
          </a:xfrm>
          <a:prstGeom prst="rect">
            <a:avLst/>
          </a:prstGeom>
          <a:noFill/>
          <a:ln/>
        </p:spPr>
        <p:txBody>
          <a:bodyPr wrap="square" lIns="0" tIns="0" rIns="0" bIns="0" rtlCol="0" anchor="ctr"/>
          <a:lstStyle/>
          <a:p>
            <a:pPr marL="0" indent="0">
              <a:buNone/>
            </a:pPr>
            <a:r>
              <a:rPr lang="en-US" sz="1350" dirty="0">
                <a:solidFill>
                  <a:srgbClr val="1B2A41"/>
                </a:solidFill>
                <a:latin typeface="Calibri" pitchFamily="34" charset="0"/>
                <a:ea typeface="Calibri" pitchFamily="34" charset="-122"/>
                <a:cs typeface="Calibri" pitchFamily="34" charset="-120"/>
              </a:rPr>
              <a:t>Hall allocations cannot exceed the annual grant; spending cannot exceed the allocation</a:t>
            </a:r>
            <a:endParaRPr lang="en-US" sz="1350" dirty="0"/>
          </a:p>
        </p:txBody>
      </p:sp>
      <p:sp>
        <p:nvSpPr>
          <p:cNvPr id="22" name="Shape 19"/>
          <p:cNvSpPr/>
          <p:nvPr/>
        </p:nvSpPr>
        <p:spPr>
          <a:xfrm>
            <a:off x="548640" y="5596128"/>
            <a:ext cx="384048" cy="384048"/>
          </a:xfrm>
          <a:prstGeom prst="ellipse">
            <a:avLst/>
          </a:prstGeom>
          <a:solidFill>
            <a:srgbClr val="C8553D"/>
          </a:solidFill>
          <a:ln w="12700">
            <a:solidFill>
              <a:srgbClr val="C8553D"/>
            </a:solidFill>
            <a:prstDash val="solid"/>
          </a:ln>
        </p:spPr>
      </p:sp>
      <p:sp>
        <p:nvSpPr>
          <p:cNvPr id="23" name="Text 20"/>
          <p:cNvSpPr txBox="1"/>
          <p:nvPr/>
        </p:nvSpPr>
        <p:spPr>
          <a:xfrm>
            <a:off x="548640" y="5596128"/>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4" name="Text 21"/>
          <p:cNvSpPr txBox="1"/>
          <p:nvPr/>
        </p:nvSpPr>
        <p:spPr>
          <a:xfrm>
            <a:off x="1097280" y="5577840"/>
            <a:ext cx="5120640" cy="640080"/>
          </a:xfrm>
          <a:prstGeom prst="rect">
            <a:avLst/>
          </a:prstGeom>
          <a:noFill/>
          <a:ln/>
        </p:spPr>
        <p:txBody>
          <a:bodyPr wrap="square" lIns="0" tIns="0" rIns="0" bIns="0" rtlCol="0" anchor="ctr"/>
          <a:lstStyle/>
          <a:p>
            <a:pPr marL="0" indent="0">
              <a:buNone/>
            </a:pPr>
            <a:r>
              <a:rPr lang="en-US" sz="1350" dirty="0">
                <a:solidFill>
                  <a:srgbClr val="1B2A41"/>
                </a:solidFill>
                <a:latin typeface="Calibri" pitchFamily="34" charset="0"/>
                <a:ea typeface="Calibri" pitchFamily="34" charset="-122"/>
                <a:cs typeface="Calibri" pitchFamily="34" charset="-120"/>
              </a:rPr>
              <a:t>Salary = (days worked − leave days) × daily pay</a:t>
            </a:r>
            <a:endParaRPr lang="en-US" sz="1350" dirty="0"/>
          </a:p>
        </p:txBody>
      </p:sp>
      <p:sp>
        <p:nvSpPr>
          <p:cNvPr id="25" name="Shape 22"/>
          <p:cNvSpPr/>
          <p:nvPr/>
        </p:nvSpPr>
        <p:spPr>
          <a:xfrm>
            <a:off x="6492240" y="1371600"/>
            <a:ext cx="5148072" cy="4983480"/>
          </a:xfrm>
          <a:prstGeom prst="roundRect">
            <a:avLst>
              <a:gd name="adj" fmla="val 1468"/>
            </a:avLst>
          </a:prstGeom>
          <a:solidFill>
            <a:srgbClr val="EEF2F6"/>
          </a:solidFill>
          <a:ln w="12700">
            <a:solidFill>
              <a:srgbClr val="EEF2F6"/>
            </a:solidFill>
            <a:prstDash val="solid"/>
          </a:ln>
        </p:spPr>
      </p:sp>
      <p:sp>
        <p:nvSpPr>
          <p:cNvPr id="26" name="Text 23"/>
          <p:cNvSpPr txBox="1"/>
          <p:nvPr/>
        </p:nvSpPr>
        <p:spPr>
          <a:xfrm>
            <a:off x="6720840" y="1508760"/>
            <a:ext cx="4754880" cy="365760"/>
          </a:xfrm>
          <a:prstGeom prst="rect">
            <a:avLst/>
          </a:prstGeom>
          <a:noFill/>
          <a:ln/>
        </p:spPr>
        <p:txBody>
          <a:bodyPr wrap="square" lIns="0" tIns="0" rIns="0" bIns="0" rtlCol="0" anchor="t"/>
          <a:lstStyle/>
          <a:p>
            <a:pPr marL="0" indent="0">
              <a:buNone/>
            </a:pPr>
            <a:r>
              <a:rPr lang="en-US" sz="1700" b="1" dirty="0">
                <a:solidFill>
                  <a:srgbClr val="2A7F80"/>
                </a:solidFill>
                <a:latin typeface="Cambria" pitchFamily="34" charset="0"/>
                <a:ea typeface="Cambria" pitchFamily="34" charset="-122"/>
                <a:cs typeface="Cambria" pitchFamily="34" charset="-120"/>
              </a:rPr>
              <a:t>Security ("prevent fraud")</a:t>
            </a:r>
            <a:endParaRPr lang="en-US" sz="1700" dirty="0"/>
          </a:p>
        </p:txBody>
      </p:sp>
      <p:sp>
        <p:nvSpPr>
          <p:cNvPr id="27" name="Text 24"/>
          <p:cNvSpPr txBox="1"/>
          <p:nvPr/>
        </p:nvSpPr>
        <p:spPr>
          <a:xfrm>
            <a:off x="6720840" y="1965960"/>
            <a:ext cx="4754880" cy="4297680"/>
          </a:xfrm>
          <a:prstGeom prst="rect">
            <a:avLst/>
          </a:prstGeom>
          <a:noFill/>
          <a:ln/>
        </p:spPr>
        <p:txBody>
          <a:bodyPr wrap="square" lIns="0" tIns="0" rIns="0" bIns="0" rtlCol="0" anchor="t"/>
          <a:lstStyle/>
          <a:p>
            <a:pPr marL="342900" indent="-342900">
              <a:spcAft>
                <a:spcPts val="700"/>
              </a:spcAft>
              <a:buSzPct val="100000"/>
              <a:buChar char="•"/>
            </a:pPr>
            <a:r>
              <a:rPr lang="en-US" sz="1300" b="1" dirty="0">
                <a:solidFill>
                  <a:srgbClr val="1B2A41"/>
                </a:solidFill>
                <a:latin typeface="Calibri" pitchFamily="34" charset="0"/>
                <a:ea typeface="Calibri" pitchFamily="34" charset="-122"/>
                <a:cs typeface="Calibri" pitchFamily="34" charset="-120"/>
              </a:rPr>
              <a:t>Login: </a:t>
            </a:r>
            <a:r>
              <a:rPr lang="en-US" sz="1300" dirty="0">
                <a:solidFill>
                  <a:srgbClr val="1F2933"/>
                </a:solidFill>
                <a:latin typeface="Calibri" pitchFamily="34" charset="0"/>
                <a:ea typeface="Calibri" pitchFamily="34" charset="-122"/>
                <a:cs typeface="Calibri" pitchFamily="34" charset="-120"/>
              </a:rPr>
              <a:t>username + password gives a JWT token that expires after 60 minutes</a:t>
            </a:r>
            <a:endParaRPr lang="en-US" sz="1300" dirty="0"/>
          </a:p>
          <a:p>
            <a:pPr marL="342900" indent="-342900">
              <a:spcAft>
                <a:spcPts val="700"/>
              </a:spcAft>
              <a:buSzPct val="100000"/>
              <a:buChar char="•"/>
            </a:pPr>
            <a:r>
              <a:rPr lang="en-US" sz="1300" b="1" dirty="0">
                <a:solidFill>
                  <a:srgbClr val="1B2A41"/>
                </a:solidFill>
                <a:latin typeface="Calibri" pitchFamily="34" charset="0"/>
                <a:ea typeface="Calibri" pitchFamily="34" charset="-122"/>
                <a:cs typeface="Calibri" pitchFamily="34" charset="-120"/>
              </a:rPr>
              <a:t>Passwords: </a:t>
            </a:r>
            <a:r>
              <a:rPr lang="en-US" sz="1300" dirty="0">
                <a:solidFill>
                  <a:srgbClr val="1F2933"/>
                </a:solidFill>
                <a:latin typeface="Calibri" pitchFamily="34" charset="0"/>
                <a:ea typeface="Calibri" pitchFamily="34" charset="-122"/>
                <a:cs typeface="Calibri" pitchFamily="34" charset="-120"/>
              </a:rPr>
              <a:t>stored as bcrypt hashes, never as plain text</a:t>
            </a:r>
            <a:endParaRPr lang="en-US" sz="1300" dirty="0"/>
          </a:p>
          <a:p>
            <a:pPr marL="342900" indent="-342900">
              <a:spcAft>
                <a:spcPts val="700"/>
              </a:spcAft>
              <a:buSzPct val="100000"/>
              <a:buChar char="•"/>
            </a:pPr>
            <a:r>
              <a:rPr lang="en-US" sz="1300" b="1" dirty="0">
                <a:solidFill>
                  <a:srgbClr val="1B2A41"/>
                </a:solidFill>
                <a:latin typeface="Calibri" pitchFamily="34" charset="0"/>
                <a:ea typeface="Calibri" pitchFamily="34" charset="-122"/>
                <a:cs typeface="Calibri" pitchFamily="34" charset="-120"/>
              </a:rPr>
              <a:t>Roles: </a:t>
            </a:r>
            <a:r>
              <a:rPr lang="en-US" sz="1300" dirty="0">
                <a:solidFill>
                  <a:srgbClr val="1F2933"/>
                </a:solidFill>
                <a:latin typeface="Calibri" pitchFamily="34" charset="0"/>
                <a:ea typeface="Calibri" pitchFamily="34" charset="-122"/>
                <a:cs typeface="Calibri" pitchFamily="34" charset="-120"/>
              </a:rPr>
              <a:t>6 roles (chairman, dean, warden, clerk, mess manager, student); each API allows only certain roles</a:t>
            </a:r>
            <a:endParaRPr lang="en-US" sz="1300" dirty="0"/>
          </a:p>
          <a:p>
            <a:pPr marL="342900" indent="-342900">
              <a:spcAft>
                <a:spcPts val="700"/>
              </a:spcAft>
              <a:buSzPct val="100000"/>
              <a:buChar char="•"/>
            </a:pPr>
            <a:r>
              <a:rPr lang="en-US" sz="1300" b="1" dirty="0">
                <a:solidFill>
                  <a:srgbClr val="1B2A41"/>
                </a:solidFill>
                <a:latin typeface="Calibri" pitchFamily="34" charset="0"/>
                <a:ea typeface="Calibri" pitchFamily="34" charset="-122"/>
                <a:cs typeface="Calibri" pitchFamily="34" charset="-120"/>
              </a:rPr>
              <a:t>Hostel scope: </a:t>
            </a:r>
            <a:r>
              <a:rPr lang="en-US" sz="1300" dirty="0">
                <a:solidFill>
                  <a:srgbClr val="1F2933"/>
                </a:solidFill>
                <a:latin typeface="Calibri" pitchFamily="34" charset="0"/>
                <a:ea typeface="Calibri" pitchFamily="34" charset="-122"/>
                <a:cs typeface="Calibri" pitchFamily="34" charset="-120"/>
              </a:rPr>
              <a:t>a warden, clerk or mess manager can only access their own hostel</a:t>
            </a:r>
            <a:endParaRPr lang="en-US" sz="1300" dirty="0"/>
          </a:p>
          <a:p>
            <a:pPr marL="342900" indent="-342900">
              <a:spcAft>
                <a:spcPts val="700"/>
              </a:spcAft>
              <a:buSzPct val="100000"/>
              <a:buChar char="•"/>
            </a:pPr>
            <a:r>
              <a:rPr lang="en-US" sz="1300" b="1" dirty="0">
                <a:solidFill>
                  <a:srgbClr val="1B2A41"/>
                </a:solidFill>
                <a:latin typeface="Calibri" pitchFamily="34" charset="0"/>
                <a:ea typeface="Calibri" pitchFamily="34" charset="-122"/>
                <a:cs typeface="Calibri" pitchFamily="34" charset="-120"/>
              </a:rPr>
              <a:t>No editing money records: </a:t>
            </a:r>
            <a:r>
              <a:rPr lang="en-US" sz="1300" dirty="0">
                <a:solidFill>
                  <a:srgbClr val="1F2933"/>
                </a:solidFill>
                <a:latin typeface="Calibri" pitchFamily="34" charset="0"/>
                <a:ea typeface="Calibri" pitchFamily="34" charset="-122"/>
                <a:cs typeface="Calibri" pitchFamily="34" charset="-120"/>
              </a:rPr>
              <a:t>payments, cheques and salaries cannot be deleted</a:t>
            </a:r>
            <a:endParaRPr lang="en-US" sz="1300" dirty="0"/>
          </a:p>
          <a:p>
            <a:pPr marL="342900" indent="-342900">
              <a:spcAft>
                <a:spcPts val="700"/>
              </a:spcAft>
              <a:buSzPct val="100000"/>
              <a:buChar char="•"/>
            </a:pPr>
            <a:r>
              <a:rPr lang="en-US" sz="1300" b="1" dirty="0">
                <a:solidFill>
                  <a:srgbClr val="1B2A41"/>
                </a:solidFill>
                <a:latin typeface="Calibri" pitchFamily="34" charset="0"/>
                <a:ea typeface="Calibri" pitchFamily="34" charset="-122"/>
                <a:cs typeface="Calibri" pitchFamily="34" charset="-120"/>
              </a:rPr>
              <a:t>Secrets </a:t>
            </a:r>
            <a:r>
              <a:rPr lang="en-US" sz="1300" dirty="0">
                <a:solidFill>
                  <a:srgbClr val="1F2933"/>
                </a:solidFill>
                <a:latin typeface="Calibri" pitchFamily="34" charset="0"/>
                <a:ea typeface="Calibri" pitchFamily="34" charset="-122"/>
                <a:cs typeface="Calibri" pitchFamily="34" charset="-120"/>
              </a:rPr>
              <a:t>(DB password, JWT key) live in the .env file, not in the code</a:t>
            </a:r>
            <a:endParaRPr lang="en-US" sz="1300" dirty="0"/>
          </a:p>
        </p:txBody>
      </p:sp>
    </p:spTree>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300" dirty="0">
                <a:solidFill>
                  <a:srgbClr val="C8553D"/>
                </a:solidFill>
                <a:latin typeface="Calibri" pitchFamily="34" charset="0"/>
                <a:ea typeface="Calibri" pitchFamily="34" charset="-122"/>
                <a:cs typeface="Calibri" pitchFamily="34" charset="-120"/>
              </a:rPr>
              <a:t>RESULT</a:t>
            </a:r>
            <a:endParaRPr lang="en-US" sz="1200" dirty="0"/>
          </a:p>
        </p:txBody>
      </p:sp>
      <p:sp>
        <p:nvSpPr>
          <p:cNvPr id="3" name="Text 1"/>
          <p:cNvSpPr txBox="1"/>
          <p:nvPr/>
        </p:nvSpPr>
        <p:spPr>
          <a:xfrm>
            <a:off x="548640" y="566928"/>
            <a:ext cx="11094415" cy="640080"/>
          </a:xfrm>
          <a:prstGeom prst="rect">
            <a:avLst/>
          </a:prstGeom>
          <a:noFill/>
          <a:ln/>
        </p:spPr>
        <p:txBody>
          <a:bodyPr wrap="square" lIns="0" tIns="0" rIns="0" bIns="0" rtlCol="0" anchor="ctr"/>
          <a:lstStyle/>
          <a:p>
            <a:pPr marL="0" indent="0">
              <a:buNone/>
            </a:pPr>
            <a:r>
              <a:rPr lang="en-US" sz="2800" b="1" dirty="0">
                <a:solidFill>
                  <a:srgbClr val="1B2A41"/>
                </a:solidFill>
                <a:latin typeface="Cambria" pitchFamily="34" charset="0"/>
                <a:ea typeface="Cambria" pitchFamily="34" charset="-122"/>
                <a:cs typeface="Cambria" pitchFamily="34" charset="-120"/>
              </a:rPr>
              <a:t>Screenshots of the final website</a:t>
            </a:r>
            <a:endParaRPr lang="en-US" sz="2800" dirty="0"/>
          </a:p>
        </p:txBody>
      </p:sp>
      <p:sp>
        <p:nvSpPr>
          <p:cNvPr id="4" name="Text 2"/>
          <p:cNvSpPr txBox="1"/>
          <p:nvPr/>
        </p:nvSpPr>
        <p:spPr>
          <a:xfrm>
            <a:off x="11185855" y="6400800"/>
            <a:ext cx="457200" cy="274320"/>
          </a:xfrm>
          <a:prstGeom prst="rect">
            <a:avLst/>
          </a:prstGeom>
          <a:noFill/>
          <a:ln/>
        </p:spPr>
        <p:txBody>
          <a:bodyPr wrap="square" lIns="0" tIns="0" rIns="0" bIns="0" rtlCol="0" anchor="ctr"/>
          <a:lstStyle/>
          <a:p>
            <a:pPr marL="0" indent="0" algn="r">
              <a:buNone/>
            </a:pPr>
            <a:r>
              <a:rPr lang="en-US" sz="1000" dirty="0">
                <a:solidFill>
                  <a:srgbClr val="5B6B7B"/>
                </a:solidFill>
                <a:latin typeface="Calibri" pitchFamily="34" charset="0"/>
                <a:ea typeface="Calibri" pitchFamily="34" charset="-122"/>
                <a:cs typeface="Calibri" pitchFamily="34" charset="-120"/>
              </a:rPr>
              <a:t>12</a:t>
            </a:r>
            <a:endParaRPr lang="en-US" sz="1000" dirty="0"/>
          </a:p>
        </p:txBody>
      </p:sp>
      <p:sp>
        <p:nvSpPr>
          <p:cNvPr id="6" name="Shape 3"/>
          <p:cNvSpPr/>
          <p:nvPr/>
        </p:nvSpPr>
        <p:spPr>
          <a:xfrm>
            <a:off x="1371706" y="1243584"/>
            <a:ext cx="3794547" cy="2359152"/>
          </a:xfrm>
          <a:prstGeom prst="rect">
            <a:avLst/>
          </a:prstGeom>
          <a:solidFill>
            <a:srgbClr val="FFFFFF"/>
          </a:solidFill>
          <a:ln w="9525">
            <a:solidFill>
              <a:srgbClr val="C9D3DD"/>
            </a:solidFill>
            <a:prstDash val="solid"/>
          </a:ln>
          <a:effectLst>
            <a:outerShdw blurRad="76200" dist="25400" dir="5400000" algn="bl" rotWithShape="0">
              <a:srgbClr val="000000">
                <a:alpha val="15000"/>
              </a:srgbClr>
            </a:outerShdw>
          </a:effectLst>
        </p:spPr>
      </p:sp>
      <p:pic>
        <p:nvPicPr>
          <p:cNvPr id="7" name="Image 0" descr="C:\Users\Rahul\AppData\Local\Temp\claude\C--Users-Rahul-AppData-Roaming-Claude-scratch-workspaces-cdf4d821-eeb4-4a9a-a534-95f3e8b5ef5e-df7fd750-804c-4772-884a-1f73fe42c84d-scratch-2026-09-29-45a3c3\34671f05-19cf-43b2-b04e-0db0df211d26\scratchpad\deck\ui_student_dues.png"/>
          <p:cNvPicPr>
            <a:picLocks noChangeAspect="1"/>
          </p:cNvPicPr>
          <p:nvPr/>
        </p:nvPicPr>
        <p:blipFill>
          <a:blip r:embed="rId3"/>
          <a:stretch>
            <a:fillRect/>
          </a:stretch>
        </p:blipFill>
        <p:spPr>
          <a:xfrm>
            <a:off x="1408282" y="1280160"/>
            <a:ext cx="3721395" cy="2286000"/>
          </a:xfrm>
          <a:prstGeom prst="rect">
            <a:avLst/>
          </a:prstGeom>
        </p:spPr>
      </p:pic>
      <p:sp>
        <p:nvSpPr>
          <p:cNvPr id="8" name="Text 4"/>
          <p:cNvSpPr txBox="1"/>
          <p:nvPr/>
        </p:nvSpPr>
        <p:spPr>
          <a:xfrm>
            <a:off x="548640" y="3611880"/>
            <a:ext cx="5440680" cy="274320"/>
          </a:xfrm>
          <a:prstGeom prst="rect">
            <a:avLst/>
          </a:prstGeom>
          <a:noFill/>
          <a:ln/>
        </p:spPr>
        <p:txBody>
          <a:bodyPr wrap="square" lIns="0" tIns="0" rIns="0" bIns="0" rtlCol="0" anchor="t"/>
          <a:lstStyle/>
          <a:p>
            <a:pPr marL="0" indent="0" algn="ctr">
              <a:buNone/>
            </a:pPr>
            <a:r>
              <a:rPr lang="en-US" sz="1250" b="1" dirty="0">
                <a:solidFill>
                  <a:srgbClr val="1B2A41"/>
                </a:solidFill>
                <a:latin typeface="Calibri" pitchFamily="34" charset="0"/>
                <a:ea typeface="Calibri" pitchFamily="34" charset="-122"/>
                <a:cs typeface="Calibri" pitchFamily="34" charset="-120"/>
              </a:rPr>
              <a:t>Student: dues breakdown and payment</a:t>
            </a:r>
            <a:endParaRPr lang="en-US" sz="1250" dirty="0"/>
          </a:p>
        </p:txBody>
      </p:sp>
      <p:sp>
        <p:nvSpPr>
          <p:cNvPr id="9" name="Shape 5"/>
          <p:cNvSpPr/>
          <p:nvPr/>
        </p:nvSpPr>
        <p:spPr>
          <a:xfrm>
            <a:off x="6995266" y="1243584"/>
            <a:ext cx="3794547" cy="2359152"/>
          </a:xfrm>
          <a:prstGeom prst="rect">
            <a:avLst/>
          </a:prstGeom>
          <a:solidFill>
            <a:srgbClr val="FFFFFF"/>
          </a:solidFill>
          <a:ln w="9525">
            <a:solidFill>
              <a:srgbClr val="C9D3DD"/>
            </a:solidFill>
            <a:prstDash val="solid"/>
          </a:ln>
          <a:effectLst>
            <a:outerShdw blurRad="76200" dist="25400" dir="5400000" algn="bl" rotWithShape="0">
              <a:srgbClr val="000000">
                <a:alpha val="15000"/>
              </a:srgbClr>
            </a:outerShdw>
          </a:effectLst>
        </p:spPr>
      </p:sp>
      <p:pic>
        <p:nvPicPr>
          <p:cNvPr id="10" name="Image 1" descr="C:\Users\Rahul\AppData\Local\Temp\claude\C--Users-Rahul-AppData-Roaming-Claude-scratch-workspaces-cdf4d821-eeb4-4a9a-a534-95f3e8b5ef5e-df7fd750-804c-4772-884a-1f73fe42c84d-scratch-2026-09-29-45a3c3\34671f05-19cf-43b2-b04e-0db0df211d26\scratchpad\deck\ui_warden_complaints.png"/>
          <p:cNvPicPr>
            <a:picLocks noChangeAspect="1"/>
          </p:cNvPicPr>
          <p:nvPr/>
        </p:nvPicPr>
        <p:blipFill>
          <a:blip r:embed="rId4"/>
          <a:stretch>
            <a:fillRect/>
          </a:stretch>
        </p:blipFill>
        <p:spPr>
          <a:xfrm>
            <a:off x="7031842" y="1280160"/>
            <a:ext cx="3721395" cy="2286000"/>
          </a:xfrm>
          <a:prstGeom prst="rect">
            <a:avLst/>
          </a:prstGeom>
        </p:spPr>
      </p:pic>
      <p:sp>
        <p:nvSpPr>
          <p:cNvPr id="11" name="Text 6"/>
          <p:cNvSpPr txBox="1"/>
          <p:nvPr/>
        </p:nvSpPr>
        <p:spPr>
          <a:xfrm>
            <a:off x="6172200" y="3611880"/>
            <a:ext cx="5440680" cy="274320"/>
          </a:xfrm>
          <a:prstGeom prst="rect">
            <a:avLst/>
          </a:prstGeom>
          <a:noFill/>
          <a:ln/>
        </p:spPr>
        <p:txBody>
          <a:bodyPr wrap="square" lIns="0" tIns="0" rIns="0" bIns="0" rtlCol="0" anchor="t"/>
          <a:lstStyle/>
          <a:p>
            <a:pPr marL="0" indent="0" algn="ctr">
              <a:buNone/>
            </a:pPr>
            <a:r>
              <a:rPr lang="en-US" sz="1250" b="1" dirty="0">
                <a:solidFill>
                  <a:srgbClr val="1B2A41"/>
                </a:solidFill>
                <a:latin typeface="Calibri" pitchFamily="34" charset="0"/>
                <a:ea typeface="Calibri" pitchFamily="34" charset="-122"/>
                <a:cs typeface="Calibri" pitchFamily="34" charset="-120"/>
              </a:rPr>
              <a:t>Warden: hostel complaints with the Post ATR button</a:t>
            </a:r>
            <a:endParaRPr lang="en-US" sz="1250" dirty="0"/>
          </a:p>
        </p:txBody>
      </p:sp>
      <p:sp>
        <p:nvSpPr>
          <p:cNvPr id="12" name="Shape 7"/>
          <p:cNvSpPr/>
          <p:nvPr/>
        </p:nvSpPr>
        <p:spPr>
          <a:xfrm>
            <a:off x="1371706" y="3849624"/>
            <a:ext cx="3794547" cy="2359152"/>
          </a:xfrm>
          <a:prstGeom prst="rect">
            <a:avLst/>
          </a:prstGeom>
          <a:solidFill>
            <a:srgbClr val="FFFFFF"/>
          </a:solidFill>
          <a:ln w="9525">
            <a:solidFill>
              <a:srgbClr val="C9D3DD"/>
            </a:solidFill>
            <a:prstDash val="solid"/>
          </a:ln>
          <a:effectLst>
            <a:outerShdw blurRad="76200" dist="25400" dir="5400000" algn="bl" rotWithShape="0">
              <a:srgbClr val="000000">
                <a:alpha val="15000"/>
              </a:srgbClr>
            </a:outerShdw>
          </a:effectLst>
        </p:spPr>
      </p:sp>
      <p:pic>
        <p:nvPicPr>
          <p:cNvPr id="13" name="Image 2" descr="C:\Users\Rahul\AppData\Local\Temp\claude\C--Users-Rahul-AppData-Roaming-Claude-scratch-workspaces-cdf4d821-eeb4-4a9a-a534-95f3e8b5ef5e-df7fd750-804c-4772-884a-1f73fe42c84d-scratch-2026-09-29-45a3c3\34671f05-19cf-43b2-b04e-0db0df211d26\scratchpad\deck\ui_warden_statement.png"/>
          <p:cNvPicPr>
            <a:picLocks noChangeAspect="1"/>
          </p:cNvPicPr>
          <p:nvPr/>
        </p:nvPicPr>
        <p:blipFill>
          <a:blip r:embed="rId5"/>
          <a:stretch>
            <a:fillRect/>
          </a:stretch>
        </p:blipFill>
        <p:spPr>
          <a:xfrm>
            <a:off x="1408282" y="3886200"/>
            <a:ext cx="3721395" cy="2286000"/>
          </a:xfrm>
          <a:prstGeom prst="rect">
            <a:avLst/>
          </a:prstGeom>
        </p:spPr>
      </p:pic>
      <p:sp>
        <p:nvSpPr>
          <p:cNvPr id="14" name="Text 8"/>
          <p:cNvSpPr txBox="1"/>
          <p:nvPr/>
        </p:nvSpPr>
        <p:spPr>
          <a:xfrm>
            <a:off x="548640" y="6217920"/>
            <a:ext cx="5440680" cy="274320"/>
          </a:xfrm>
          <a:prstGeom prst="rect">
            <a:avLst/>
          </a:prstGeom>
          <a:noFill/>
          <a:ln/>
        </p:spPr>
        <p:txBody>
          <a:bodyPr wrap="square" lIns="0" tIns="0" rIns="0" bIns="0" rtlCol="0" anchor="t"/>
          <a:lstStyle/>
          <a:p>
            <a:pPr marL="0" indent="0" algn="ctr">
              <a:buNone/>
            </a:pPr>
            <a:r>
              <a:rPr lang="en-US" sz="1250" b="1" dirty="0">
                <a:solidFill>
                  <a:srgbClr val="1B2A41"/>
                </a:solidFill>
                <a:latin typeface="Calibri" pitchFamily="34" charset="0"/>
                <a:ea typeface="Calibri" pitchFamily="34" charset="-122"/>
                <a:cs typeface="Calibri" pitchFamily="34" charset="-120"/>
              </a:rPr>
              <a:t>Warden: annual statement of accounts (printable)</a:t>
            </a:r>
            <a:endParaRPr lang="en-US" sz="1250" dirty="0"/>
          </a:p>
        </p:txBody>
      </p:sp>
      <p:sp>
        <p:nvSpPr>
          <p:cNvPr id="15" name="Shape 9"/>
          <p:cNvSpPr/>
          <p:nvPr/>
        </p:nvSpPr>
        <p:spPr>
          <a:xfrm>
            <a:off x="6995266" y="3849624"/>
            <a:ext cx="3794547" cy="2359152"/>
          </a:xfrm>
          <a:prstGeom prst="rect">
            <a:avLst/>
          </a:prstGeom>
          <a:solidFill>
            <a:srgbClr val="FFFFFF"/>
          </a:solidFill>
          <a:ln w="9525">
            <a:solidFill>
              <a:srgbClr val="C9D3DD"/>
            </a:solidFill>
            <a:prstDash val="solid"/>
          </a:ln>
          <a:effectLst>
            <a:outerShdw blurRad="76200" dist="25400" dir="5400000" algn="bl" rotWithShape="0">
              <a:srgbClr val="000000">
                <a:alpha val="15000"/>
              </a:srgbClr>
            </a:outerShdw>
          </a:effectLst>
        </p:spPr>
      </p:sp>
      <p:pic>
        <p:nvPicPr>
          <p:cNvPr id="16" name="Image 3" descr="C:\Users\Rahul\AppData\Local\Temp\claude\C--Users-Rahul-AppData-Roaming-Claude-scratch-workspaces-cdf4d821-eeb4-4a9a-a534-95f3e8b5ef5e-df7fd750-804c-4772-884a-1f73fe42c84d-scratch-2026-09-29-45a3c3\34671f05-19cf-43b2-b04e-0db0df211d26\scratchpad\deck\ui_clerk_salary.png"/>
          <p:cNvPicPr>
            <a:picLocks noChangeAspect="1"/>
          </p:cNvPicPr>
          <p:nvPr/>
        </p:nvPicPr>
        <p:blipFill>
          <a:blip r:embed="rId6"/>
          <a:stretch>
            <a:fillRect/>
          </a:stretch>
        </p:blipFill>
        <p:spPr>
          <a:xfrm>
            <a:off x="7031842" y="3886200"/>
            <a:ext cx="3721395" cy="2286000"/>
          </a:xfrm>
          <a:prstGeom prst="rect">
            <a:avLst/>
          </a:prstGeom>
        </p:spPr>
      </p:pic>
      <p:sp>
        <p:nvSpPr>
          <p:cNvPr id="17" name="Text 10"/>
          <p:cNvSpPr txBox="1"/>
          <p:nvPr/>
        </p:nvSpPr>
        <p:spPr>
          <a:xfrm>
            <a:off x="6172200" y="6217920"/>
            <a:ext cx="5440680" cy="274320"/>
          </a:xfrm>
          <a:prstGeom prst="rect">
            <a:avLst/>
          </a:prstGeom>
          <a:noFill/>
          <a:ln/>
        </p:spPr>
        <p:txBody>
          <a:bodyPr wrap="square" lIns="0" tIns="0" rIns="0" bIns="0" rtlCol="0" anchor="t"/>
          <a:lstStyle/>
          <a:p>
            <a:pPr marL="0" indent="0" algn="ctr">
              <a:buNone/>
            </a:pPr>
            <a:r>
              <a:rPr lang="en-US" sz="1250" b="1" dirty="0">
                <a:solidFill>
                  <a:srgbClr val="1B2A41"/>
                </a:solidFill>
                <a:latin typeface="Calibri" pitchFamily="34" charset="0"/>
                <a:ea typeface="Calibri" pitchFamily="34" charset="-122"/>
                <a:cs typeface="Calibri" pitchFamily="34" charset="-120"/>
              </a:rPr>
              <a:t>Clerk: salary list and cheques, leave deducted</a:t>
            </a:r>
            <a:endParaRPr lang="en-US" sz="1250" dirty="0"/>
          </a:p>
        </p:txBody>
      </p:sp>
    </p:spTree>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300" dirty="0">
                <a:solidFill>
                  <a:srgbClr val="C8553D"/>
                </a:solidFill>
                <a:latin typeface="Calibri" pitchFamily="34" charset="0"/>
                <a:ea typeface="Calibri" pitchFamily="34" charset="-122"/>
                <a:cs typeface="Calibri" pitchFamily="34" charset="-120"/>
              </a:rPr>
              <a:t>TESTING</a:t>
            </a:r>
            <a:endParaRPr lang="en-US" sz="1200" dirty="0"/>
          </a:p>
        </p:txBody>
      </p:sp>
      <p:sp>
        <p:nvSpPr>
          <p:cNvPr id="3" name="Text 1"/>
          <p:cNvSpPr txBox="1"/>
          <p:nvPr/>
        </p:nvSpPr>
        <p:spPr>
          <a:xfrm>
            <a:off x="548640" y="566928"/>
            <a:ext cx="11094415" cy="640080"/>
          </a:xfrm>
          <a:prstGeom prst="rect">
            <a:avLst/>
          </a:prstGeom>
          <a:noFill/>
          <a:ln/>
        </p:spPr>
        <p:txBody>
          <a:bodyPr wrap="square" lIns="0" tIns="0" rIns="0" bIns="0" rtlCol="0" anchor="ctr"/>
          <a:lstStyle/>
          <a:p>
            <a:pPr marL="0" indent="0">
              <a:buNone/>
            </a:pPr>
            <a:r>
              <a:rPr lang="en-US" sz="2800" b="1" dirty="0">
                <a:solidFill>
                  <a:srgbClr val="1B2A41"/>
                </a:solidFill>
                <a:latin typeface="Cambria" pitchFamily="34" charset="0"/>
                <a:ea typeface="Cambria" pitchFamily="34" charset="-122"/>
                <a:cs typeface="Cambria" pitchFamily="34" charset="-120"/>
              </a:rPr>
              <a:t>Testing: approach and important test cases</a:t>
            </a:r>
            <a:endParaRPr lang="en-US" sz="2800" dirty="0"/>
          </a:p>
        </p:txBody>
      </p:sp>
      <p:sp>
        <p:nvSpPr>
          <p:cNvPr id="4" name="Text 2"/>
          <p:cNvSpPr txBox="1"/>
          <p:nvPr/>
        </p:nvSpPr>
        <p:spPr>
          <a:xfrm>
            <a:off x="11185855" y="6400800"/>
            <a:ext cx="457200" cy="274320"/>
          </a:xfrm>
          <a:prstGeom prst="rect">
            <a:avLst/>
          </a:prstGeom>
          <a:noFill/>
          <a:ln/>
        </p:spPr>
        <p:txBody>
          <a:bodyPr wrap="square" lIns="0" tIns="0" rIns="0" bIns="0" rtlCol="0" anchor="ctr"/>
          <a:lstStyle/>
          <a:p>
            <a:pPr marL="0" indent="0" algn="r">
              <a:buNone/>
            </a:pPr>
            <a:r>
              <a:rPr lang="en-US" sz="1000" dirty="0">
                <a:solidFill>
                  <a:srgbClr val="5B6B7B"/>
                </a:solidFill>
                <a:latin typeface="Calibri" pitchFamily="34" charset="0"/>
                <a:ea typeface="Calibri" pitchFamily="34" charset="-122"/>
                <a:cs typeface="Calibri" pitchFamily="34" charset="-120"/>
              </a:rPr>
              <a:t>13</a:t>
            </a:r>
            <a:endParaRPr lang="en-US" sz="1000" dirty="0"/>
          </a:p>
        </p:txBody>
      </p:sp>
      <p:sp>
        <p:nvSpPr>
          <p:cNvPr id="6" name="Shape 3"/>
          <p:cNvSpPr/>
          <p:nvPr/>
        </p:nvSpPr>
        <p:spPr>
          <a:xfrm>
            <a:off x="548640" y="1325880"/>
            <a:ext cx="3566160" cy="868680"/>
          </a:xfrm>
          <a:prstGeom prst="roundRect">
            <a:avLst>
              <a:gd name="adj" fmla="val 8421"/>
            </a:avLst>
          </a:prstGeom>
          <a:solidFill>
            <a:srgbClr val="E3ECEC"/>
          </a:solidFill>
          <a:ln w="12700">
            <a:solidFill>
              <a:srgbClr val="E3ECEC"/>
            </a:solidFill>
            <a:prstDash val="solid"/>
          </a:ln>
        </p:spPr>
      </p:sp>
      <p:sp>
        <p:nvSpPr>
          <p:cNvPr id="7" name="Text 4"/>
          <p:cNvSpPr txBox="1"/>
          <p:nvPr/>
        </p:nvSpPr>
        <p:spPr>
          <a:xfrm>
            <a:off x="731520" y="1417320"/>
            <a:ext cx="3200400" cy="320040"/>
          </a:xfrm>
          <a:prstGeom prst="rect">
            <a:avLst/>
          </a:prstGeom>
          <a:noFill/>
          <a:ln/>
        </p:spPr>
        <p:txBody>
          <a:bodyPr wrap="square" lIns="0" tIns="0" rIns="0" bIns="0" rtlCol="0" anchor="t"/>
          <a:lstStyle/>
          <a:p>
            <a:pPr marL="0" indent="0">
              <a:buNone/>
            </a:pPr>
            <a:r>
              <a:rPr lang="en-US" sz="1400" b="1" dirty="0">
                <a:solidFill>
                  <a:srgbClr val="2A7F80"/>
                </a:solidFill>
                <a:latin typeface="Calibri" pitchFamily="34" charset="0"/>
                <a:ea typeface="Calibri" pitchFamily="34" charset="-122"/>
                <a:cs typeface="Calibri" pitchFamily="34" charset="-120"/>
              </a:rPr>
              <a:t>pytest + TestClient</a:t>
            </a:r>
            <a:endParaRPr lang="en-US" sz="1400" dirty="0"/>
          </a:p>
        </p:txBody>
      </p:sp>
      <p:sp>
        <p:nvSpPr>
          <p:cNvPr id="8" name="Text 5"/>
          <p:cNvSpPr txBox="1"/>
          <p:nvPr/>
        </p:nvSpPr>
        <p:spPr>
          <a:xfrm>
            <a:off x="731520" y="1737360"/>
            <a:ext cx="3200400" cy="365760"/>
          </a:xfrm>
          <a:prstGeom prst="rect">
            <a:avLst/>
          </a:prstGeom>
          <a:noFill/>
          <a:ln/>
        </p:spPr>
        <p:txBody>
          <a:bodyPr wrap="square" lIns="0" tIns="0" rIns="0" bIns="0" rtlCol="0" anchor="t"/>
          <a:lstStyle/>
          <a:p>
            <a:pPr marL="0" indent="0">
              <a:buNone/>
            </a:pPr>
            <a:r>
              <a:rPr lang="en-US" sz="1200" dirty="0">
                <a:solidFill>
                  <a:srgbClr val="5B6B7B"/>
                </a:solidFill>
                <a:latin typeface="Calibri" pitchFamily="34" charset="0"/>
                <a:ea typeface="Calibri" pitchFamily="34" charset="-122"/>
                <a:cs typeface="Calibri" pitchFamily="34" charset="-120"/>
              </a:rPr>
              <a:t>calls the real API like a browser would</a:t>
            </a:r>
            <a:endParaRPr lang="en-US" sz="1200" dirty="0"/>
          </a:p>
        </p:txBody>
      </p:sp>
      <p:sp>
        <p:nvSpPr>
          <p:cNvPr id="9" name="Shape 6"/>
          <p:cNvSpPr/>
          <p:nvPr/>
        </p:nvSpPr>
        <p:spPr>
          <a:xfrm>
            <a:off x="4297680" y="1325880"/>
            <a:ext cx="3566160" cy="868680"/>
          </a:xfrm>
          <a:prstGeom prst="roundRect">
            <a:avLst>
              <a:gd name="adj" fmla="val 8421"/>
            </a:avLst>
          </a:prstGeom>
          <a:solidFill>
            <a:srgbClr val="E3ECEC"/>
          </a:solidFill>
          <a:ln w="12700">
            <a:solidFill>
              <a:srgbClr val="E3ECEC"/>
            </a:solidFill>
            <a:prstDash val="solid"/>
          </a:ln>
        </p:spPr>
      </p:sp>
      <p:sp>
        <p:nvSpPr>
          <p:cNvPr id="10" name="Text 7"/>
          <p:cNvSpPr txBox="1"/>
          <p:nvPr/>
        </p:nvSpPr>
        <p:spPr>
          <a:xfrm>
            <a:off x="4480560" y="1417320"/>
            <a:ext cx="3200400" cy="320040"/>
          </a:xfrm>
          <a:prstGeom prst="rect">
            <a:avLst/>
          </a:prstGeom>
          <a:noFill/>
          <a:ln/>
        </p:spPr>
        <p:txBody>
          <a:bodyPr wrap="square" lIns="0" tIns="0" rIns="0" bIns="0" rtlCol="0" anchor="t"/>
          <a:lstStyle/>
          <a:p>
            <a:pPr marL="0" indent="0">
              <a:buNone/>
            </a:pPr>
            <a:r>
              <a:rPr lang="en-US" sz="1400" b="1" dirty="0">
                <a:solidFill>
                  <a:srgbClr val="2A7F80"/>
                </a:solidFill>
                <a:latin typeface="Calibri" pitchFamily="34" charset="0"/>
                <a:ea typeface="Calibri" pitchFamily="34" charset="-122"/>
                <a:cs typeface="Calibri" pitchFamily="34" charset="-120"/>
              </a:rPr>
              <a:t>Fresh test database</a:t>
            </a:r>
            <a:endParaRPr lang="en-US" sz="1400" dirty="0"/>
          </a:p>
        </p:txBody>
      </p:sp>
      <p:sp>
        <p:nvSpPr>
          <p:cNvPr id="11" name="Text 8"/>
          <p:cNvSpPr txBox="1"/>
          <p:nvPr/>
        </p:nvSpPr>
        <p:spPr>
          <a:xfrm>
            <a:off x="4480560" y="1737360"/>
            <a:ext cx="3200400" cy="365760"/>
          </a:xfrm>
          <a:prstGeom prst="rect">
            <a:avLst/>
          </a:prstGeom>
          <a:noFill/>
          <a:ln/>
        </p:spPr>
        <p:txBody>
          <a:bodyPr wrap="square" lIns="0" tIns="0" rIns="0" bIns="0" rtlCol="0" anchor="t"/>
          <a:lstStyle/>
          <a:p>
            <a:pPr marL="0" indent="0">
              <a:buNone/>
            </a:pPr>
            <a:r>
              <a:rPr lang="en-US" sz="1200" dirty="0">
                <a:solidFill>
                  <a:srgbClr val="5B6B7B"/>
                </a:solidFill>
                <a:latin typeface="Calibri" pitchFamily="34" charset="0"/>
                <a:ea typeface="Calibri" pitchFamily="34" charset="-122"/>
                <a:cs typeface="Calibri" pitchFamily="34" charset="-120"/>
              </a:rPr>
              <a:t>sample hostels, users and a student for each test</a:t>
            </a:r>
            <a:endParaRPr lang="en-US" sz="1200" dirty="0"/>
          </a:p>
        </p:txBody>
      </p:sp>
      <p:sp>
        <p:nvSpPr>
          <p:cNvPr id="12" name="Shape 9"/>
          <p:cNvSpPr/>
          <p:nvPr/>
        </p:nvSpPr>
        <p:spPr>
          <a:xfrm>
            <a:off x="8046720" y="1325880"/>
            <a:ext cx="3566160" cy="868680"/>
          </a:xfrm>
          <a:prstGeom prst="roundRect">
            <a:avLst>
              <a:gd name="adj" fmla="val 8421"/>
            </a:avLst>
          </a:prstGeom>
          <a:solidFill>
            <a:srgbClr val="E3ECEC"/>
          </a:solidFill>
          <a:ln w="12700">
            <a:solidFill>
              <a:srgbClr val="E3ECEC"/>
            </a:solidFill>
            <a:prstDash val="solid"/>
          </a:ln>
        </p:spPr>
      </p:sp>
      <p:sp>
        <p:nvSpPr>
          <p:cNvPr id="13" name="Text 10"/>
          <p:cNvSpPr txBox="1"/>
          <p:nvPr/>
        </p:nvSpPr>
        <p:spPr>
          <a:xfrm>
            <a:off x="8229600" y="1417320"/>
            <a:ext cx="3200400" cy="320040"/>
          </a:xfrm>
          <a:prstGeom prst="rect">
            <a:avLst/>
          </a:prstGeom>
          <a:noFill/>
          <a:ln/>
        </p:spPr>
        <p:txBody>
          <a:bodyPr wrap="square" lIns="0" tIns="0" rIns="0" bIns="0" rtlCol="0" anchor="t"/>
          <a:lstStyle/>
          <a:p>
            <a:pPr marL="0" indent="0">
              <a:buNone/>
            </a:pPr>
            <a:r>
              <a:rPr lang="en-US" sz="1400" b="1" dirty="0">
                <a:solidFill>
                  <a:srgbClr val="2A7F80"/>
                </a:solidFill>
                <a:latin typeface="Calibri" pitchFamily="34" charset="0"/>
                <a:ea typeface="Calibri" pitchFamily="34" charset="-122"/>
                <a:cs typeface="Calibri" pitchFamily="34" charset="-120"/>
              </a:rPr>
              <a:t>No PostgreSQL needed</a:t>
            </a:r>
            <a:endParaRPr lang="en-US" sz="1400" dirty="0"/>
          </a:p>
        </p:txBody>
      </p:sp>
      <p:sp>
        <p:nvSpPr>
          <p:cNvPr id="14" name="Text 11"/>
          <p:cNvSpPr txBox="1"/>
          <p:nvPr/>
        </p:nvSpPr>
        <p:spPr>
          <a:xfrm>
            <a:off x="8229600" y="1737360"/>
            <a:ext cx="3200400" cy="365760"/>
          </a:xfrm>
          <a:prstGeom prst="rect">
            <a:avLst/>
          </a:prstGeom>
          <a:noFill/>
          <a:ln/>
        </p:spPr>
        <p:txBody>
          <a:bodyPr wrap="square" lIns="0" tIns="0" rIns="0" bIns="0" rtlCol="0" anchor="t"/>
          <a:lstStyle/>
          <a:p>
            <a:pPr marL="0" indent="0">
              <a:buNone/>
            </a:pPr>
            <a:r>
              <a:rPr lang="en-US" sz="1200" dirty="0">
                <a:solidFill>
                  <a:srgbClr val="5B6B7B"/>
                </a:solidFill>
                <a:latin typeface="Calibri" pitchFamily="34" charset="0"/>
                <a:ea typeface="Calibri" pitchFamily="34" charset="-122"/>
                <a:cs typeface="Calibri" pitchFamily="34" charset="-120"/>
              </a:rPr>
              <a:t>tests use a temporary SQLite file</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2423160"/>
          <a:ext cx="11091672" cy="3867912"/>
        </p:xfrm>
        <a:graphic>
          <a:graphicData uri="http://schemas.openxmlformats.org/drawingml/2006/table">
            <a:tbl>
              <a:tblPr/>
              <a:tblGrid>
                <a:gridCol w="45720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gridCol w="3685032">
                  <a:extLst>
                    <a:ext uri="{9D8B030D-6E8A-4147-A177-3AD203B41FA5}">
                      <a16:colId xmlns:a16="http://schemas.microsoft.com/office/drawing/2014/main" val="20003"/>
                    </a:ext>
                  </a:extLst>
                </a:gridCol>
              </a:tblGrid>
              <a:tr h="42976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1B2A41"/>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Test case</a:t>
                      </a:r>
                      <a:endParaRPr lang="en-US" sz="12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1B2A41"/>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Input / action</a:t>
                      </a:r>
                      <a:endParaRPr lang="en-US" sz="12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1B2A41"/>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Expected result</a:t>
                      </a:r>
                      <a:endParaRPr lang="en-US" sz="12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1B2A41"/>
                    </a:solidFill>
                  </a:tcPr>
                </a:tc>
                <a:extLst>
                  <a:ext uri="{0D108BD9-81ED-4DB2-BD59-A6C34878D82A}">
                    <a16:rowId xmlns:a16="http://schemas.microsoft.com/office/drawing/2014/main" val="10000"/>
                  </a:ext>
                </a:extLst>
              </a:tr>
              <a:tr h="429768">
                <a:tc>
                  <a:txBody>
                    <a:bodyPr/>
                    <a:lstStyle/>
                    <a:p>
                      <a:pPr marL="0" indent="0">
                        <a:buNone/>
                      </a:pPr>
                      <a:r>
                        <a:rPr lang="en-US" sz="1250" dirty="0">
                          <a:solidFill>
                            <a:srgbClr val="1F2933"/>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EF2F6"/>
                    </a:solidFill>
                  </a:tcPr>
                </a:tc>
                <a:tc>
                  <a:txBody>
                    <a:bodyPr/>
                    <a:lstStyle/>
                    <a:p>
                      <a:pPr marL="0" indent="0">
                        <a:buNone/>
                      </a:pPr>
                      <a:r>
                        <a:rPr lang="en-US" sz="1250" dirty="0">
                          <a:solidFill>
                            <a:srgbClr val="1F2933"/>
                          </a:solidFill>
                          <a:latin typeface="Calibri" pitchFamily="34" charset="0"/>
                          <a:ea typeface="Calibri" pitchFamily="34" charset="-122"/>
                          <a:cs typeface="Calibri" pitchFamily="34" charset="-120"/>
                        </a:rPr>
                        <a:t>Dues calculation</a:t>
                      </a:r>
                      <a:endParaRPr lang="en-US" sz="12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EF2F6"/>
                    </a:solidFill>
                  </a:tcPr>
                </a:tc>
                <a:tc>
                  <a:txBody>
                    <a:bodyPr/>
                    <a:lstStyle/>
                    <a:p>
                      <a:pPr marL="0" indent="0">
                        <a:buNone/>
                      </a:pPr>
                      <a:r>
                        <a:rPr lang="en-US" sz="1250" dirty="0">
                          <a:solidFill>
                            <a:srgbClr val="1F2933"/>
                          </a:solidFill>
                          <a:latin typeface="Calibri" pitchFamily="34" charset="0"/>
                          <a:ea typeface="Calibri" pitchFamily="34" charset="-122"/>
                          <a:cs typeface="Calibri" pitchFamily="34" charset="-120"/>
                        </a:rPr>
                        <a:t>Mess 3000, amenity 500, rent 1500</a:t>
                      </a:r>
                      <a:endParaRPr lang="en-US" sz="12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EF2F6"/>
                    </a:solidFill>
                  </a:tcPr>
                </a:tc>
                <a:tc>
                  <a:txBody>
                    <a:bodyPr/>
                    <a:lstStyle/>
                    <a:p>
                      <a:pPr marL="0" indent="0">
                        <a:buNone/>
                      </a:pPr>
                      <a:r>
                        <a:rPr lang="en-US" sz="1250" dirty="0">
                          <a:solidFill>
                            <a:srgbClr val="1F2933"/>
                          </a:solidFill>
                          <a:latin typeface="Calibri" pitchFamily="34" charset="0"/>
                          <a:ea typeface="Calibri" pitchFamily="34" charset="-122"/>
                          <a:cs typeface="Calibri" pitchFamily="34" charset="-120"/>
                        </a:rPr>
                        <a:t>Total due = 5000</a:t>
                      </a:r>
                      <a:endParaRPr lang="en-US" sz="12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EF2F6"/>
                    </a:solidFill>
                  </a:tcPr>
                </a:tc>
                <a:extLst>
                  <a:ext uri="{0D108BD9-81ED-4DB2-BD59-A6C34878D82A}">
                    <a16:rowId xmlns:a16="http://schemas.microsoft.com/office/drawing/2014/main" val="10001"/>
                  </a:ext>
                </a:extLst>
              </a:tr>
              <a:tr h="429768">
                <a:tc>
                  <a:txBody>
                    <a:bodyPr/>
                    <a:lstStyle/>
                    <a:p>
                      <a:pPr marL="0" indent="0">
                        <a:buNone/>
                      </a:pPr>
                      <a:r>
                        <a:rPr lang="en-US" sz="1250" dirty="0">
                          <a:solidFill>
                            <a:srgbClr val="1F2933"/>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marL="0" indent="0">
                        <a:buNone/>
                      </a:pPr>
                      <a:r>
                        <a:rPr lang="en-US" sz="1250" dirty="0">
                          <a:solidFill>
                            <a:srgbClr val="1F2933"/>
                          </a:solidFill>
                          <a:latin typeface="Calibri" pitchFamily="34" charset="0"/>
                          <a:ea typeface="Calibri" pitchFamily="34" charset="-122"/>
                          <a:cs typeface="Calibri" pitchFamily="34" charset="-120"/>
                        </a:rPr>
                        <a:t>Double payment</a:t>
                      </a:r>
                      <a:endParaRPr lang="en-US" sz="12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marL="0" indent="0">
                        <a:buNone/>
                      </a:pPr>
                      <a:r>
                        <a:rPr lang="en-US" sz="1250" dirty="0">
                          <a:solidFill>
                            <a:srgbClr val="1F2933"/>
                          </a:solidFill>
                          <a:latin typeface="Calibri" pitchFamily="34" charset="0"/>
                          <a:ea typeface="Calibri" pitchFamily="34" charset="-122"/>
                          <a:cs typeface="Calibri" pitchFamily="34" charset="-120"/>
                        </a:rPr>
                        <a:t>Student pays September twice</a:t>
                      </a:r>
                      <a:endParaRPr lang="en-US" sz="12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marL="0" indent="0">
                        <a:buNone/>
                      </a:pPr>
                      <a:r>
                        <a:rPr lang="en-US" sz="1250" dirty="0">
                          <a:solidFill>
                            <a:srgbClr val="1F2933"/>
                          </a:solidFill>
                          <a:latin typeface="Calibri" pitchFamily="34" charset="0"/>
                          <a:ea typeface="Calibri" pitchFamily="34" charset="-122"/>
                          <a:cs typeface="Calibri" pitchFamily="34" charset="-120"/>
                        </a:rPr>
                        <a:t>Second attempt rejected (409)</a:t>
                      </a:r>
                      <a:endParaRPr lang="en-US" sz="12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9768">
                <a:tc>
                  <a:txBody>
                    <a:bodyPr/>
                    <a:lstStyle/>
                    <a:p>
                      <a:pPr marL="0" indent="0">
                        <a:buNone/>
                      </a:pPr>
                      <a:r>
                        <a:rPr lang="en-US" sz="1250" dirty="0">
                          <a:solidFill>
                            <a:srgbClr val="1F2933"/>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EF2F6"/>
                    </a:solidFill>
                  </a:tcPr>
                </a:tc>
                <a:tc>
                  <a:txBody>
                    <a:bodyPr/>
                    <a:lstStyle/>
                    <a:p>
                      <a:pPr marL="0" indent="0">
                        <a:buNone/>
                      </a:pPr>
                      <a:r>
                        <a:rPr lang="en-US" sz="1250" dirty="0">
                          <a:solidFill>
                            <a:srgbClr val="1F2933"/>
                          </a:solidFill>
                          <a:latin typeface="Calibri" pitchFamily="34" charset="0"/>
                          <a:ea typeface="Calibri" pitchFamily="34" charset="-122"/>
                          <a:cs typeface="Calibri" pitchFamily="34" charset="-120"/>
                        </a:rPr>
                        <a:t>Fake amount</a:t>
                      </a:r>
                      <a:endParaRPr lang="en-US" sz="12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EF2F6"/>
                    </a:solidFill>
                  </a:tcPr>
                </a:tc>
                <a:tc>
                  <a:txBody>
                    <a:bodyPr/>
                    <a:lstStyle/>
                    <a:p>
                      <a:pPr marL="0" indent="0">
                        <a:buNone/>
                      </a:pPr>
                      <a:r>
                        <a:rPr lang="en-US" sz="1250" dirty="0">
                          <a:solidFill>
                            <a:srgbClr val="1F2933"/>
                          </a:solidFill>
                          <a:latin typeface="Calibri" pitchFamily="34" charset="0"/>
                          <a:ea typeface="Calibri" pitchFamily="34" charset="-122"/>
                          <a:cs typeface="Calibri" pitchFamily="34" charset="-120"/>
                        </a:rPr>
                        <a:t>Student sends total = 1 with the payment</a:t>
                      </a:r>
                      <a:endParaRPr lang="en-US" sz="12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EF2F6"/>
                    </a:solidFill>
                  </a:tcPr>
                </a:tc>
                <a:tc>
                  <a:txBody>
                    <a:bodyPr/>
                    <a:lstStyle/>
                    <a:p>
                      <a:pPr marL="0" indent="0">
                        <a:buNone/>
                      </a:pPr>
                      <a:r>
                        <a:rPr lang="en-US" sz="1250" dirty="0">
                          <a:solidFill>
                            <a:srgbClr val="1F2933"/>
                          </a:solidFill>
                          <a:latin typeface="Calibri" pitchFamily="34" charset="0"/>
                          <a:ea typeface="Calibri" pitchFamily="34" charset="-122"/>
                          <a:cs typeface="Calibri" pitchFamily="34" charset="-120"/>
                        </a:rPr>
                        <a:t>Ignored; server charges 5000</a:t>
                      </a:r>
                      <a:endParaRPr lang="en-US" sz="12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EF2F6"/>
                    </a:solidFill>
                  </a:tcPr>
                </a:tc>
                <a:extLst>
                  <a:ext uri="{0D108BD9-81ED-4DB2-BD59-A6C34878D82A}">
                    <a16:rowId xmlns:a16="http://schemas.microsoft.com/office/drawing/2014/main" val="10003"/>
                  </a:ext>
                </a:extLst>
              </a:tr>
              <a:tr h="429768">
                <a:tc>
                  <a:txBody>
                    <a:bodyPr/>
                    <a:lstStyle/>
                    <a:p>
                      <a:pPr marL="0" indent="0">
                        <a:buNone/>
                      </a:pPr>
                      <a:r>
                        <a:rPr lang="en-US" sz="1250" dirty="0">
                          <a:solidFill>
                            <a:srgbClr val="1F2933"/>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marL="0" indent="0">
                        <a:buNone/>
                      </a:pPr>
                      <a:r>
                        <a:rPr lang="en-US" sz="1250" dirty="0">
                          <a:solidFill>
                            <a:srgbClr val="1F2933"/>
                          </a:solidFill>
                          <a:latin typeface="Calibri" pitchFamily="34" charset="0"/>
                          <a:ea typeface="Calibri" pitchFamily="34" charset="-122"/>
                          <a:cs typeface="Calibri" pitchFamily="34" charset="-120"/>
                        </a:rPr>
                        <a:t>Room allotment</a:t>
                      </a:r>
                      <a:endParaRPr lang="en-US" sz="12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marL="0" indent="0">
                        <a:buNone/>
                      </a:pPr>
                      <a:r>
                        <a:rPr lang="en-US" sz="1250" dirty="0">
                          <a:solidFill>
                            <a:srgbClr val="1F2933"/>
                          </a:solidFill>
                          <a:latin typeface="Calibri" pitchFamily="34" charset="0"/>
                          <a:ea typeface="Calibri" pitchFamily="34" charset="-122"/>
                          <a:cs typeface="Calibri" pitchFamily="34" charset="-120"/>
                        </a:rPr>
                        <a:t>Admit a student when the hostel is full</a:t>
                      </a:r>
                      <a:endParaRPr lang="en-US" sz="12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marL="0" indent="0">
                        <a:buNone/>
                      </a:pPr>
                      <a:r>
                        <a:rPr lang="en-US" sz="1250" dirty="0">
                          <a:solidFill>
                            <a:srgbClr val="1F2933"/>
                          </a:solidFill>
                          <a:latin typeface="Calibri" pitchFamily="34" charset="0"/>
                          <a:ea typeface="Calibri" pitchFamily="34" charset="-122"/>
                          <a:cs typeface="Calibri" pitchFamily="34" charset="-120"/>
                        </a:rPr>
                        <a:t>Rejected: no vacant room (409)</a:t>
                      </a:r>
                      <a:endParaRPr lang="en-US" sz="12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9768">
                <a:tc>
                  <a:txBody>
                    <a:bodyPr/>
                    <a:lstStyle/>
                    <a:p>
                      <a:pPr marL="0" indent="0">
                        <a:buNone/>
                      </a:pPr>
                      <a:r>
                        <a:rPr lang="en-US" sz="1250" dirty="0">
                          <a:solidFill>
                            <a:srgbClr val="1F2933"/>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EF2F6"/>
                    </a:solidFill>
                  </a:tcPr>
                </a:tc>
                <a:tc>
                  <a:txBody>
                    <a:bodyPr/>
                    <a:lstStyle/>
                    <a:p>
                      <a:pPr marL="0" indent="0">
                        <a:buNone/>
                      </a:pPr>
                      <a:r>
                        <a:rPr lang="en-US" sz="1250" dirty="0">
                          <a:solidFill>
                            <a:srgbClr val="1F2933"/>
                          </a:solidFill>
                          <a:latin typeface="Calibri" pitchFamily="34" charset="0"/>
                          <a:ea typeface="Calibri" pitchFamily="34" charset="-122"/>
                          <a:cs typeface="Calibri" pitchFamily="34" charset="-120"/>
                        </a:rPr>
                        <a:t>Salary with leave</a:t>
                      </a:r>
                      <a:endParaRPr lang="en-US" sz="12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EF2F6"/>
                    </a:solidFill>
                  </a:tcPr>
                </a:tc>
                <a:tc>
                  <a:txBody>
                    <a:bodyPr/>
                    <a:lstStyle/>
                    <a:p>
                      <a:pPr marL="0" indent="0">
                        <a:buNone/>
                      </a:pPr>
                      <a:r>
                        <a:rPr lang="en-US" sz="1250" dirty="0">
                          <a:solidFill>
                            <a:srgbClr val="1F2933"/>
                          </a:solidFill>
                          <a:latin typeface="Calibri" pitchFamily="34" charset="0"/>
                          <a:ea typeface="Calibri" pitchFamily="34" charset="-122"/>
                          <a:cs typeface="Calibri" pitchFamily="34" charset="-120"/>
                        </a:rPr>
                        <a:t>Leave 30 Aug – 2 Sep, salary for September</a:t>
                      </a:r>
                      <a:endParaRPr lang="en-US" sz="12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EF2F6"/>
                    </a:solidFill>
                  </a:tcPr>
                </a:tc>
                <a:tc>
                  <a:txBody>
                    <a:bodyPr/>
                    <a:lstStyle/>
                    <a:p>
                      <a:pPr marL="0" indent="0">
                        <a:buNone/>
                      </a:pPr>
                      <a:r>
                        <a:rPr lang="en-US" sz="1250" dirty="0">
                          <a:solidFill>
                            <a:srgbClr val="1F2933"/>
                          </a:solidFill>
                          <a:latin typeface="Calibri" pitchFamily="34" charset="0"/>
                          <a:ea typeface="Calibri" pitchFamily="34" charset="-122"/>
                          <a:cs typeface="Calibri" pitchFamily="34" charset="-120"/>
                        </a:rPr>
                        <a:t>Only 2 days deducted</a:t>
                      </a:r>
                      <a:endParaRPr lang="en-US" sz="12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EF2F6"/>
                    </a:solidFill>
                  </a:tcPr>
                </a:tc>
                <a:extLst>
                  <a:ext uri="{0D108BD9-81ED-4DB2-BD59-A6C34878D82A}">
                    <a16:rowId xmlns:a16="http://schemas.microsoft.com/office/drawing/2014/main" val="10005"/>
                  </a:ext>
                </a:extLst>
              </a:tr>
              <a:tr h="429768">
                <a:tc>
                  <a:txBody>
                    <a:bodyPr/>
                    <a:lstStyle/>
                    <a:p>
                      <a:pPr marL="0" indent="0">
                        <a:buNone/>
                      </a:pPr>
                      <a:r>
                        <a:rPr lang="en-US" sz="1250" dirty="0">
                          <a:solidFill>
                            <a:srgbClr val="1F2933"/>
                          </a:solidFill>
                          <a:latin typeface="Calibri" pitchFamily="34" charset="0"/>
                          <a:ea typeface="Calibri" pitchFamily="34" charset="-122"/>
                          <a:cs typeface="Calibri" pitchFamily="34" charset="-120"/>
                        </a:rPr>
                        <a:t>6</a:t>
                      </a:r>
                      <a:endParaRPr lang="en-US" sz="12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marL="0" indent="0">
                        <a:buNone/>
                      </a:pPr>
                      <a:r>
                        <a:rPr lang="en-US" sz="1250" dirty="0">
                          <a:solidFill>
                            <a:srgbClr val="1F2933"/>
                          </a:solidFill>
                          <a:latin typeface="Calibri" pitchFamily="34" charset="0"/>
                          <a:ea typeface="Calibri" pitchFamily="34" charset="-122"/>
                          <a:cs typeface="Calibri" pitchFamily="34" charset="-120"/>
                        </a:rPr>
                        <a:t>Complaint ATR</a:t>
                      </a:r>
                      <a:endParaRPr lang="en-US" sz="12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marL="0" indent="0">
                        <a:buNone/>
                      </a:pPr>
                      <a:r>
                        <a:rPr lang="en-US" sz="1250" dirty="0">
                          <a:solidFill>
                            <a:srgbClr val="1F2933"/>
                          </a:solidFill>
                          <a:latin typeface="Calibri" pitchFamily="34" charset="0"/>
                          <a:ea typeface="Calibri" pitchFamily="34" charset="-122"/>
                          <a:cs typeface="Calibri" pitchFamily="34" charset="-120"/>
                        </a:rPr>
                        <a:t>Warden of another hostel posts an ATR</a:t>
                      </a:r>
                      <a:endParaRPr lang="en-US" sz="12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marL="0" indent="0">
                        <a:buNone/>
                      </a:pPr>
                      <a:r>
                        <a:rPr lang="en-US" sz="1250" dirty="0">
                          <a:solidFill>
                            <a:srgbClr val="1F2933"/>
                          </a:solidFill>
                          <a:latin typeface="Calibri" pitchFamily="34" charset="0"/>
                          <a:ea typeface="Calibri" pitchFamily="34" charset="-122"/>
                          <a:cs typeface="Calibri" pitchFamily="34" charset="-120"/>
                        </a:rPr>
                        <a:t>Forbidden (403)</a:t>
                      </a:r>
                      <a:endParaRPr lang="en-US" sz="12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29768">
                <a:tc>
                  <a:txBody>
                    <a:bodyPr/>
                    <a:lstStyle/>
                    <a:p>
                      <a:pPr marL="0" indent="0">
                        <a:buNone/>
                      </a:pPr>
                      <a:r>
                        <a:rPr lang="en-US" sz="1250" dirty="0">
                          <a:solidFill>
                            <a:srgbClr val="1F2933"/>
                          </a:solidFill>
                          <a:latin typeface="Calibri" pitchFamily="34" charset="0"/>
                          <a:ea typeface="Calibri" pitchFamily="34" charset="-122"/>
                          <a:cs typeface="Calibri" pitchFamily="34" charset="-120"/>
                        </a:rPr>
                        <a:t>7</a:t>
                      </a:r>
                      <a:endParaRPr lang="en-US" sz="12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EF2F6"/>
                    </a:solidFill>
                  </a:tcPr>
                </a:tc>
                <a:tc>
                  <a:txBody>
                    <a:bodyPr/>
                    <a:lstStyle/>
                    <a:p>
                      <a:pPr marL="0" indent="0">
                        <a:buNone/>
                      </a:pPr>
                      <a:r>
                        <a:rPr lang="en-US" sz="1250" dirty="0">
                          <a:solidFill>
                            <a:srgbClr val="1F2933"/>
                          </a:solidFill>
                          <a:latin typeface="Calibri" pitchFamily="34" charset="0"/>
                          <a:ea typeface="Calibri" pitchFamily="34" charset="-122"/>
                          <a:cs typeface="Calibri" pitchFamily="34" charset="-120"/>
                        </a:rPr>
                        <a:t>Grant limit</a:t>
                      </a:r>
                      <a:endParaRPr lang="en-US" sz="12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EF2F6"/>
                    </a:solidFill>
                  </a:tcPr>
                </a:tc>
                <a:tc>
                  <a:txBody>
                    <a:bodyPr/>
                    <a:lstStyle/>
                    <a:p>
                      <a:pPr marL="0" indent="0">
                        <a:buNone/>
                      </a:pPr>
                      <a:r>
                        <a:rPr lang="en-US" sz="1250" dirty="0">
                          <a:solidFill>
                            <a:srgbClr val="1F2933"/>
                          </a:solidFill>
                          <a:latin typeface="Calibri" pitchFamily="34" charset="0"/>
                          <a:ea typeface="Calibri" pitchFamily="34" charset="-122"/>
                          <a:cs typeface="Calibri" pitchFamily="34" charset="-120"/>
                        </a:rPr>
                        <a:t>Allocate more than the remaining grant</a:t>
                      </a:r>
                      <a:endParaRPr lang="en-US" sz="12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EF2F6"/>
                    </a:solidFill>
                  </a:tcPr>
                </a:tc>
                <a:tc>
                  <a:txBody>
                    <a:bodyPr/>
                    <a:lstStyle/>
                    <a:p>
                      <a:pPr marL="0" indent="0">
                        <a:buNone/>
                      </a:pPr>
                      <a:r>
                        <a:rPr lang="en-US" sz="1250" dirty="0">
                          <a:solidFill>
                            <a:srgbClr val="1F2933"/>
                          </a:solidFill>
                          <a:latin typeface="Calibri" pitchFamily="34" charset="0"/>
                          <a:ea typeface="Calibri" pitchFamily="34" charset="-122"/>
                          <a:cs typeface="Calibri" pitchFamily="34" charset="-120"/>
                        </a:rPr>
                        <a:t>Rejected (400)</a:t>
                      </a:r>
                      <a:endParaRPr lang="en-US" sz="12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EF2F6"/>
                    </a:solidFill>
                  </a:tcPr>
                </a:tc>
                <a:extLst>
                  <a:ext uri="{0D108BD9-81ED-4DB2-BD59-A6C34878D82A}">
                    <a16:rowId xmlns:a16="http://schemas.microsoft.com/office/drawing/2014/main" val="10007"/>
                  </a:ext>
                </a:extLst>
              </a:tr>
              <a:tr h="429768">
                <a:tc>
                  <a:txBody>
                    <a:bodyPr/>
                    <a:lstStyle/>
                    <a:p>
                      <a:pPr marL="0" indent="0">
                        <a:buNone/>
                      </a:pPr>
                      <a:r>
                        <a:rPr lang="en-US" sz="1250" dirty="0">
                          <a:solidFill>
                            <a:srgbClr val="1F2933"/>
                          </a:solidFill>
                          <a:latin typeface="Calibri" pitchFamily="34" charset="0"/>
                          <a:ea typeface="Calibri" pitchFamily="34" charset="-122"/>
                          <a:cs typeface="Calibri" pitchFamily="34" charset="-120"/>
                        </a:rPr>
                        <a:t>8</a:t>
                      </a:r>
                      <a:endParaRPr lang="en-US" sz="12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marL="0" indent="0">
                        <a:buNone/>
                      </a:pPr>
                      <a:r>
                        <a:rPr lang="en-US" sz="1250" dirty="0">
                          <a:solidFill>
                            <a:srgbClr val="1F2933"/>
                          </a:solidFill>
                          <a:latin typeface="Calibri" pitchFamily="34" charset="0"/>
                          <a:ea typeface="Calibri" pitchFamily="34" charset="-122"/>
                          <a:cs typeface="Calibri" pitchFamily="34" charset="-120"/>
                        </a:rPr>
                        <a:t>Login security</a:t>
                      </a:r>
                      <a:endParaRPr lang="en-US" sz="12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marL="0" indent="0">
                        <a:buNone/>
                      </a:pPr>
                      <a:r>
                        <a:rPr lang="en-US" sz="1250" dirty="0">
                          <a:solidFill>
                            <a:srgbClr val="1F2933"/>
                          </a:solidFill>
                          <a:latin typeface="Calibri" pitchFamily="34" charset="0"/>
                          <a:ea typeface="Calibri" pitchFamily="34" charset="-122"/>
                          <a:cs typeface="Calibri" pitchFamily="34" charset="-120"/>
                        </a:rPr>
                        <a:t>Expired or fake JWT token</a:t>
                      </a:r>
                      <a:endParaRPr lang="en-US" sz="12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marL="0" indent="0">
                        <a:buNone/>
                      </a:pPr>
                      <a:r>
                        <a:rPr lang="en-US" sz="1250" dirty="0">
                          <a:solidFill>
                            <a:srgbClr val="1F2933"/>
                          </a:solidFill>
                          <a:latin typeface="Calibri" pitchFamily="34" charset="0"/>
                          <a:ea typeface="Calibri" pitchFamily="34" charset="-122"/>
                          <a:cs typeface="Calibri" pitchFamily="34" charset="-120"/>
                        </a:rPr>
                        <a:t>Unauthorised (401)</a:t>
                      </a:r>
                      <a:endParaRPr lang="en-US" sz="1250" dirty="0">
                        <a:latin typeface="Calibri" charset="0"/>
                        <a:ea typeface="Calibri" charset="0"/>
                        <a:cs typeface="Calibri" charset="0"/>
                      </a:endParaRPr>
                    </a:p>
                  </a:txBody>
                  <a:tcPr marL="54864" marR="54864" marT="54864" marB="54864"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300" dirty="0">
                <a:solidFill>
                  <a:srgbClr val="C8553D"/>
                </a:solidFill>
                <a:latin typeface="Calibri" pitchFamily="34" charset="0"/>
                <a:ea typeface="Calibri" pitchFamily="34" charset="-122"/>
                <a:cs typeface="Calibri" pitchFamily="34" charset="-120"/>
              </a:rPr>
              <a:t>TESTING</a:t>
            </a:r>
            <a:endParaRPr lang="en-US" sz="1200" dirty="0"/>
          </a:p>
        </p:txBody>
      </p:sp>
      <p:sp>
        <p:nvSpPr>
          <p:cNvPr id="3" name="Text 1"/>
          <p:cNvSpPr txBox="1"/>
          <p:nvPr/>
        </p:nvSpPr>
        <p:spPr>
          <a:xfrm>
            <a:off x="548640" y="566928"/>
            <a:ext cx="11094415" cy="640080"/>
          </a:xfrm>
          <a:prstGeom prst="rect">
            <a:avLst/>
          </a:prstGeom>
          <a:noFill/>
          <a:ln/>
        </p:spPr>
        <p:txBody>
          <a:bodyPr wrap="square" lIns="0" tIns="0" rIns="0" bIns="0" rtlCol="0" anchor="ctr"/>
          <a:lstStyle/>
          <a:p>
            <a:pPr marL="0" indent="0">
              <a:buNone/>
            </a:pPr>
            <a:r>
              <a:rPr lang="en-US" sz="2800" b="1" dirty="0">
                <a:solidFill>
                  <a:srgbClr val="1B2A41"/>
                </a:solidFill>
                <a:latin typeface="Cambria" pitchFamily="34" charset="0"/>
                <a:ea typeface="Cambria" pitchFamily="34" charset="-122"/>
                <a:cs typeface="Cambria" pitchFamily="34" charset="-120"/>
              </a:rPr>
              <a:t>How the tests are implemented and run</a:t>
            </a:r>
            <a:endParaRPr lang="en-US" sz="2800" dirty="0"/>
          </a:p>
        </p:txBody>
      </p:sp>
      <p:sp>
        <p:nvSpPr>
          <p:cNvPr id="4" name="Text 2"/>
          <p:cNvSpPr txBox="1"/>
          <p:nvPr/>
        </p:nvSpPr>
        <p:spPr>
          <a:xfrm>
            <a:off x="11185855" y="6400800"/>
            <a:ext cx="457200" cy="274320"/>
          </a:xfrm>
          <a:prstGeom prst="rect">
            <a:avLst/>
          </a:prstGeom>
          <a:noFill/>
          <a:ln/>
        </p:spPr>
        <p:txBody>
          <a:bodyPr wrap="square" lIns="0" tIns="0" rIns="0" bIns="0" rtlCol="0" anchor="ctr"/>
          <a:lstStyle/>
          <a:p>
            <a:pPr marL="0" indent="0" algn="r">
              <a:buNone/>
            </a:pPr>
            <a:r>
              <a:rPr lang="en-US" sz="1000" dirty="0">
                <a:solidFill>
                  <a:srgbClr val="5B6B7B"/>
                </a:solidFill>
                <a:latin typeface="Calibri" pitchFamily="34" charset="0"/>
                <a:ea typeface="Calibri" pitchFamily="34" charset="-122"/>
                <a:cs typeface="Calibri" pitchFamily="34" charset="-120"/>
              </a:rPr>
              <a:t>14</a:t>
            </a:r>
            <a:endParaRPr lang="en-US" sz="1000" dirty="0"/>
          </a:p>
        </p:txBody>
      </p:sp>
      <p:sp>
        <p:nvSpPr>
          <p:cNvPr id="6" name="Text 3"/>
          <p:cNvSpPr txBox="1"/>
          <p:nvPr/>
        </p:nvSpPr>
        <p:spPr>
          <a:xfrm>
            <a:off x="548640" y="1325880"/>
            <a:ext cx="5486400" cy="320040"/>
          </a:xfrm>
          <a:prstGeom prst="rect">
            <a:avLst/>
          </a:prstGeom>
          <a:noFill/>
          <a:ln/>
        </p:spPr>
        <p:txBody>
          <a:bodyPr wrap="square" lIns="0" tIns="0" rIns="0" bIns="0" rtlCol="0" anchor="t"/>
          <a:lstStyle/>
          <a:p>
            <a:pPr marL="0" indent="0">
              <a:buNone/>
            </a:pPr>
            <a:r>
              <a:rPr lang="en-US" sz="1350" b="1" dirty="0">
                <a:solidFill>
                  <a:srgbClr val="1B2A41"/>
                </a:solidFill>
                <a:latin typeface="Calibri" pitchFamily="34" charset="0"/>
                <a:ea typeface="Calibri" pitchFamily="34" charset="-122"/>
                <a:cs typeface="Calibri" pitchFamily="34" charset="-120"/>
              </a:rPr>
              <a:t>Test 3: the server ignores a fake amount  (tests/test_billing.py)</a:t>
            </a:r>
            <a:endParaRPr lang="en-US" sz="1350" dirty="0"/>
          </a:p>
        </p:txBody>
      </p:sp>
      <p:sp>
        <p:nvSpPr>
          <p:cNvPr id="7" name="Shape 4"/>
          <p:cNvSpPr/>
          <p:nvPr/>
        </p:nvSpPr>
        <p:spPr>
          <a:xfrm>
            <a:off x="548640" y="1691640"/>
            <a:ext cx="5486400" cy="2971800"/>
          </a:xfrm>
          <a:prstGeom prst="roundRect">
            <a:avLst>
              <a:gd name="adj" fmla="val 2462"/>
            </a:avLst>
          </a:prstGeom>
          <a:solidFill>
            <a:srgbClr val="1B2A41"/>
          </a:solidFill>
          <a:ln w="12700">
            <a:solidFill>
              <a:srgbClr val="1B2A41"/>
            </a:solidFill>
            <a:prstDash val="solid"/>
          </a:ln>
        </p:spPr>
      </p:sp>
      <p:sp>
        <p:nvSpPr>
          <p:cNvPr id="8" name="Text 5"/>
          <p:cNvSpPr txBox="1"/>
          <p:nvPr/>
        </p:nvSpPr>
        <p:spPr>
          <a:xfrm>
            <a:off x="658368" y="1828800"/>
            <a:ext cx="5303520" cy="2697480"/>
          </a:xfrm>
          <a:prstGeom prst="rect">
            <a:avLst/>
          </a:prstGeom>
          <a:noFill/>
          <a:ln/>
        </p:spPr>
        <p:txBody>
          <a:bodyPr wrap="square" lIns="0" tIns="0" rIns="0" bIns="0" rtlCol="0" anchor="t"/>
          <a:lstStyle/>
          <a:p>
            <a:pPr marL="0" indent="0">
              <a:buNone/>
            </a:pPr>
            <a:r>
              <a:rPr lang="en-US" sz="950" dirty="0">
                <a:solidFill>
                  <a:srgbClr val="E6EDF3"/>
                </a:solidFill>
                <a:latin typeface="Courier New" pitchFamily="34" charset="0"/>
                <a:ea typeface="Courier New" pitchFamily="34" charset="-122"/>
                <a:cs typeface="Courier New" pitchFamily="34" charset="-120"/>
              </a:rPr>
              <a:t>def test_payment_ignores_client_supplied_amount(world):</a:t>
            </a:r>
            <a:endParaRPr lang="en-US" sz="950" dirty="0"/>
          </a:p>
          <a:p>
            <a:pPr marL="0" indent="0">
              <a:buNone/>
            </a:pPr>
            <a:r>
              <a:rPr lang="en-US" sz="950" dirty="0">
                <a:solidFill>
                  <a:srgbClr val="E6EDF3"/>
                </a:solidFill>
                <a:latin typeface="Courier New" pitchFamily="34" charset="0"/>
                <a:ea typeface="Courier New" pitchFamily="34" charset="-122"/>
                <a:cs typeface="Courier New" pitchFamily="34" charset="-120"/>
              </a:rPr>
              <a:t>    ok(charge(world), 201)       # mess manager enters 3000</a:t>
            </a:r>
            <a:endParaRPr lang="en-US" sz="950" dirty="0"/>
          </a:p>
          <a:p>
            <a:pPr marL="0" indent="0">
              <a:buNone/>
            </a:pPr>
            <a:endParaRPr lang="en-US" sz="950" dirty="0"/>
          </a:p>
          <a:p>
            <a:pPr marL="0" indent="0">
              <a:buNone/>
            </a:pPr>
            <a:r>
              <a:rPr lang="en-US" sz="950" dirty="0">
                <a:solidFill>
                  <a:srgbClr val="E6EDF3"/>
                </a:solidFill>
                <a:latin typeface="Courier New" pitchFamily="34" charset="0"/>
                <a:ea typeface="Courier New" pitchFamily="34" charset="-122"/>
                <a:cs typeface="Courier New" pitchFamily="34" charset="-120"/>
              </a:rPr>
              <a:t>    res = world.client.post("/api/payments",</a:t>
            </a:r>
            <a:endParaRPr lang="en-US" sz="950" dirty="0"/>
          </a:p>
          <a:p>
            <a:pPr marL="0" indent="0">
              <a:buNone/>
            </a:pPr>
            <a:r>
              <a:rPr lang="en-US" sz="950" dirty="0">
                <a:solidFill>
                  <a:srgbClr val="E6EDF3"/>
                </a:solidFill>
                <a:latin typeface="Courier New" pitchFamily="34" charset="0"/>
                <a:ea typeface="Courier New" pitchFamily="34" charset="-122"/>
                <a:cs typeface="Courier New" pitchFamily="34" charset="-120"/>
              </a:rPr>
              <a:t>        json={"roll_no": "21JE0001", "month": MONTH,</a:t>
            </a:r>
            <a:endParaRPr lang="en-US" sz="950" dirty="0"/>
          </a:p>
          <a:p>
            <a:pPr marL="0" indent="0">
              <a:buNone/>
            </a:pPr>
            <a:r>
              <a:rPr lang="en-US" sz="950" dirty="0">
                <a:solidFill>
                  <a:srgbClr val="E6EDF3"/>
                </a:solidFill>
                <a:latin typeface="Courier New" pitchFamily="34" charset="0"/>
                <a:ea typeface="Courier New" pitchFamily="34" charset="-122"/>
                <a:cs typeface="Courier New" pitchFamily="34" charset="-120"/>
              </a:rPr>
              <a:t>              "total": 1},       # student tries to pay 1</a:t>
            </a:r>
            <a:endParaRPr lang="en-US" sz="950" dirty="0"/>
          </a:p>
          <a:p>
            <a:pPr marL="0" indent="0">
              <a:buNone/>
            </a:pPr>
            <a:r>
              <a:rPr lang="en-US" sz="950" dirty="0">
                <a:solidFill>
                  <a:srgbClr val="E6EDF3"/>
                </a:solidFill>
                <a:latin typeface="Courier New" pitchFamily="34" charset="0"/>
                <a:ea typeface="Courier New" pitchFamily="34" charset="-122"/>
                <a:cs typeface="Courier New" pitchFamily="34" charset="-120"/>
              </a:rPr>
              <a:t>        headers=world.student)</a:t>
            </a:r>
            <a:endParaRPr lang="en-US" sz="950" dirty="0"/>
          </a:p>
          <a:p>
            <a:pPr marL="0" indent="0">
              <a:buNone/>
            </a:pPr>
            <a:endParaRPr lang="en-US" sz="950" dirty="0"/>
          </a:p>
          <a:p>
            <a:pPr marL="0" indent="0">
              <a:buNone/>
            </a:pPr>
            <a:r>
              <a:rPr lang="en-US" sz="950" dirty="0">
                <a:solidFill>
                  <a:srgbClr val="E6EDF3"/>
                </a:solidFill>
                <a:latin typeface="Courier New" pitchFamily="34" charset="0"/>
                <a:ea typeface="Courier New" pitchFamily="34" charset="-122"/>
                <a:cs typeface="Courier New" pitchFamily="34" charset="-120"/>
              </a:rPr>
              <a:t>    # server ignores "total": 3000 + 500 + 1500</a:t>
            </a:r>
            <a:endParaRPr lang="en-US" sz="950" dirty="0"/>
          </a:p>
          <a:p>
            <a:pPr marL="0" indent="0">
              <a:buNone/>
            </a:pPr>
            <a:r>
              <a:rPr lang="en-US" sz="950" dirty="0">
                <a:solidFill>
                  <a:srgbClr val="E6EDF3"/>
                </a:solidFill>
                <a:latin typeface="Courier New" pitchFamily="34" charset="0"/>
                <a:ea typeface="Courier New" pitchFamily="34" charset="-122"/>
                <a:cs typeface="Courier New" pitchFamily="34" charset="-120"/>
              </a:rPr>
              <a:t>    assert ok(res, 201)["total"] == 5000</a:t>
            </a:r>
            <a:endParaRPr lang="en-US" sz="950" dirty="0"/>
          </a:p>
        </p:txBody>
      </p:sp>
      <p:sp>
        <p:nvSpPr>
          <p:cNvPr id="9" name="Text 6"/>
          <p:cNvSpPr txBox="1"/>
          <p:nvPr/>
        </p:nvSpPr>
        <p:spPr>
          <a:xfrm>
            <a:off x="6153912" y="1325880"/>
            <a:ext cx="5486400" cy="320040"/>
          </a:xfrm>
          <a:prstGeom prst="rect">
            <a:avLst/>
          </a:prstGeom>
          <a:noFill/>
          <a:ln/>
        </p:spPr>
        <p:txBody>
          <a:bodyPr wrap="square" lIns="0" tIns="0" rIns="0" bIns="0" rtlCol="0" anchor="t"/>
          <a:lstStyle/>
          <a:p>
            <a:pPr marL="0" indent="0">
              <a:buNone/>
            </a:pPr>
            <a:r>
              <a:rPr lang="en-US" sz="1350" b="1" dirty="0">
                <a:solidFill>
                  <a:srgbClr val="1B2A41"/>
                </a:solidFill>
                <a:latin typeface="Calibri" pitchFamily="34" charset="0"/>
                <a:ea typeface="Calibri" pitchFamily="34" charset="-122"/>
                <a:cs typeface="Calibri" pitchFamily="34" charset="-120"/>
              </a:rPr>
              <a:t>Test 5: leave across two months  (tests/test_staff.py)</a:t>
            </a:r>
            <a:endParaRPr lang="en-US" sz="1350" dirty="0"/>
          </a:p>
        </p:txBody>
      </p:sp>
      <p:sp>
        <p:nvSpPr>
          <p:cNvPr id="10" name="Shape 7"/>
          <p:cNvSpPr/>
          <p:nvPr/>
        </p:nvSpPr>
        <p:spPr>
          <a:xfrm>
            <a:off x="6153912" y="1691640"/>
            <a:ext cx="5486400" cy="2971800"/>
          </a:xfrm>
          <a:prstGeom prst="roundRect">
            <a:avLst>
              <a:gd name="adj" fmla="val 2462"/>
            </a:avLst>
          </a:prstGeom>
          <a:solidFill>
            <a:srgbClr val="1B2A41"/>
          </a:solidFill>
          <a:ln w="12700">
            <a:solidFill>
              <a:srgbClr val="1B2A41"/>
            </a:solidFill>
            <a:prstDash val="solid"/>
          </a:ln>
        </p:spPr>
      </p:sp>
      <p:sp>
        <p:nvSpPr>
          <p:cNvPr id="11" name="Text 8"/>
          <p:cNvSpPr txBox="1"/>
          <p:nvPr/>
        </p:nvSpPr>
        <p:spPr>
          <a:xfrm>
            <a:off x="6263640" y="1828800"/>
            <a:ext cx="5303520" cy="2697480"/>
          </a:xfrm>
          <a:prstGeom prst="rect">
            <a:avLst/>
          </a:prstGeom>
          <a:noFill/>
          <a:ln/>
        </p:spPr>
        <p:txBody>
          <a:bodyPr wrap="square" lIns="0" tIns="0" rIns="0" bIns="0" rtlCol="0" anchor="t"/>
          <a:lstStyle/>
          <a:p>
            <a:pPr marL="0" indent="0">
              <a:buNone/>
            </a:pPr>
            <a:r>
              <a:rPr lang="en-US" sz="950" dirty="0">
                <a:solidFill>
                  <a:srgbClr val="E6EDF3"/>
                </a:solidFill>
                <a:latin typeface="Courier New" pitchFamily="34" charset="0"/>
                <a:ea typeface="Courier New" pitchFamily="34" charset="-122"/>
                <a:cs typeface="Courier New" pitchFamily="34" charset="-120"/>
              </a:rPr>
              <a:t>def test_salary_deducts_leave_including_leave_spanning_months(world):</a:t>
            </a:r>
            <a:endParaRPr lang="en-US" sz="950" dirty="0"/>
          </a:p>
          <a:p>
            <a:pPr marL="0" indent="0">
              <a:buNone/>
            </a:pPr>
            <a:r>
              <a:rPr lang="en-US" sz="950" dirty="0">
                <a:solidFill>
                  <a:srgbClr val="E6EDF3"/>
                </a:solidFill>
                <a:latin typeface="Courier New" pitchFamily="34" charset="0"/>
                <a:ea typeface="Courier New" pitchFamily="34" charset="-122"/>
                <a:cs typeface="Courier New" pitchFamily="34" charset="-120"/>
              </a:rPr>
              <a:t>    sid = ok(recruit(world), 201)["id"]    # Rs 400 per day</a:t>
            </a:r>
            <a:endParaRPr lang="en-US" sz="950" dirty="0"/>
          </a:p>
          <a:p>
            <a:pPr marL="0" indent="0">
              <a:buNone/>
            </a:pPr>
            <a:endParaRPr lang="en-US" sz="950" dirty="0"/>
          </a:p>
          <a:p>
            <a:pPr marL="0" indent="0">
              <a:buNone/>
            </a:pPr>
            <a:r>
              <a:rPr lang="en-US" sz="950" dirty="0">
                <a:solidFill>
                  <a:srgbClr val="E6EDF3"/>
                </a:solidFill>
                <a:latin typeface="Courier New" pitchFamily="34" charset="0"/>
                <a:ea typeface="Courier New" pitchFamily="34" charset="-122"/>
                <a:cs typeface="Courier New" pitchFamily="34" charset="-120"/>
              </a:rPr>
              <a:t>    ok(leave(world, sid, "2026-08-30", "2026-09-02"), 201)</a:t>
            </a:r>
            <a:endParaRPr lang="en-US" sz="950" dirty="0"/>
          </a:p>
          <a:p>
            <a:pPr marL="0" indent="0">
              <a:buNone/>
            </a:pPr>
            <a:r>
              <a:rPr lang="en-US" sz="950" dirty="0">
                <a:solidFill>
                  <a:srgbClr val="E6EDF3"/>
                </a:solidFill>
                <a:latin typeface="Courier New" pitchFamily="34" charset="0"/>
                <a:ea typeface="Courier New" pitchFamily="34" charset="-122"/>
                <a:cs typeface="Courier New" pitchFamily="34" charset="-120"/>
              </a:rPr>
              <a:t>    ok(leave(world, sid, "2026-09-15", "2026-09-15"), 201)</a:t>
            </a:r>
            <a:endParaRPr lang="en-US" sz="950" dirty="0"/>
          </a:p>
          <a:p>
            <a:pPr marL="0" indent="0">
              <a:buNone/>
            </a:pPr>
            <a:endParaRPr lang="en-US" sz="950" dirty="0"/>
          </a:p>
          <a:p>
            <a:pPr marL="0" indent="0">
              <a:buNone/>
            </a:pPr>
            <a:r>
              <a:rPr lang="en-US" sz="950" dirty="0">
                <a:solidFill>
                  <a:srgbClr val="E6EDF3"/>
                </a:solidFill>
                <a:latin typeface="Courier New" pitchFamily="34" charset="0"/>
                <a:ea typeface="Courier New" pitchFamily="34" charset="-122"/>
                <a:cs typeface="Courier New" pitchFamily="34" charset="-120"/>
              </a:rPr>
              <a:t>    row = ok(salaries(world))[0]           # September</a:t>
            </a:r>
            <a:endParaRPr lang="en-US" sz="950" dirty="0"/>
          </a:p>
          <a:p>
            <a:pPr marL="0" indent="0">
              <a:buNone/>
            </a:pPr>
            <a:r>
              <a:rPr lang="en-US" sz="950" dirty="0">
                <a:solidFill>
                  <a:srgbClr val="E6EDF3"/>
                </a:solidFill>
                <a:latin typeface="Courier New" pitchFamily="34" charset="0"/>
                <a:ea typeface="Courier New" pitchFamily="34" charset="-122"/>
                <a:cs typeface="Courier New" pitchFamily="34" charset="-120"/>
              </a:rPr>
              <a:t>    # 30 days - (2 + 1) leave days = 27 days</a:t>
            </a:r>
            <a:endParaRPr lang="en-US" sz="950" dirty="0"/>
          </a:p>
          <a:p>
            <a:pPr marL="0" indent="0">
              <a:buNone/>
            </a:pPr>
            <a:r>
              <a:rPr lang="en-US" sz="950" dirty="0">
                <a:solidFill>
                  <a:srgbClr val="E6EDF3"/>
                </a:solidFill>
                <a:latin typeface="Courier New" pitchFamily="34" charset="0"/>
                <a:ea typeface="Courier New" pitchFamily="34" charset="-122"/>
                <a:cs typeface="Courier New" pitchFamily="34" charset="-120"/>
              </a:rPr>
              <a:t>    assert row["days_worked"] == 27</a:t>
            </a:r>
            <a:endParaRPr lang="en-US" sz="950" dirty="0"/>
          </a:p>
          <a:p>
            <a:pPr marL="0" indent="0">
              <a:buNone/>
            </a:pPr>
            <a:r>
              <a:rPr lang="en-US" sz="950" dirty="0">
                <a:solidFill>
                  <a:srgbClr val="E6EDF3"/>
                </a:solidFill>
                <a:latin typeface="Courier New" pitchFamily="34" charset="0"/>
                <a:ea typeface="Courier New" pitchFamily="34" charset="-122"/>
                <a:cs typeface="Courier New" pitchFamily="34" charset="-120"/>
              </a:rPr>
              <a:t>    assert row["amount_payable"] == 27 * 400</a:t>
            </a:r>
            <a:endParaRPr lang="en-US" sz="950" dirty="0"/>
          </a:p>
        </p:txBody>
      </p:sp>
      <p:sp>
        <p:nvSpPr>
          <p:cNvPr id="12" name="Text 9"/>
          <p:cNvSpPr txBox="1"/>
          <p:nvPr/>
        </p:nvSpPr>
        <p:spPr>
          <a:xfrm>
            <a:off x="548640" y="4892040"/>
            <a:ext cx="3657600" cy="320040"/>
          </a:xfrm>
          <a:prstGeom prst="rect">
            <a:avLst/>
          </a:prstGeom>
          <a:noFill/>
          <a:ln/>
        </p:spPr>
        <p:txBody>
          <a:bodyPr wrap="square" lIns="0" tIns="0" rIns="0" bIns="0" rtlCol="0" anchor="t"/>
          <a:lstStyle/>
          <a:p>
            <a:pPr marL="0" indent="0">
              <a:buNone/>
            </a:pPr>
            <a:r>
              <a:rPr lang="en-US" sz="1400" b="1" dirty="0">
                <a:solidFill>
                  <a:srgbClr val="C8553D"/>
                </a:solidFill>
                <a:latin typeface="Calibri" pitchFamily="34" charset="0"/>
                <a:ea typeface="Calibri" pitchFamily="34" charset="-122"/>
                <a:cs typeface="Calibri" pitchFamily="34" charset="-120"/>
              </a:rPr>
              <a:t>Run the tests</a:t>
            </a:r>
            <a:endParaRPr lang="en-US" sz="1400" dirty="0"/>
          </a:p>
        </p:txBody>
      </p:sp>
      <p:sp>
        <p:nvSpPr>
          <p:cNvPr id="13" name="Shape 10"/>
          <p:cNvSpPr/>
          <p:nvPr/>
        </p:nvSpPr>
        <p:spPr>
          <a:xfrm>
            <a:off x="548640" y="5257800"/>
            <a:ext cx="3657600" cy="1097280"/>
          </a:xfrm>
          <a:prstGeom prst="roundRect">
            <a:avLst>
              <a:gd name="adj" fmla="val 6667"/>
            </a:avLst>
          </a:prstGeom>
          <a:solidFill>
            <a:srgbClr val="1B2A41"/>
          </a:solidFill>
          <a:ln w="12700">
            <a:solidFill>
              <a:srgbClr val="1B2A41"/>
            </a:solidFill>
            <a:prstDash val="solid"/>
          </a:ln>
        </p:spPr>
      </p:sp>
      <p:sp>
        <p:nvSpPr>
          <p:cNvPr id="14" name="Text 11"/>
          <p:cNvSpPr txBox="1"/>
          <p:nvPr/>
        </p:nvSpPr>
        <p:spPr>
          <a:xfrm>
            <a:off x="658368" y="5394960"/>
            <a:ext cx="3474720" cy="822960"/>
          </a:xfrm>
          <a:prstGeom prst="rect">
            <a:avLst/>
          </a:prstGeom>
          <a:noFill/>
          <a:ln/>
        </p:spPr>
        <p:txBody>
          <a:bodyPr wrap="square" lIns="0" tIns="0" rIns="0" bIns="0" rtlCol="0" anchor="t"/>
          <a:lstStyle/>
          <a:p>
            <a:pPr marL="0" indent="0">
              <a:buNone/>
            </a:pPr>
            <a:r>
              <a:rPr lang="en-US" sz="1200" dirty="0">
                <a:solidFill>
                  <a:srgbClr val="E6EDF3"/>
                </a:solidFill>
                <a:latin typeface="Courier New" pitchFamily="34" charset="0"/>
                <a:ea typeface="Courier New" pitchFamily="34" charset="-122"/>
                <a:cs typeface="Courier New" pitchFamily="34" charset="-120"/>
              </a:rPr>
              <a:t>cd project</a:t>
            </a:r>
            <a:endParaRPr lang="en-US" sz="1200" dirty="0"/>
          </a:p>
          <a:p>
            <a:pPr marL="0" indent="0">
              <a:buNone/>
            </a:pPr>
            <a:r>
              <a:rPr lang="en-US" sz="1200" dirty="0">
                <a:solidFill>
                  <a:srgbClr val="E6EDF3"/>
                </a:solidFill>
                <a:latin typeface="Courier New" pitchFamily="34" charset="0"/>
                <a:ea typeface="Courier New" pitchFamily="34" charset="-122"/>
                <a:cs typeface="Courier New" pitchFamily="34" charset="-120"/>
              </a:rPr>
              <a:t>pip install -r requirements.txt</a:t>
            </a:r>
            <a:endParaRPr lang="en-US" sz="1200" dirty="0"/>
          </a:p>
          <a:p>
            <a:pPr marL="0" indent="0">
              <a:buNone/>
            </a:pPr>
            <a:r>
              <a:rPr lang="en-US" sz="1200" dirty="0">
                <a:solidFill>
                  <a:srgbClr val="E6EDF3"/>
                </a:solidFill>
                <a:latin typeface="Courier New" pitchFamily="34" charset="0"/>
                <a:ea typeface="Courier New" pitchFamily="34" charset="-122"/>
                <a:cs typeface="Courier New" pitchFamily="34" charset="-120"/>
              </a:rPr>
              <a:t>pytest -v</a:t>
            </a:r>
            <a:endParaRPr lang="en-US" sz="1200" dirty="0"/>
          </a:p>
        </p:txBody>
      </p:sp>
      <p:sp>
        <p:nvSpPr>
          <p:cNvPr id="15" name="Shape 12"/>
          <p:cNvSpPr/>
          <p:nvPr/>
        </p:nvSpPr>
        <p:spPr>
          <a:xfrm>
            <a:off x="4480560" y="4892040"/>
            <a:ext cx="7159752" cy="1463040"/>
          </a:xfrm>
          <a:prstGeom prst="roundRect">
            <a:avLst>
              <a:gd name="adj" fmla="val 5000"/>
            </a:avLst>
          </a:prstGeom>
          <a:solidFill>
            <a:srgbClr val="EEF2F6"/>
          </a:solidFill>
          <a:ln w="12700">
            <a:solidFill>
              <a:srgbClr val="EEF2F6"/>
            </a:solidFill>
            <a:prstDash val="solid"/>
          </a:ln>
        </p:spPr>
      </p:sp>
      <p:sp>
        <p:nvSpPr>
          <p:cNvPr id="16" name="Text 13"/>
          <p:cNvSpPr txBox="1"/>
          <p:nvPr/>
        </p:nvSpPr>
        <p:spPr>
          <a:xfrm>
            <a:off x="4663440" y="4983480"/>
            <a:ext cx="2743200" cy="320040"/>
          </a:xfrm>
          <a:prstGeom prst="rect">
            <a:avLst/>
          </a:prstGeom>
          <a:noFill/>
          <a:ln/>
        </p:spPr>
        <p:txBody>
          <a:bodyPr wrap="square" lIns="0" tIns="0" rIns="0" bIns="0" rtlCol="0" anchor="t"/>
          <a:lstStyle/>
          <a:p>
            <a:pPr marL="0" indent="0">
              <a:buNone/>
            </a:pPr>
            <a:r>
              <a:rPr lang="en-US" sz="1400" b="1" dirty="0">
                <a:solidFill>
                  <a:srgbClr val="2A7F80"/>
                </a:solidFill>
                <a:latin typeface="Calibri" pitchFamily="34" charset="0"/>
                <a:ea typeface="Calibri" pitchFamily="34" charset="-122"/>
                <a:cs typeface="Calibri" pitchFamily="34" charset="-120"/>
              </a:rPr>
              <a:t>Result</a:t>
            </a:r>
            <a:endParaRPr lang="en-US" sz="1400" dirty="0"/>
          </a:p>
        </p:txBody>
      </p:sp>
      <p:sp>
        <p:nvSpPr>
          <p:cNvPr id="17" name="Text 14"/>
          <p:cNvSpPr txBox="1"/>
          <p:nvPr/>
        </p:nvSpPr>
        <p:spPr>
          <a:xfrm>
            <a:off x="4663440" y="5349240"/>
            <a:ext cx="6766560" cy="914400"/>
          </a:xfrm>
          <a:prstGeom prst="rect">
            <a:avLst/>
          </a:prstGeom>
          <a:noFill/>
          <a:ln/>
        </p:spPr>
        <p:txBody>
          <a:bodyPr wrap="square" lIns="0" tIns="0" rIns="0" bIns="0" rtlCol="0" anchor="t"/>
          <a:lstStyle/>
          <a:p>
            <a:pPr marL="0" indent="0">
              <a:buNone/>
            </a:pPr>
            <a:r>
              <a:rPr lang="en-US" sz="1350" b="1" dirty="0">
                <a:solidFill>
                  <a:srgbClr val="1B2A41"/>
                </a:solidFill>
                <a:latin typeface="Calibri" pitchFamily="34" charset="0"/>
                <a:ea typeface="Calibri" pitchFamily="34" charset="-122"/>
                <a:cs typeface="Calibri" pitchFamily="34" charset="-120"/>
              </a:rPr>
              <a:t>All tests pass</a:t>
            </a:r>
            <a:r>
              <a:rPr lang="en-US" sz="1350" dirty="0">
                <a:solidFill>
                  <a:srgbClr val="1F2933"/>
                </a:solidFill>
                <a:latin typeface="Calibri" pitchFamily="34" charset="0"/>
                <a:ea typeface="Calibri" pitchFamily="34" charset="-122"/>
                <a:cs typeface="Calibri" pitchFamily="34" charset="-120"/>
              </a:rPr>
              <a:t> (about 25 seconds). The full list of test cases is in docs/TESTING.md, and the complete API reference is in docs/API.md.</a:t>
            </a:r>
            <a:endParaRPr lang="en-US" sz="1350" dirty="0"/>
          </a:p>
        </p:txBody>
      </p:sp>
    </p:spTree>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1645920" y="4023360"/>
            <a:ext cx="4572000" cy="4572000"/>
          </a:xfrm>
          <a:prstGeom prst="ellipse">
            <a:avLst/>
          </a:prstGeom>
          <a:solidFill>
            <a:srgbClr val="2E4057"/>
          </a:solidFill>
          <a:ln w="12700">
            <a:solidFill>
              <a:srgbClr val="2E4057"/>
            </a:solidFill>
            <a:prstDash val="solid"/>
          </a:ln>
        </p:spPr>
      </p:sp>
      <p:sp>
        <p:nvSpPr>
          <p:cNvPr id="3" name="Text 1"/>
          <p:cNvSpPr txBox="1"/>
          <p:nvPr/>
        </p:nvSpPr>
        <p:spPr>
          <a:xfrm>
            <a:off x="548640" y="731520"/>
            <a:ext cx="5486400" cy="365760"/>
          </a:xfrm>
          <a:prstGeom prst="rect">
            <a:avLst/>
          </a:prstGeom>
          <a:noFill/>
          <a:ln/>
        </p:spPr>
        <p:txBody>
          <a:bodyPr wrap="square" lIns="0" tIns="0" rIns="0" bIns="0" rtlCol="0" anchor="t"/>
          <a:lstStyle/>
          <a:p>
            <a:pPr marL="0" indent="0">
              <a:buNone/>
            </a:pPr>
            <a:r>
              <a:rPr lang="en-US" sz="1400" b="1" kern="0" spc="300" dirty="0">
                <a:solidFill>
                  <a:srgbClr val="F2B8A8"/>
                </a:solidFill>
                <a:latin typeface="Calibri" pitchFamily="34" charset="0"/>
                <a:ea typeface="Calibri" pitchFamily="34" charset="-122"/>
                <a:cs typeface="Calibri" pitchFamily="34" charset="-120"/>
              </a:rPr>
              <a:t>CONCLUSION</a:t>
            </a:r>
            <a:endParaRPr lang="en-US" sz="1400" dirty="0"/>
          </a:p>
        </p:txBody>
      </p:sp>
      <p:sp>
        <p:nvSpPr>
          <p:cNvPr id="4" name="Text 2"/>
          <p:cNvSpPr txBox="1"/>
          <p:nvPr/>
        </p:nvSpPr>
        <p:spPr>
          <a:xfrm>
            <a:off x="548640" y="1143000"/>
            <a:ext cx="10058400" cy="731520"/>
          </a:xfrm>
          <a:prstGeom prst="rect">
            <a:avLst/>
          </a:prstGeom>
          <a:noFill/>
          <a:ln/>
        </p:spPr>
        <p:txBody>
          <a:bodyPr wrap="square" lIns="0" tIns="0" rIns="0" bIns="0" rtlCol="0" anchor="t"/>
          <a:lstStyle/>
          <a:p>
            <a:pPr marL="0" indent="0">
              <a:buNone/>
            </a:pPr>
            <a:r>
              <a:rPr lang="en-US" sz="3400" b="1" dirty="0">
                <a:solidFill>
                  <a:srgbClr val="FFFFFF"/>
                </a:solidFill>
                <a:latin typeface="Cambria" pitchFamily="34" charset="0"/>
                <a:ea typeface="Cambria" pitchFamily="34" charset="-122"/>
                <a:cs typeface="Cambria" pitchFamily="34" charset="-120"/>
              </a:rPr>
              <a:t>What we built and learned</a:t>
            </a:r>
            <a:endParaRPr lang="en-US" sz="3400" dirty="0"/>
          </a:p>
        </p:txBody>
      </p:sp>
      <p:sp>
        <p:nvSpPr>
          <p:cNvPr id="5" name="Text 3"/>
          <p:cNvSpPr txBox="1"/>
          <p:nvPr/>
        </p:nvSpPr>
        <p:spPr>
          <a:xfrm>
            <a:off x="548640" y="2286000"/>
            <a:ext cx="2651760" cy="411480"/>
          </a:xfrm>
          <a:prstGeom prst="rect">
            <a:avLst/>
          </a:prstGeom>
          <a:noFill/>
          <a:ln/>
        </p:spPr>
        <p:txBody>
          <a:bodyPr wrap="square" lIns="0" tIns="0" rIns="0" bIns="0" rtlCol="0" anchor="t"/>
          <a:lstStyle/>
          <a:p>
            <a:pPr marL="0" indent="0">
              <a:buNone/>
            </a:pPr>
            <a:r>
              <a:rPr lang="en-US" sz="2000" b="1" dirty="0">
                <a:solidFill>
                  <a:srgbClr val="F2B8A8"/>
                </a:solidFill>
                <a:latin typeface="Calibri" pitchFamily="34" charset="0"/>
                <a:ea typeface="Calibri" pitchFamily="34" charset="-122"/>
                <a:cs typeface="Calibri" pitchFamily="34" charset="-120"/>
              </a:rPr>
              <a:t>Analysed</a:t>
            </a:r>
            <a:endParaRPr lang="en-US" sz="2000" dirty="0"/>
          </a:p>
        </p:txBody>
      </p:sp>
      <p:sp>
        <p:nvSpPr>
          <p:cNvPr id="6" name="Text 4"/>
          <p:cNvSpPr txBox="1"/>
          <p:nvPr/>
        </p:nvSpPr>
        <p:spPr>
          <a:xfrm>
            <a:off x="548640" y="2743200"/>
            <a:ext cx="2560320" cy="1097280"/>
          </a:xfrm>
          <a:prstGeom prst="rect">
            <a:avLst/>
          </a:prstGeom>
          <a:noFill/>
          <a:ln/>
        </p:spPr>
        <p:txBody>
          <a:bodyPr wrap="square" lIns="0" tIns="0" rIns="0" bIns="0" rtlCol="0" anchor="t"/>
          <a:lstStyle/>
          <a:p>
            <a:pPr marL="0" indent="0">
              <a:buNone/>
            </a:pPr>
            <a:r>
              <a:rPr lang="en-US" sz="1400" dirty="0">
                <a:solidFill>
                  <a:srgbClr val="D5DEE7"/>
                </a:solidFill>
                <a:latin typeface="Calibri" pitchFamily="34" charset="0"/>
                <a:ea typeface="Calibri" pitchFamily="34" charset="-122"/>
                <a:cs typeface="Calibri" pitchFamily="34" charset="-120"/>
              </a:rPr>
              <a:t>Problem statement → actors, use cases, activity and data flow</a:t>
            </a:r>
            <a:endParaRPr lang="en-US" sz="1400" dirty="0"/>
          </a:p>
        </p:txBody>
      </p:sp>
      <p:sp>
        <p:nvSpPr>
          <p:cNvPr id="7" name="Text 5"/>
          <p:cNvSpPr txBox="1"/>
          <p:nvPr/>
        </p:nvSpPr>
        <p:spPr>
          <a:xfrm>
            <a:off x="3355848" y="2286000"/>
            <a:ext cx="2651760" cy="411480"/>
          </a:xfrm>
          <a:prstGeom prst="rect">
            <a:avLst/>
          </a:prstGeom>
          <a:noFill/>
          <a:ln/>
        </p:spPr>
        <p:txBody>
          <a:bodyPr wrap="square" lIns="0" tIns="0" rIns="0" bIns="0" rtlCol="0" anchor="t"/>
          <a:lstStyle/>
          <a:p>
            <a:pPr marL="0" indent="0">
              <a:buNone/>
            </a:pPr>
            <a:r>
              <a:rPr lang="en-US" sz="2000" b="1" dirty="0">
                <a:solidFill>
                  <a:srgbClr val="F2B8A8"/>
                </a:solidFill>
                <a:latin typeface="Calibri" pitchFamily="34" charset="0"/>
                <a:ea typeface="Calibri" pitchFamily="34" charset="-122"/>
                <a:cs typeface="Calibri" pitchFamily="34" charset="-120"/>
              </a:rPr>
              <a:t>Designed</a:t>
            </a:r>
            <a:endParaRPr lang="en-US" sz="2000" dirty="0"/>
          </a:p>
        </p:txBody>
      </p:sp>
      <p:sp>
        <p:nvSpPr>
          <p:cNvPr id="8" name="Text 6"/>
          <p:cNvSpPr txBox="1"/>
          <p:nvPr/>
        </p:nvSpPr>
        <p:spPr>
          <a:xfrm>
            <a:off x="3355848" y="2743200"/>
            <a:ext cx="2560320" cy="1097280"/>
          </a:xfrm>
          <a:prstGeom prst="rect">
            <a:avLst/>
          </a:prstGeom>
          <a:noFill/>
          <a:ln/>
        </p:spPr>
        <p:txBody>
          <a:bodyPr wrap="square" lIns="0" tIns="0" rIns="0" bIns="0" rtlCol="0" anchor="t"/>
          <a:lstStyle/>
          <a:p>
            <a:pPr marL="0" indent="0">
              <a:buNone/>
            </a:pPr>
            <a:r>
              <a:rPr lang="en-US" sz="1400" dirty="0">
                <a:solidFill>
                  <a:srgbClr val="D5DEE7"/>
                </a:solidFill>
                <a:latin typeface="Calibri" pitchFamily="34" charset="0"/>
                <a:ea typeface="Calibri" pitchFamily="34" charset="-122"/>
                <a:cs typeface="Calibri" pitchFamily="34" charset="-120"/>
              </a:rPr>
              <a:t>Class, sequence and state diagrams → database tables and APIs</a:t>
            </a:r>
            <a:endParaRPr lang="en-US" sz="1400" dirty="0"/>
          </a:p>
        </p:txBody>
      </p:sp>
      <p:sp>
        <p:nvSpPr>
          <p:cNvPr id="9" name="Text 7"/>
          <p:cNvSpPr txBox="1"/>
          <p:nvPr/>
        </p:nvSpPr>
        <p:spPr>
          <a:xfrm>
            <a:off x="6163056" y="2286000"/>
            <a:ext cx="2651760" cy="411480"/>
          </a:xfrm>
          <a:prstGeom prst="rect">
            <a:avLst/>
          </a:prstGeom>
          <a:noFill/>
          <a:ln/>
        </p:spPr>
        <p:txBody>
          <a:bodyPr wrap="square" lIns="0" tIns="0" rIns="0" bIns="0" rtlCol="0" anchor="t"/>
          <a:lstStyle/>
          <a:p>
            <a:pPr marL="0" indent="0">
              <a:buNone/>
            </a:pPr>
            <a:r>
              <a:rPr lang="en-US" sz="2000" b="1" dirty="0">
                <a:solidFill>
                  <a:srgbClr val="F2B8A8"/>
                </a:solidFill>
                <a:latin typeface="Calibri" pitchFamily="34" charset="0"/>
                <a:ea typeface="Calibri" pitchFamily="34" charset="-122"/>
                <a:cs typeface="Calibri" pitchFamily="34" charset="-120"/>
              </a:rPr>
              <a:t>Built</a:t>
            </a:r>
            <a:endParaRPr lang="en-US" sz="2000" dirty="0"/>
          </a:p>
        </p:txBody>
      </p:sp>
      <p:sp>
        <p:nvSpPr>
          <p:cNvPr id="10" name="Text 8"/>
          <p:cNvSpPr txBox="1"/>
          <p:nvPr/>
        </p:nvSpPr>
        <p:spPr>
          <a:xfrm>
            <a:off x="6163056" y="2743200"/>
            <a:ext cx="2560320" cy="1097280"/>
          </a:xfrm>
          <a:prstGeom prst="rect">
            <a:avLst/>
          </a:prstGeom>
          <a:noFill/>
          <a:ln/>
        </p:spPr>
        <p:txBody>
          <a:bodyPr wrap="square" lIns="0" tIns="0" rIns="0" bIns="0" rtlCol="0" anchor="t"/>
          <a:lstStyle/>
          <a:p>
            <a:pPr marL="0" indent="0">
              <a:buNone/>
            </a:pPr>
            <a:r>
              <a:rPr lang="en-US" sz="1400" dirty="0">
                <a:solidFill>
                  <a:srgbClr val="D5DEE7"/>
                </a:solidFill>
                <a:latin typeface="Calibri" pitchFamily="34" charset="0"/>
                <a:ea typeface="Calibri" pitchFamily="34" charset="-122"/>
                <a:cs typeface="Calibri" pitchFamily="34" charset="-120"/>
              </a:rPr>
              <a:t>FastAPI + PostgreSQL website with login and 6 user roles</a:t>
            </a:r>
            <a:endParaRPr lang="en-US" sz="1400" dirty="0"/>
          </a:p>
        </p:txBody>
      </p:sp>
      <p:sp>
        <p:nvSpPr>
          <p:cNvPr id="11" name="Text 9"/>
          <p:cNvSpPr txBox="1"/>
          <p:nvPr/>
        </p:nvSpPr>
        <p:spPr>
          <a:xfrm>
            <a:off x="8970264" y="2286000"/>
            <a:ext cx="2651760" cy="411480"/>
          </a:xfrm>
          <a:prstGeom prst="rect">
            <a:avLst/>
          </a:prstGeom>
          <a:noFill/>
          <a:ln/>
        </p:spPr>
        <p:txBody>
          <a:bodyPr wrap="square" lIns="0" tIns="0" rIns="0" bIns="0" rtlCol="0" anchor="t"/>
          <a:lstStyle/>
          <a:p>
            <a:pPr marL="0" indent="0">
              <a:buNone/>
            </a:pPr>
            <a:r>
              <a:rPr lang="en-US" sz="2000" b="1" dirty="0">
                <a:solidFill>
                  <a:srgbClr val="F2B8A8"/>
                </a:solidFill>
                <a:latin typeface="Calibri" pitchFamily="34" charset="0"/>
                <a:ea typeface="Calibri" pitchFamily="34" charset="-122"/>
                <a:cs typeface="Calibri" pitchFamily="34" charset="-120"/>
              </a:rPr>
              <a:t>Tested</a:t>
            </a:r>
            <a:endParaRPr lang="en-US" sz="2000" dirty="0"/>
          </a:p>
        </p:txBody>
      </p:sp>
      <p:sp>
        <p:nvSpPr>
          <p:cNvPr id="12" name="Text 10"/>
          <p:cNvSpPr txBox="1"/>
          <p:nvPr/>
        </p:nvSpPr>
        <p:spPr>
          <a:xfrm>
            <a:off x="8970264" y="2743200"/>
            <a:ext cx="2560320" cy="1097280"/>
          </a:xfrm>
          <a:prstGeom prst="rect">
            <a:avLst/>
          </a:prstGeom>
          <a:noFill/>
          <a:ln/>
        </p:spPr>
        <p:txBody>
          <a:bodyPr wrap="square" lIns="0" tIns="0" rIns="0" bIns="0" rtlCol="0" anchor="t"/>
          <a:lstStyle/>
          <a:p>
            <a:pPr marL="0" indent="0">
              <a:buNone/>
            </a:pPr>
            <a:r>
              <a:rPr lang="en-US" sz="1400" dirty="0">
                <a:solidFill>
                  <a:srgbClr val="D5DEE7"/>
                </a:solidFill>
                <a:latin typeface="Calibri" pitchFamily="34" charset="0"/>
                <a:ea typeface="Calibri" pitchFamily="34" charset="-122"/>
                <a:cs typeface="Calibri" pitchFamily="34" charset="-120"/>
              </a:rPr>
              <a:t>pytest cases for the key business rules and security</a:t>
            </a:r>
            <a:endParaRPr lang="en-US" sz="1400" dirty="0"/>
          </a:p>
        </p:txBody>
      </p:sp>
      <p:sp>
        <p:nvSpPr>
          <p:cNvPr id="13" name="Text 11"/>
          <p:cNvSpPr txBox="1"/>
          <p:nvPr/>
        </p:nvSpPr>
        <p:spPr>
          <a:xfrm>
            <a:off x="3931920" y="4343400"/>
            <a:ext cx="7680960" cy="365760"/>
          </a:xfrm>
          <a:prstGeom prst="rect">
            <a:avLst/>
          </a:prstGeom>
          <a:noFill/>
          <a:ln/>
        </p:spPr>
        <p:txBody>
          <a:bodyPr wrap="square" lIns="0" tIns="0" rIns="0" bIns="0" rtlCol="0" anchor="t"/>
          <a:lstStyle/>
          <a:p>
            <a:pPr marL="0" indent="0" algn="r">
              <a:buNone/>
            </a:pPr>
            <a:endParaRPr lang="en-US" sz="1400" dirty="0"/>
          </a:p>
        </p:txBody>
      </p:sp>
      <p:sp>
        <p:nvSpPr>
          <p:cNvPr id="14" name="Text 12"/>
          <p:cNvSpPr txBox="1"/>
          <p:nvPr/>
        </p:nvSpPr>
        <p:spPr>
          <a:xfrm>
            <a:off x="2624328" y="4498571"/>
            <a:ext cx="6583680" cy="822960"/>
          </a:xfrm>
          <a:prstGeom prst="rect">
            <a:avLst/>
          </a:prstGeom>
          <a:noFill/>
          <a:ln/>
        </p:spPr>
        <p:txBody>
          <a:bodyPr wrap="square" lIns="0" tIns="0" rIns="0" bIns="0" rtlCol="0" anchor="t"/>
          <a:lstStyle/>
          <a:p>
            <a:pPr marL="0" indent="0" algn="ctr">
              <a:buNone/>
            </a:pPr>
            <a:r>
              <a:rPr lang="en-US" sz="3200" b="1" dirty="0">
                <a:solidFill>
                  <a:srgbClr val="FF0000"/>
                </a:solidFill>
                <a:latin typeface="Cambria" pitchFamily="34" charset="0"/>
                <a:ea typeface="Cambria" pitchFamily="34" charset="-122"/>
                <a:cs typeface="Cambria" pitchFamily="34" charset="-120"/>
              </a:rPr>
              <a:t>Thank you.</a:t>
            </a:r>
            <a:endParaRPr lang="en-US" sz="3200" dirty="0">
              <a:solidFill>
                <a:srgbClr val="FF0000"/>
              </a:solidFill>
            </a:endParaRPr>
          </a:p>
        </p:txBody>
      </p:sp>
    </p:spTree>
  </p:cSld>
  <p:clrMapOvr>
    <a:masterClrMapping/>
  </p:clrMapOvr>
  <p:transition spd="slow">
    <p:wip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TotalTime>
  <Words>2593</Words>
  <Application>Microsoft Office PowerPoint</Application>
  <PresentationFormat>Widescreen</PresentationFormat>
  <Paragraphs>331</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SAC Hostel Management System - SE Lab Project</dc:title>
  <dc:subject>PptxGenJS Presentation</dc:subject>
  <dc:creator>Group 16</dc:creator>
  <cp:lastModifiedBy>Patel Het</cp:lastModifiedBy>
  <cp:revision>4</cp:revision>
  <dcterms:created xsi:type="dcterms:W3CDTF">2026-09-29T16:17:54Z</dcterms:created>
  <dcterms:modified xsi:type="dcterms:W3CDTF">2026-09-29T17:54:34Z</dcterms:modified>
</cp:coreProperties>
</file>